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58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D4AA"/>
                </a:solidFill>
              </a:defRPr>
            </a:pPr>
            <a:r>
              <a:t>RTL Design of a KCF Visual Tracker</a:t>
            </a:r>
            <a:br/>
            <a:r>
              <a:t>on FPGA with AXI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</a:defRPr>
            </a:pPr>
            <a:r>
              <a:t>ECE499 Major Project  —  Final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3246120"/>
            <a:ext cx="73152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Akhil Sriram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</a:defRPr>
            </a:pPr>
            <a:r>
              <a:t>Supervisor: Dr. Venkatnarayan Hariharan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34840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AAAAA"/>
                </a:solidFill>
              </a:defRPr>
            </a:pPr>
            <a:r>
              <a:t>Department of Electrical Engineering  |  Shiv Nadar Institution of Eminence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4AA"/>
                </a:solidFill>
              </a:defRPr>
            </a:pPr>
            <a:r>
              <a:t>Spring 2026</a:t>
            </a:r>
          </a:p>
        </p:txBody>
      </p:sp>
      <p:pic>
        <p:nvPicPr>
          <p:cNvPr id="9" name="Picture 8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5486400"/>
            <a:ext cx="1371600" cy="2638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Presentation Outline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234440"/>
            <a:ext cx="2743200" cy="2240280"/>
          </a:xfrm>
          <a:prstGeom prst="rect">
            <a:avLst/>
          </a:prstGeom>
          <a:solidFill>
            <a:srgbClr val="1218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25880"/>
            <a:ext cx="25237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874520"/>
            <a:ext cx="25237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</a:defRPr>
            </a:pPr>
            <a:r>
              <a:t>Problem &amp; FFT Insight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9272" y="1234440"/>
            <a:ext cx="2743200" cy="2240280"/>
          </a:xfrm>
          <a:prstGeom prst="rect">
            <a:avLst/>
          </a:prstGeom>
          <a:solidFill>
            <a:srgbClr val="1218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1325880"/>
            <a:ext cx="25237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874520"/>
            <a:ext cx="25237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</a:defRPr>
            </a:pPr>
            <a:r>
              <a:t>Algorithm Survey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234440"/>
            <a:ext cx="2743200" cy="2240280"/>
          </a:xfrm>
          <a:prstGeom prst="rect">
            <a:avLst/>
          </a:prstGeom>
          <a:solidFill>
            <a:srgbClr val="121826"/>
          </a:solidFill>
          <a:ln w="25400">
            <a:solidFill>
              <a:srgbClr val="55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325880"/>
            <a:ext cx="25237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5599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874520"/>
            <a:ext cx="25237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</a:defRPr>
            </a:pPr>
            <a:r>
              <a:t>KCF Theory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26296" y="1234440"/>
            <a:ext cx="2743200" cy="2240280"/>
          </a:xfrm>
          <a:prstGeom prst="rect">
            <a:avLst/>
          </a:prstGeom>
          <a:solidFill>
            <a:srgbClr val="121826"/>
          </a:solidFill>
          <a:ln w="254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6024" y="1325880"/>
            <a:ext cx="25237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9933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6024" y="1874520"/>
            <a:ext cx="25237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</a:defRPr>
            </a:pPr>
            <a:r>
              <a:t>RTL Architecture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2743200" cy="2240280"/>
          </a:xfrm>
          <a:prstGeom prst="rect">
            <a:avLst/>
          </a:prstGeom>
          <a:solidFill>
            <a:srgbClr val="121826"/>
          </a:solidFill>
          <a:ln w="25400">
            <a:solidFill>
              <a:srgbClr val="FFD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3794760"/>
            <a:ext cx="25237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DD44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343400"/>
            <a:ext cx="25237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</a:defRPr>
            </a:pPr>
            <a:r>
              <a:t>Fixed-Point &amp; Scaling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9272" y="3703320"/>
            <a:ext cx="2743200" cy="2240280"/>
          </a:xfrm>
          <a:prstGeom prst="rect">
            <a:avLst/>
          </a:prstGeom>
          <a:solidFill>
            <a:srgbClr val="121826"/>
          </a:solidFill>
          <a:ln w="25400">
            <a:solidFill>
              <a:srgbClr val="44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3794760"/>
            <a:ext cx="25237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44FF88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343400"/>
            <a:ext cx="25237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</a:defRPr>
            </a:pPr>
            <a:r>
              <a:t>AXI Interface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2784" y="3703320"/>
            <a:ext cx="2743200" cy="2240280"/>
          </a:xfrm>
          <a:prstGeom prst="rect">
            <a:avLst/>
          </a:prstGeom>
          <a:solidFill>
            <a:srgbClr val="121826"/>
          </a:solidFill>
          <a:ln w="25400">
            <a:solidFill>
              <a:srgbClr val="CC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794760"/>
            <a:ext cx="25237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CC88F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343400"/>
            <a:ext cx="25237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</a:defRPr>
            </a:pPr>
            <a:r>
              <a:t>Demo &amp; Results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26296" y="3703320"/>
            <a:ext cx="2743200" cy="2240280"/>
          </a:xfrm>
          <a:prstGeom prst="rect">
            <a:avLst/>
          </a:prstGeom>
          <a:solidFill>
            <a:srgbClr val="121826"/>
          </a:solidFill>
          <a:ln w="2540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36024" y="3794760"/>
            <a:ext cx="25237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5555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6024" y="4343400"/>
            <a:ext cx="25237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</a:defRPr>
            </a:pPr>
            <a:r>
              <a:t>Challenges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4AA"/>
                </a:solidFill>
              </a:defRPr>
            </a:pPr>
            <a:r>
              <a:t>Section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The Problem &amp; FFT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606040"/>
            <a:ext cx="54864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The Visual Tracking Problem &amp; FFT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D4AA"/>
                </a:solidFill>
              </a:defRPr>
            </a:pPr>
            <a:r>
              <a:t>The problem</a:t>
            </a:r>
          </a:p>
          <a:p>
            <a:pPr lv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Given: Frame 1 + target bounding box</a:t>
            </a:r>
          </a:p>
          <a:p>
            <a:pPr lv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Goal: locate that target in every new frame</a:t>
            </a:r>
          </a:p>
          <a:p>
            <a:pPr lvl="1">
              <a:spcAft>
                <a:spcPts val="600"/>
              </a:spcAft>
              <a:defRPr sz="1600">
                <a:solidFill>
                  <a:srgbClr val="FF5555"/>
                </a:solidFill>
              </a:defRPr>
            </a:pPr>
            <a:r>
              <a:t>Naive sliding template: O(N⁴) — too slow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D4AA"/>
                </a:solidFill>
              </a:defRPr>
            </a:pPr>
            <a:r>
              <a:t>FFT correlation trick</a:t>
            </a:r>
          </a:p>
          <a:p>
            <a:pPr lvl="1">
              <a:spcAft>
                <a:spcPts val="600"/>
              </a:spcAft>
              <a:defRPr sz="1600">
                <a:solidFill>
                  <a:srgbClr val="FFDD44"/>
                </a:solidFill>
              </a:defRPr>
            </a:pPr>
            <a:r>
              <a:t>corr(f,g) = IFFT( conj(FFT(f)) · FFT(g) )</a:t>
            </a:r>
          </a:p>
          <a:p>
            <a:pPr lv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Tests ALL shifts simultaneously in one pass</a:t>
            </a:r>
          </a:p>
          <a:p>
            <a:pPr lvl="1">
              <a:spcAft>
                <a:spcPts val="600"/>
              </a:spcAft>
              <a:defRPr sz="1600">
                <a:solidFill>
                  <a:srgbClr val="44FF88"/>
                </a:solidFill>
              </a:defRPr>
            </a:pPr>
            <a:r>
              <a:t>O(N⁴) → O(N² log N)   (~200× faster for N=32)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00D4AA"/>
                </a:solidFill>
              </a:defRPr>
            </a:pPr>
            <a:r>
              <a:t>Why FPGA?</a:t>
            </a:r>
          </a:p>
          <a:p>
            <a:pPr lv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Massively parallel FFT butterfly units</a:t>
            </a:r>
          </a:p>
          <a:p>
            <a:pPr lv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Deterministic latency, low power</a:t>
            </a:r>
          </a:p>
          <a:p>
            <a:pPr lvl="1">
              <a:spcAft>
                <a:spcPts val="600"/>
              </a:spcAft>
              <a:defRPr sz="1600">
                <a:solidFill>
                  <a:srgbClr val="44FF88"/>
                </a:solidFill>
              </a:defRPr>
            </a:pPr>
            <a:r>
              <a:t>193 μs per detection @ 100 MHz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Output: 32×32 response map</a:t>
            </a:r>
          </a:p>
          <a:p>
            <a:pPr lv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Peak pixel = target displacement</a:t>
            </a:r>
          </a:p>
        </p:txBody>
      </p:sp>
      <p:pic>
        <p:nvPicPr>
          <p:cNvPr id="5" name="Picture 4" descr="graphic for expl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05840"/>
            <a:ext cx="4572000" cy="1860217"/>
          </a:xfrm>
          <a:prstGeom prst="rect">
            <a:avLst/>
          </a:prstGeom>
        </p:spPr>
      </p:pic>
      <p:pic>
        <p:nvPicPr>
          <p:cNvPr id="6" name="Picture 5" descr="fig_respons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3657600"/>
            <a:ext cx="3749039" cy="3218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4AA"/>
                </a:solidFill>
              </a:defRPr>
            </a:pPr>
            <a:r>
              <a:t>Section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Algorithm Survey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606040"/>
            <a:ext cx="54864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Algorithm Comparison: NCC vs MOSSE vs KCF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05840"/>
          <a:ext cx="10424160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560320"/>
                <a:gridCol w="2834640"/>
                <a:gridCol w="2834640"/>
              </a:tblGrid>
              <a:tr h="61976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D1117"/>
                          </a:solidFill>
                        </a:defRPr>
                      </a:pPr>
                      <a:r>
                        <a:t>Property</a:t>
                      </a:r>
                    </a:p>
                  </a:txBody>
                  <a:tcPr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D1117"/>
                          </a:solidFill>
                        </a:defRPr>
                      </a:pPr>
                      <a:r>
                        <a:t>NCC</a:t>
                      </a:r>
                    </a:p>
                  </a:txBody>
                  <a:tcPr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D1117"/>
                          </a:solidFill>
                        </a:defRPr>
                      </a:pPr>
                      <a:r>
                        <a:t>MOSSE</a:t>
                      </a:r>
                    </a:p>
                  </a:txBody>
                  <a:tcPr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D1117"/>
                          </a:solidFill>
                        </a:defRPr>
                      </a:pPr>
                      <a:r>
                        <a:t>KCF (ours)</a:t>
                      </a:r>
                    </a:p>
                  </a:txBody>
                  <a:tcPr>
                    <a:solidFill>
                      <a:srgbClr val="00D4AA"/>
                    </a:solidFill>
                  </a:tcPr>
                </a:tc>
              </a:tr>
              <a:tr h="61976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Full-image acquisition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Frame-to-frame track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Frame-to-frame track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</a:tr>
              <a:tr h="61976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Core formula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IFFT(conj(T)·I)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H* · FFT(z)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α · conj(X) · Z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</a:tr>
              <a:tr h="61976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Training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None (template only)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Offline H* from frames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alpha = Y/(|X|+λ)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</a:tr>
              <a:tr h="61976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Search region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Full M×N image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Fixed N×N window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Fixed N×N window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</a:tr>
              <a:tr h="61976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Complexity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5555"/>
                          </a:solidFill>
                        </a:defRPr>
                      </a:pPr>
                      <a:r>
                        <a:t>O(MN log MN)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O(N² log N)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44FF88"/>
                          </a:solidFill>
                        </a:defRPr>
                      </a:pPr>
                      <a:r>
                        <a:t>O(N² log N)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</a:tr>
              <a:tr h="61976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Robustness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High (global)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44FF88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</a:tr>
              <a:tr h="61976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HW cost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Expensive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44FF88"/>
                          </a:solidFill>
                        </a:defRPr>
                      </a:pPr>
                      <a:r>
                        <a:t>Low (linear kernel)</a:t>
                      </a:r>
                    </a:p>
                  </a:txBody>
                  <a:tcPr>
                    <a:solidFill>
                      <a:srgbClr val="1E2430"/>
                    </a:solidFill>
                  </a:tcPr>
                </a:tc>
              </a:tr>
              <a:tr h="61976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Our use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Frame 2 acquisition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</a:defRPr>
                      </a:pPr>
                      <a:r>
                        <a:t>Frame 3+ tracking</a:t>
                      </a:r>
                    </a:p>
                  </a:txBody>
                  <a:tcPr>
                    <a:solidFill>
                      <a:srgbClr val="151A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4AA"/>
                </a:solidFill>
              </a:defRPr>
            </a:pPr>
            <a:r>
              <a:t>Section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KCF Theory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606040"/>
            <a:ext cx="54864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KCF Training: Learning the Frequency-Domain Filter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7772400" cy="15505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834640"/>
            <a:ext cx="11430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DD44"/>
                </a:solidFill>
              </a:defRPr>
            </a:pPr>
            <a:r>
              <a:t>Step 1  w = patch × Hann₂D</a:t>
            </a:r>
          </a:p>
          <a:p>
            <a:pPr lv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Hann window tapers edges to zero → prevents FFT spectral leakage</a:t>
            </a:r>
          </a:p>
          <a:p>
            <a:pPr>
              <a:spcAft>
                <a:spcPts val="600"/>
              </a:spcAft>
              <a:defRPr sz="1700">
                <a:solidFill>
                  <a:srgbClr val="FFDD44"/>
                </a:solidFill>
              </a:defRPr>
            </a:pPr>
            <a:r>
              <a:t>Step 2  X̂ = FFT2(w)</a:t>
            </a:r>
          </a:p>
          <a:p>
            <a:pPr>
              <a:spcAft>
                <a:spcPts val="600"/>
              </a:spcAft>
              <a:defRPr sz="1700">
                <a:solidFill>
                  <a:srgbClr val="FFDD44"/>
                </a:solidFill>
              </a:defRPr>
            </a:pPr>
            <a:r>
              <a:t>Step 3  Ŷ = FFT2(Gaussian label)   where Gaussian σ = 2.0, centred at patch centre</a:t>
            </a:r>
          </a:p>
          <a:p>
            <a:pPr lvl="1">
              <a:spcAft>
                <a:spcPts val="600"/>
              </a:spcAft>
              <a:defRPr sz="1600">
                <a:solidFill>
                  <a:srgbClr val="FF9933"/>
                </a:solidFill>
              </a:defRPr>
            </a:pPr>
            <a:r>
              <a:t>Gaussian label width controls tracking range: σ=2 → reliable up to ~±7 px per axis</a:t>
            </a:r>
          </a:p>
          <a:p>
            <a:pPr>
              <a:spcAft>
                <a:spcPts val="600"/>
              </a:spcAft>
              <a:defRPr sz="1700">
                <a:solidFill>
                  <a:srgbClr val="FFDD44"/>
                </a:solidFill>
              </a:defRPr>
            </a:pPr>
            <a:r>
              <a:t>Step 4  α̂ = Ŷ / ( |X̂|² + λ )</a:t>
            </a:r>
          </a:p>
          <a:p>
            <a:pPr lv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λ = 0.01  ridge regularisation prevents division by zero and improves stability</a:t>
            </a:r>
          </a:p>
          <a:p>
            <a:pPr lvl="1">
              <a:spcAft>
                <a:spcPts val="600"/>
              </a:spcAft>
              <a:defRPr sz="1600">
                <a:solidFill>
                  <a:srgbClr val="44FF88"/>
                </a:solidFill>
              </a:defRPr>
            </a:pPr>
            <a:r>
              <a:t>α̂ is the frozen detection filter — stored in alpha_hat.mem for the hardware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KCF Detection: Locating the Target Each Frame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det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914400"/>
            <a:ext cx="8961120" cy="178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743200"/>
            <a:ext cx="11430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D4AA"/>
                </a:solidFill>
              </a:defRPr>
            </a:pPr>
            <a:r>
              <a:t>Input: 32×32 patch z centred at last known target position</a:t>
            </a:r>
          </a:p>
          <a:p>
            <a:pPr>
              <a:spcAft>
                <a:spcPts val="600"/>
              </a:spcAft>
              <a:defRPr sz="1700">
                <a:solidFill>
                  <a:srgbClr val="FFDD44"/>
                </a:solidFill>
              </a:defRPr>
            </a:pPr>
            <a:r>
              <a:t>Step 1  w = z × Hann₂D</a:t>
            </a:r>
          </a:p>
          <a:p>
            <a:pPr>
              <a:spcAft>
                <a:spcPts val="600"/>
              </a:spcAft>
              <a:defRPr sz="1700">
                <a:solidFill>
                  <a:srgbClr val="FFDD44"/>
                </a:solidFill>
              </a:defRPr>
            </a:pPr>
            <a:r>
              <a:t>Step 2  Ẑ = FFT2(w)</a:t>
            </a:r>
          </a:p>
          <a:p>
            <a:pPr>
              <a:spcAft>
                <a:spcPts val="600"/>
              </a:spcAft>
              <a:defRPr sz="1700">
                <a:solidFill>
                  <a:srgbClr val="FFDD44"/>
                </a:solidFill>
              </a:defRPr>
            </a:pPr>
            <a:r>
              <a:t>Step 3  product = conj(X̂) × Ẑ × α̂     ← one cconj_mul unit, one element per clock</a:t>
            </a:r>
          </a:p>
          <a:p>
            <a:pPr lvl="1">
              <a:spcAft>
                <a:spcPts val="600"/>
              </a:spcAft>
              <a:defRPr sz="1600">
                <a:solidFill>
                  <a:srgbClr val="44FF88"/>
                </a:solidFill>
              </a:defRPr>
            </a:pPr>
            <a:r>
              <a:t>Combined filter stored as conj(α̂)×X̂ → reduces ROM from two arrays to one</a:t>
            </a:r>
          </a:p>
          <a:p>
            <a:pPr>
              <a:spcAft>
                <a:spcPts val="600"/>
              </a:spcAft>
              <a:defRPr sz="1700">
                <a:solidFill>
                  <a:srgbClr val="FFDD44"/>
                </a:solidFill>
              </a:defRPr>
            </a:pPr>
            <a:r>
              <a:t>Step 4  R = IFFT2(product)     ← 32×32 response map (real values)</a:t>
            </a:r>
          </a:p>
          <a:p>
            <a:pPr>
              <a:spcAft>
                <a:spcPts val="600"/>
              </a:spcAft>
              <a:defRPr sz="1700">
                <a:solidFill>
                  <a:srgbClr val="FFDD44"/>
                </a:solidFill>
              </a:defRPr>
            </a:pPr>
            <a:r>
              <a:t>Step 5  (row, col) = argmax(R) → displacement from patch centre</a:t>
            </a:r>
          </a:p>
          <a:p>
            <a:pPr lvl="1"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DFT wrap: index ≥ 16 means negative displacement (subtract 32)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Gaussian Label &amp; Hann Window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AA"/>
                </a:solidFill>
              </a:defRPr>
            </a:pPr>
            <a:r>
              <a:t>Hann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DD44"/>
                </a:solidFill>
              </a:defRPr>
            </a:pPr>
            <a:r>
              <a:t>w[n] = 0.5 – 0.5·cos(2πn/(N–1))</a:t>
            </a:r>
          </a:p>
          <a:p>
            <a:pPr>
              <a:spcAft>
                <a:spcPts val="600"/>
              </a:spcAft>
              <a:defRPr sz="1600">
                <a:solidFill>
                  <a:srgbClr val="FFDD44"/>
                </a:solidFill>
              </a:defRPr>
            </a:pPr>
            <a:r>
              <a:t>Hann₂D[r,c] = w[r] × w[c]   (separable)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Smoothly tapers patch edges to zero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Prevents ringing / spectral leakage in FFT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Applied before every FFT call</a:t>
            </a:r>
          </a:p>
        </p:txBody>
      </p:sp>
      <p:pic>
        <p:nvPicPr>
          <p:cNvPr id="6" name="Picture 5" descr="fig_pres_hann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83280"/>
            <a:ext cx="5486400" cy="50323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9601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933"/>
                </a:solidFill>
              </a:defRPr>
            </a:pPr>
            <a:r>
              <a:t>Gaussian Response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463040"/>
            <a:ext cx="5577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DD44"/>
                </a:solidFill>
              </a:defRPr>
            </a:pPr>
            <a:r>
              <a:t>y[r,c] = exp(–((r–16)²+(c–16)²)/(2σ²))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σ = 2.0   (standard for 32×32 patches)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Peak = 1 at centre, decays to ~0 at edges</a:t>
            </a:r>
          </a:p>
          <a:p>
            <a:pPr>
              <a:spcAft>
                <a:spcPts val="600"/>
              </a:spcAft>
              <a:defRPr sz="1600">
                <a:solidFill>
                  <a:srgbClr val="FF9933"/>
                </a:solidFill>
              </a:defRPr>
            </a:pPr>
            <a:r>
              <a:t>Controls tracking range: σ=2 → reliable to ~±7 px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Training: target always centred → label peaks at (0,0)</a:t>
            </a:r>
          </a:p>
        </p:txBody>
      </p:sp>
      <p:pic>
        <p:nvPicPr>
          <p:cNvPr id="9" name="Picture 8" descr="fig_pres_gaussian_lab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383280"/>
            <a:ext cx="5577840" cy="26408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NCC → KCF Handoff: Three-Frame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987552"/>
            <a:ext cx="3657600" cy="5577840"/>
          </a:xfrm>
          <a:prstGeom prst="rect">
            <a:avLst/>
          </a:prstGeom>
          <a:solidFill>
            <a:srgbClr val="121826"/>
          </a:solidFill>
          <a:ln w="25400">
            <a:solidFill>
              <a:srgbClr val="55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51560"/>
            <a:ext cx="345643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99FF"/>
                </a:solidFill>
              </a:defRPr>
            </a:pPr>
            <a:r>
              <a:t>FRAME 1</a:t>
            </a:r>
            <a:br/>
            <a:r>
              <a:t>(Demo_test_1)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600200"/>
            <a:ext cx="3456432" cy="38100"/>
          </a:xfrm>
          <a:prstGeom prst="rect">
            <a:avLst/>
          </a:prstGeom>
          <a:solidFill>
            <a:srgbClr val="55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691640"/>
            <a:ext cx="3456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Train KCF</a:t>
            </a:r>
            <a:br/>
            <a:r>
              <a:t>(click target)</a:t>
            </a:r>
          </a:p>
        </p:txBody>
      </p:sp>
      <p:pic>
        <p:nvPicPr>
          <p:cNvPr id="8" name="Picture 7" descr="fig_frame1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" y="2377440"/>
            <a:ext cx="3419856" cy="205097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160520" y="987552"/>
            <a:ext cx="3657600" cy="5577840"/>
          </a:xfrm>
          <a:prstGeom prst="rect">
            <a:avLst/>
          </a:prstGeom>
          <a:solidFill>
            <a:srgbClr val="121826"/>
          </a:solidFill>
          <a:ln w="25400">
            <a:solidFill>
              <a:srgbClr val="44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051560"/>
            <a:ext cx="345643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4FF88"/>
                </a:solidFill>
              </a:defRPr>
            </a:pPr>
            <a:r>
              <a:t>FRAME 2</a:t>
            </a:r>
            <a:br/>
            <a:r>
              <a:t>(Demo_test_2)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600200"/>
            <a:ext cx="3456432" cy="38100"/>
          </a:xfrm>
          <a:prstGeom prst="rect">
            <a:avLst/>
          </a:prstGeom>
          <a:solidFill>
            <a:srgbClr val="44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91640"/>
            <a:ext cx="3456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NCC Full Search</a:t>
            </a:r>
            <a:br/>
            <a:r>
              <a:t>→ TARGET FOUND</a:t>
            </a:r>
          </a:p>
        </p:txBody>
      </p:sp>
      <p:pic>
        <p:nvPicPr>
          <p:cNvPr id="13" name="Picture 12" descr="fig_frame2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377440"/>
            <a:ext cx="3419856" cy="205097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092440" y="987552"/>
            <a:ext cx="3657600" cy="5577840"/>
          </a:xfrm>
          <a:prstGeom prst="rect">
            <a:avLst/>
          </a:prstGeom>
          <a:solidFill>
            <a:srgbClr val="121826"/>
          </a:solidFill>
          <a:ln w="25400">
            <a:solidFill>
              <a:srgbClr val="FFD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051560"/>
            <a:ext cx="345643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DD44"/>
                </a:solidFill>
              </a:defRPr>
            </a:pPr>
            <a:r>
              <a:t>FRAME 3</a:t>
            </a:r>
            <a:br/>
            <a:r>
              <a:t>(shifted)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600200"/>
            <a:ext cx="3456432" cy="38100"/>
          </a:xfrm>
          <a:prstGeom prst="rect">
            <a:avLst/>
          </a:prstGeom>
          <a:solidFill>
            <a:srgbClr val="FFD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691640"/>
            <a:ext cx="3456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KCF ONLY</a:t>
            </a:r>
            <a:br/>
            <a:r>
              <a:t>→ Displacement</a:t>
            </a:r>
          </a:p>
        </p:txBody>
      </p:sp>
      <p:pic>
        <p:nvPicPr>
          <p:cNvPr id="18" name="Picture 17" descr="fig_pres_detection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377440"/>
            <a:ext cx="3419856" cy="198742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794760" y="3383280"/>
            <a:ext cx="365760" cy="36576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26679" y="3383280"/>
            <a:ext cx="365760" cy="36576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8600" y="5852160"/>
            <a:ext cx="11704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Frame 1: click target → 32×32 patch → KCF trains α̂ offline.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Frame 2: NCC runs on full image  O(MN log MN) — used ONCE for acquisition.    Frame 3: KCF only  O(N² log N) — runs on FPGA every frame.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4AA"/>
                </a:solidFill>
              </a:defRPr>
            </a:pPr>
            <a:r>
              <a:t>Section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RTL Hardware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606040"/>
            <a:ext cx="54864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RTL Architecture: kcf_detect_top (7-Stage FSM)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50292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AAAAAA"/>
                </a:solidFill>
                <a:latin typeface="Courier New"/>
              </a:defRPr>
            </a:pPr>
            <a:r>
              <a:t>  +  S_IDLE        wait for start, accept patch writes</a:t>
            </a:r>
          </a:p>
          <a:p>
            <a:pPr>
              <a:spcAft>
                <a:spcPts val="100"/>
              </a:spcAft>
              <a:defRPr sz="1300">
                <a:solidFill>
                  <a:srgbClr val="00D4AA"/>
                </a:solidFill>
                <a:latin typeface="Courier New"/>
              </a:defRPr>
            </a:pPr>
            <a:r>
              <a:t>  |  S_HANN_WIN    1,024 cyc  — apply Hann₂D</a:t>
            </a:r>
          </a:p>
          <a:p>
            <a:pPr>
              <a:spcAft>
                <a:spcPts val="100"/>
              </a:spcAft>
              <a:defRPr sz="1300">
                <a:solidFill>
                  <a:srgbClr val="00D4AA"/>
                </a:solidFill>
                <a:latin typeface="Courier New"/>
              </a:defRPr>
            </a:pPr>
            <a:r>
              <a:t>  |  S_FFT_LOAD    1,024 cyc  — load into FFT2D</a:t>
            </a:r>
          </a:p>
          <a:p>
            <a:pPr>
              <a:spcAft>
                <a:spcPts val="100"/>
              </a:spcAft>
              <a:defRPr sz="1300">
                <a:solidFill>
                  <a:srgbClr val="5599FF"/>
                </a:solidFill>
                <a:latin typeface="Courier New"/>
              </a:defRPr>
            </a:pPr>
            <a:r>
              <a:t>  |  S_FFT_RUN     ~5,400 cyc — 2D FFT (32 rows+cols)</a:t>
            </a:r>
          </a:p>
          <a:p>
            <a:pPr>
              <a:spcAft>
                <a:spcPts val="100"/>
              </a:spcAft>
              <a:defRPr sz="1300">
                <a:solidFill>
                  <a:srgbClr val="FF9933"/>
                </a:solidFill>
                <a:latin typeface="Courier New"/>
              </a:defRPr>
            </a:pPr>
            <a:r>
              <a:t>  |  S_ELEM_MUL    1,024 cyc  — conj(α̂·X̂) element-wise</a:t>
            </a:r>
          </a:p>
          <a:p>
            <a:pPr>
              <a:spcAft>
                <a:spcPts val="100"/>
              </a:spcAft>
              <a:defRPr sz="1300">
                <a:solidFill>
                  <a:srgbClr val="00D4AA"/>
                </a:solidFill>
                <a:latin typeface="Courier New"/>
              </a:defRPr>
            </a:pPr>
            <a:r>
              <a:t>  |  S_IFFT_LOAD   1,024 cyc  — load into IFFT2D</a:t>
            </a:r>
          </a:p>
          <a:p>
            <a:pPr>
              <a:spcAft>
                <a:spcPts val="100"/>
              </a:spcAft>
              <a:defRPr sz="1300">
                <a:solidFill>
                  <a:srgbClr val="5599FF"/>
                </a:solidFill>
                <a:latin typeface="Courier New"/>
              </a:defRPr>
            </a:pPr>
            <a:r>
              <a:t>  |  S_IFFT_RUN    ~6,400 cyc — 2D IFFT (conj trick)</a:t>
            </a:r>
          </a:p>
          <a:p>
            <a:pPr>
              <a:spcAft>
                <a:spcPts val="100"/>
              </a:spcAft>
              <a:defRPr sz="1300">
                <a:solidFill>
                  <a:srgbClr val="44FF88"/>
                </a:solidFill>
                <a:latin typeface="Courier New"/>
              </a:defRPr>
            </a:pPr>
            <a:r>
              <a:t>  |  S_PEAK_RUN    1,026 cyc  — scan response map</a:t>
            </a:r>
          </a:p>
          <a:p>
            <a:pPr>
              <a:spcAft>
                <a:spcPts val="100"/>
              </a:spcAft>
              <a:defRPr sz="1300">
                <a:solidFill>
                  <a:srgbClr val="FFDD44"/>
                </a:solidFill>
                <a:latin typeface="Courier New"/>
              </a:defRPr>
            </a:pPr>
            <a:r>
              <a:t>  |  S_DONE        1 cyc      — latch results, pulse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89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4FF88"/>
                </a:solidFill>
              </a:defRPr>
            </a:pPr>
            <a:r>
              <a:t>Total ~19,300 cycles  @100 MHz = 193 us /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0" y="1005840"/>
            <a:ext cx="3017520" cy="1353312"/>
          </a:xfrm>
          <a:prstGeom prst="rect">
            <a:avLst/>
          </a:prstGeom>
          <a:solidFill>
            <a:srgbClr val="101624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33872" y="105156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</a:defRPr>
            </a:pPr>
            <a:r>
              <a:t>butterfly.sv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3872" y="1426464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a+W·b, a−W·b</a:t>
            </a:r>
            <a:br/>
            <a:r>
              <a:t>Single-cycle comb.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9006840" y="1005840"/>
            <a:ext cx="3017520" cy="1353312"/>
          </a:xfrm>
          <a:prstGeom prst="rect">
            <a:avLst/>
          </a:prstGeom>
          <a:solidFill>
            <a:srgbClr val="101624"/>
          </a:solidFill>
          <a:ln w="19050">
            <a:solidFill>
              <a:srgbClr val="55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9992" y="105156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599FF"/>
                </a:solidFill>
              </a:defRPr>
            </a:pPr>
            <a:r>
              <a:t>twiddle_rom_32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79992" y="1426464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16 complex Wⁿ</a:t>
            </a:r>
            <a:br/>
            <a:r>
              <a:t>Symmetry: Wⁿ⁺ᴺ/²=−Wⁿ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2468880"/>
            <a:ext cx="3017520" cy="1353312"/>
          </a:xfrm>
          <a:prstGeom prst="rect">
            <a:avLst/>
          </a:prstGeom>
          <a:solidFill>
            <a:srgbClr val="101624"/>
          </a:solidFill>
          <a:ln w="19050">
            <a:solidFill>
              <a:srgbClr val="55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25146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599FF"/>
                </a:solidFill>
              </a:defRPr>
            </a:pPr>
            <a:r>
              <a:t>fft1d_32.sv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3872" y="2889504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Radix-2 DIT</a:t>
            </a:r>
            <a:br/>
            <a:r>
              <a:t>5 stages × 16 bf = 80 cyc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2468880"/>
            <a:ext cx="3017520" cy="1353312"/>
          </a:xfrm>
          <a:prstGeom prst="rect">
            <a:avLst/>
          </a:prstGeom>
          <a:solidFill>
            <a:srgbClr val="101624"/>
          </a:solidFill>
          <a:ln w="19050">
            <a:solidFill>
              <a:srgbClr val="CC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25146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C88FF"/>
                </a:solidFill>
              </a:defRPr>
            </a:pPr>
            <a:r>
              <a:t>fft2d_32.sv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89504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Row-column decomp.</a:t>
            </a:r>
            <a:br/>
            <a:r>
              <a:t>32×fft1d (rows+cols)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931920"/>
            <a:ext cx="3017520" cy="1353312"/>
          </a:xfrm>
          <a:prstGeom prst="rect">
            <a:avLst/>
          </a:prstGeom>
          <a:solidFill>
            <a:srgbClr val="101624"/>
          </a:solidFill>
          <a:ln w="19050">
            <a:solidFill>
              <a:srgbClr val="CC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3872" y="397764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C88FF"/>
                </a:solidFill>
              </a:defRPr>
            </a:pPr>
            <a:r>
              <a:t>ifft2d_32.sv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33872" y="4352544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Conjugate trick</a:t>
            </a:r>
            <a:br/>
            <a:r>
              <a:t>Reuses fft2d_32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40" y="3931920"/>
            <a:ext cx="3017520" cy="1353312"/>
          </a:xfrm>
          <a:prstGeom prst="rect">
            <a:avLst/>
          </a:prstGeom>
          <a:solidFill>
            <a:srgbClr val="101624"/>
          </a:solidFill>
          <a:ln w="1905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9992" y="397764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933"/>
                </a:solidFill>
              </a:defRPr>
            </a:pPr>
            <a:r>
              <a:t>hann_rom_32.sv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4352544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32 Q8.8 values</a:t>
            </a:r>
            <a:br/>
            <a:r>
              <a:t>Separable Hann₂D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720" y="5394960"/>
            <a:ext cx="3017520" cy="1353312"/>
          </a:xfrm>
          <a:prstGeom prst="rect">
            <a:avLst/>
          </a:prstGeom>
          <a:solidFill>
            <a:srgbClr val="101624"/>
          </a:solidFill>
          <a:ln w="19050">
            <a:solidFill>
              <a:srgbClr val="44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33872" y="544068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4FF88"/>
                </a:solidFill>
              </a:defRPr>
            </a:pPr>
            <a:r>
              <a:t>cconj_mul.sv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33872" y="5815584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a·conj(b)</a:t>
            </a:r>
            <a:br/>
            <a:r>
              <a:t>1 element / cycle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5394960"/>
            <a:ext cx="3017520" cy="1353312"/>
          </a:xfrm>
          <a:prstGeom prst="rect">
            <a:avLst/>
          </a:prstGeom>
          <a:solidFill>
            <a:srgbClr val="101624"/>
          </a:solidFill>
          <a:ln w="19050">
            <a:solidFill>
              <a:srgbClr val="FFD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9992" y="544068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D44"/>
                </a:solidFill>
              </a:defRPr>
            </a:pPr>
            <a:r>
              <a:t>peak_finder.sv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2" y="5815584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Sequential max scan</a:t>
            </a:r>
            <a:br/>
            <a:r>
              <a:t>1,026 cycles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FFT Architecture &amp; IFFT Conjugate Trick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D4AA"/>
                </a:solidFill>
              </a:defRPr>
            </a:pPr>
            <a:r>
              <a:t>2D FFT = two passes of 1D FFTs</a:t>
            </a:r>
          </a:p>
          <a:p>
            <a:pPr lvl="1">
              <a:spcAft>
                <a:spcPts val="600"/>
              </a:spcAft>
              <a:defRPr sz="1500">
                <a:solidFill>
                  <a:srgbClr val="FFDD44"/>
                </a:solidFill>
              </a:defRPr>
            </a:pPr>
            <a:r>
              <a:t>FFT2D[r,c] = FFT1D( FFT1D(row)[col] 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D4AA"/>
                </a:solidFill>
              </a:defRPr>
            </a:pPr>
            <a:r>
              <a:t>fft1d_32  — Radix-2 DIT iterative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5 butterfly stages, 16 ops each = 80 cycles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Bit-reversal permutation before stage 0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scale_en=1: each stage divides by 2 (&gt;&gt;1)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D4AA"/>
                </a:solidFill>
              </a:defRPr>
            </a:pPr>
            <a:r>
              <a:t>fft2d_32 timing (N=32):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Row pass:  32 × 80 = 2,560 cycles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Col pass:  32 × 80 = 2,560 cycles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Load/save overhead: ~300 cycles</a:t>
            </a:r>
          </a:p>
          <a:p>
            <a:pPr lvl="1">
              <a:spcAft>
                <a:spcPts val="600"/>
              </a:spcAft>
              <a:defRPr sz="1500">
                <a:solidFill>
                  <a:srgbClr val="FF9933"/>
                </a:solidFill>
              </a:defRPr>
            </a:pPr>
            <a:r>
              <a:t>Total: ~5,400 cycles per 2D FFT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D4AA"/>
                </a:solidFill>
              </a:defRPr>
            </a:pPr>
            <a:r>
              <a:t>IFFT trick — no separate datapath:</a:t>
            </a:r>
          </a:p>
          <a:p>
            <a:pPr lvl="1">
              <a:spcAft>
                <a:spcPts val="600"/>
              </a:spcAft>
              <a:defRPr sz="1500">
                <a:solidFill>
                  <a:srgbClr val="FFDD44"/>
                </a:solidFill>
              </a:defRPr>
            </a:pPr>
            <a:r>
              <a:t>IFFT(X) = conj( FFT( conj(X) ) ) / N²</a:t>
            </a:r>
          </a:p>
          <a:p>
            <a:pPr lvl="1">
              <a:spcAft>
                <a:spcPts val="600"/>
              </a:spcAft>
              <a:defRPr sz="1500">
                <a:solidFill>
                  <a:srgbClr val="44FF88"/>
                </a:solidFill>
              </a:defRPr>
            </a:pPr>
            <a:r>
              <a:t>ifft2d_32 reuses fft2d_32 entirely</a:t>
            </a:r>
          </a:p>
        </p:txBody>
      </p:sp>
      <p:pic>
        <p:nvPicPr>
          <p:cNvPr id="5" name="Picture 4" descr="eq_ifft_tr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6035040" cy="12039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3200400"/>
            <a:ext cx="60350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D4AA"/>
                </a:solidFill>
              </a:defRPr>
            </a:pPr>
            <a:r>
              <a:t>Why it works: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DFT of conj(x) = cyclically reversed conj(DFT(x))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Taking conj and dividing by N² gives IFFT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D4AA"/>
                </a:solidFill>
              </a:defRPr>
            </a:pPr>
            <a:r>
              <a:t>Asymmetric scaling strategy: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Forward FFT: scale row pass only (1/N, not 1/N²)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IFFT: full scale both passes (correct 1/N²)</a:t>
            </a:r>
          </a:p>
          <a:p>
            <a:pPr lvl="1">
              <a:spcAft>
                <a:spcPts val="600"/>
              </a:spcAft>
              <a:defRPr sz="1500">
                <a:solidFill>
                  <a:srgbClr val="44FF88"/>
                </a:solidFill>
              </a:defRPr>
            </a:pPr>
            <a:r>
              <a:t>Net forward gain: 32× more signal → no underflow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4AA"/>
                </a:solidFill>
              </a:defRPr>
            </a:pPr>
            <a:r>
              <a:t>Section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Fixed-Point Arithmetic &amp; Scaling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606040"/>
            <a:ext cx="54864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Q8.8 Fixed-Point &amp; the Scaling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53949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D4AA"/>
                </a:solidFill>
              </a:defRPr>
            </a:pPr>
            <a:r>
              <a:t>Q8.8 format (16-bit signed)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1 sign + 7 integer + 8 fractional bits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Range: –128.000 to +127.996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Resolution: 1/256 ≈ 0.004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5555"/>
                </a:solidFill>
              </a:defRPr>
            </a:pPr>
            <a:r>
              <a:t>The precision problem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2-pass FFT (with full scaling): net 1/N² = 1/1024</a:t>
            </a:r>
          </a:p>
          <a:p>
            <a:pPr lvl="1">
              <a:spcAft>
                <a:spcPts val="600"/>
              </a:spcAft>
              <a:defRPr sz="1500">
                <a:solidFill>
                  <a:srgbClr val="FF5555"/>
                </a:solidFill>
              </a:defRPr>
            </a:pPr>
            <a:r>
              <a:t>Response values ≈ 0.001 → rounds to ZERO</a:t>
            </a:r>
          </a:p>
          <a:p>
            <a:pPr lvl="1">
              <a:spcAft>
                <a:spcPts val="600"/>
              </a:spcAft>
              <a:defRPr sz="1500">
                <a:solidFill>
                  <a:srgbClr val="FF5555"/>
                </a:solidFill>
              </a:defRPr>
            </a:pPr>
            <a:r>
              <a:t>Peak disappears — tracker goes blind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D4AA"/>
                </a:solidFill>
              </a:defRPr>
            </a:pPr>
            <a:r>
              <a:t>Fix 1 — Asymmetric FFT scaling</a:t>
            </a:r>
          </a:p>
          <a:p>
            <a:pPr lvl="1">
              <a:spcAft>
                <a:spcPts val="600"/>
              </a:spcAft>
              <a:defRPr sz="1500">
                <a:solidFill>
                  <a:srgbClr val="FFDD44"/>
                </a:solidFill>
              </a:defRPr>
            </a:pPr>
            <a:r>
              <a:t>Forward FFT: scale row pass only (1/N)</a:t>
            </a:r>
          </a:p>
          <a:p>
            <a:pPr lvl="1">
              <a:spcAft>
                <a:spcPts val="600"/>
              </a:spcAft>
              <a:defRPr sz="1500">
                <a:solidFill>
                  <a:srgbClr val="FFDD44"/>
                </a:solidFill>
              </a:defRPr>
            </a:pPr>
            <a:r>
              <a:t>IFFT: full 1/N² on both passes</a:t>
            </a:r>
          </a:p>
          <a:p>
            <a:pPr lvl="1">
              <a:spcAft>
                <a:spcPts val="600"/>
              </a:spcAft>
              <a:defRPr sz="1500">
                <a:solidFill>
                  <a:srgbClr val="44FF88"/>
                </a:solidFill>
              </a:defRPr>
            </a:pPr>
            <a:r>
              <a:t>Net attenuation 1/N not 1/N² → 32× more signal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D4AA"/>
                </a:solidFill>
              </a:defRPr>
            </a:pPr>
            <a:r>
              <a:t>Fix 2 — Adaptive K pre-scaling</a:t>
            </a:r>
          </a:p>
          <a:p>
            <a:pPr lvl="1">
              <a:spcAft>
                <a:spcPts val="600"/>
              </a:spcAft>
              <a:defRPr sz="1500">
                <a:solidFill>
                  <a:srgbClr val="FFDD44"/>
                </a:solidFill>
              </a:defRPr>
            </a:pPr>
            <a:r>
              <a:t>Largest K=2ⁿ such that max|filter|×K &lt; 120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K=64 (synthetic),  K=2 (real image)</a:t>
            </a:r>
          </a:p>
          <a:p>
            <a:pPr lvl="1">
              <a:spcAft>
                <a:spcPts val="600"/>
              </a:spcAft>
              <a:defRPr sz="1500">
                <a:solidFill>
                  <a:srgbClr val="44FF88"/>
                </a:solidFill>
              </a:defRPr>
            </a:pPr>
            <a:r>
              <a:t>Output = true_response × K/N  (in range)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005840"/>
            <a:ext cx="594360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00D4AA"/>
                </a:solidFill>
                <a:latin typeface="Courier New"/>
              </a:defRPr>
            </a:pPr>
            <a:r>
              <a:t>Q8.8 Bit Layout</a:t>
            </a:r>
          </a:p>
          <a:p>
            <a:pPr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200"/>
              </a:spcAft>
              <a:defRPr sz="1300" b="0">
                <a:solidFill>
                  <a:srgbClr val="AAAAAA"/>
                </a:solidFill>
                <a:latin typeface="Courier New"/>
              </a:defRPr>
            </a:pPr>
            <a:r>
              <a:t>Bit 15            Bit 8  Bit 7       Bit 0</a:t>
            </a:r>
          </a:p>
          <a:p>
            <a:pPr>
              <a:spcAft>
                <a:spcPts val="200"/>
              </a:spcAft>
              <a:defRPr sz="1300" b="0">
                <a:solidFill>
                  <a:srgbClr val="AAAAAA"/>
                </a:solidFill>
                <a:latin typeface="Courier New"/>
              </a:defRPr>
            </a:pPr>
            <a:r>
              <a:t>  ↓                  ↓    ↓           ↓</a:t>
            </a:r>
          </a:p>
          <a:p>
            <a:pPr>
              <a:spcAft>
                <a:spcPts val="200"/>
              </a:spcAft>
              <a:defRPr sz="1800" b="0">
                <a:solidFill>
                  <a:srgbClr val="FFDD44"/>
                </a:solidFill>
                <a:latin typeface="Courier New"/>
              </a:defRPr>
            </a:pPr>
            <a:r>
              <a:t> [S  IIIIIII]  [FFFFFFFF]</a:t>
            </a:r>
          </a:p>
          <a:p>
            <a:pPr>
              <a:spcAft>
                <a:spcPts val="200"/>
              </a:spcAft>
              <a:defRPr sz="1300" b="0">
                <a:solidFill>
                  <a:srgbClr val="AAAAAA"/>
                </a:solidFill>
              </a:defRPr>
            </a:pPr>
            <a:r>
              <a:t>  sign  integer   fraction</a:t>
            </a:r>
          </a:p>
          <a:p>
            <a:pPr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200"/>
              </a:spcAft>
              <a:defRPr sz="1800" b="1">
                <a:solidFill>
                  <a:srgbClr val="00D4AA"/>
                </a:solidFill>
              </a:defRPr>
            </a:pPr>
            <a:r>
              <a:t>Multiply: Q8.8 × Q8.8 → Q16.16</a:t>
            </a:r>
          </a:p>
          <a:p>
            <a:pPr>
              <a:spcAft>
                <a:spcPts val="200"/>
              </a:spcAft>
              <a:defRPr sz="1500" b="0">
                <a:solidFill>
                  <a:srgbClr val="FFFFFF"/>
                </a:solidFill>
                <a:latin typeface="Courier New"/>
              </a:defRPr>
            </a:pPr>
            <a:r>
              <a:t>  a = 1.5  (0x0180)</a:t>
            </a:r>
          </a:p>
          <a:p>
            <a:pPr>
              <a:spcAft>
                <a:spcPts val="200"/>
              </a:spcAft>
              <a:defRPr sz="1500" b="0">
                <a:solidFill>
                  <a:srgbClr val="FFFFFF"/>
                </a:solidFill>
                <a:latin typeface="Courier New"/>
              </a:defRPr>
            </a:pPr>
            <a:r>
              <a:t>  b = 0.5  (0x0080)</a:t>
            </a:r>
          </a:p>
          <a:p>
            <a:pPr>
              <a:spcAft>
                <a:spcPts val="200"/>
              </a:spcAft>
              <a:defRPr sz="1500" b="0">
                <a:solidFill>
                  <a:srgbClr val="FFFFFF"/>
                </a:solidFill>
                <a:latin typeface="Courier New"/>
              </a:defRPr>
            </a:pPr>
            <a:r>
              <a:t>  prod = 0x00C000  (32-bit)</a:t>
            </a:r>
          </a:p>
          <a:p>
            <a:pPr>
              <a:spcAft>
                <a:spcPts val="200"/>
              </a:spcAft>
              <a:defRPr sz="1500" b="0">
                <a:solidFill>
                  <a:srgbClr val="44FF88"/>
                </a:solidFill>
                <a:latin typeface="Courier New"/>
              </a:defRPr>
            </a:pPr>
            <a:r>
              <a:t>  keep bits[23:8] = 0x00C0 = 0.75 ✓</a:t>
            </a:r>
          </a:p>
          <a:p>
            <a:pPr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200"/>
              </a:spcAft>
              <a:defRPr sz="1800" b="1">
                <a:solidFill>
                  <a:srgbClr val="00D4AA"/>
                </a:solidFill>
              </a:defRPr>
            </a:pPr>
            <a:r>
              <a:t>Pipeline scaling summary</a:t>
            </a:r>
          </a:p>
          <a:p>
            <a:pPr>
              <a:spcAft>
                <a:spcPts val="200"/>
              </a:spcAft>
              <a:defRPr sz="1500" b="0">
                <a:solidFill>
                  <a:srgbClr val="FFFFFF"/>
                </a:solidFill>
                <a:latin typeface="Courier New"/>
              </a:defRPr>
            </a:pPr>
            <a:r>
              <a:t>  Hann×patch: Q16.16 → keep[23:8]</a:t>
            </a:r>
          </a:p>
          <a:p>
            <a:pPr>
              <a:spcAft>
                <a:spcPts val="200"/>
              </a:spcAft>
              <a:defRPr sz="1500" b="0">
                <a:solidFill>
                  <a:srgbClr val="FFFFFF"/>
                </a:solidFill>
              </a:defRPr>
            </a:pPr>
            <a:r>
              <a:t>  FFT butterfly: scaled &gt;&gt;&gt;1 per stage</a:t>
            </a:r>
          </a:p>
          <a:p>
            <a:pPr>
              <a:spcAft>
                <a:spcPts val="200"/>
              </a:spcAft>
              <a:defRPr sz="1500" b="0">
                <a:solidFill>
                  <a:srgbClr val="FFFFFF"/>
                </a:solidFill>
              </a:defRPr>
            </a:pPr>
            <a:r>
              <a:t>  Final output = true_resp × K/N</a:t>
            </a:r>
          </a:p>
          <a:p>
            <a:pPr>
              <a:spcAft>
                <a:spcPts val="200"/>
              </a:spcAft>
              <a:defRPr sz="1500" b="0">
                <a:solidFill>
                  <a:srgbClr val="AAAAAA"/>
                </a:solidFill>
              </a:defRPr>
            </a:pPr>
            <a:r>
              <a:t>  threshold set by Python at 0.5×K/N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4AA"/>
                </a:solidFill>
              </a:defRPr>
            </a:pPr>
            <a:r>
              <a:t>Section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AXI Interface  --  SoC Integration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606040"/>
            <a:ext cx="54864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AXI Interface: kcf_axi_wrapper.sv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D4AA"/>
                </a:solidFill>
              </a:defRPr>
            </a:pPr>
            <a:r>
              <a:t>Why AXI?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KCF IP needs two communication paths:</a:t>
            </a:r>
          </a:p>
          <a:p>
            <a:pPr lvl="2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High BW: 1,024 pixels × 16-bit = 16 Kbits per frame</a:t>
            </a:r>
          </a:p>
          <a:p>
            <a:pPr lvl="2">
              <a:spcAft>
                <a:spcPts val="600"/>
              </a:spcAft>
              <a:defRPr sz="1400">
                <a:solidFill>
                  <a:srgbClr val="44FF88"/>
                </a:solidFill>
              </a:defRPr>
            </a:pPr>
            <a:r>
              <a:t>  → AXI4-Stream (burst, no address overhead)</a:t>
            </a:r>
          </a:p>
          <a:p>
            <a:pPr lvl="2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Low BW: start/done/threshold/peak results</a:t>
            </a:r>
          </a:p>
          <a:p>
            <a:pPr lvl="2">
              <a:spcAft>
                <a:spcPts val="600"/>
              </a:spcAft>
              <a:defRPr sz="1400">
                <a:solidFill>
                  <a:srgbClr val="44FF88"/>
                </a:solidFill>
              </a:defRPr>
            </a:pPr>
            <a:r>
              <a:t>  → AXI4-Lite (simple register read/write)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Industry-standard for FPGA-SoC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59436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00D4AA"/>
                </a:solidFill>
                <a:latin typeface="Courier New"/>
              </a:defRPr>
            </a:pPr>
            <a:r>
              <a:t>AXI4-Stream Slave (patch loader)</a:t>
            </a:r>
          </a:p>
          <a:p>
            <a:pPr>
              <a:spcAft>
                <a:spcPts val="10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 tready=1 when STREAM_LOADING</a:t>
            </a:r>
          </a:p>
          <a:p>
            <a:pPr>
              <a:spcAft>
                <a:spcPts val="100"/>
              </a:spcAft>
              <a:defRPr sz="1300" b="0">
                <a:solidFill>
                  <a:srgbClr val="44FF88"/>
                </a:solidFill>
                <a:latin typeface="Courier New"/>
              </a:defRPr>
            </a:pPr>
            <a:r>
              <a:t> patch_wr_en = tvalid &amp; tready</a:t>
            </a:r>
          </a:p>
          <a:p>
            <a:pPr>
              <a:spcAft>
                <a:spcPts val="10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 beat_cnt 0→1023 → patch_addr</a:t>
            </a:r>
          </a:p>
          <a:p>
            <a:pPr>
              <a:spcAft>
                <a:spcPts val="100"/>
              </a:spcAft>
              <a:defRPr sz="8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600" b="1">
                <a:solidFill>
                  <a:srgbClr val="00D4AA"/>
                </a:solidFill>
                <a:latin typeface="Courier New"/>
              </a:defRPr>
            </a:pPr>
            <a:r>
              <a:t>AXI4-Lite Slave (register file)</a:t>
            </a:r>
          </a:p>
          <a:p>
            <a:pPr>
              <a:spcAft>
                <a:spcPts val="100"/>
              </a:spcAft>
              <a:defRPr sz="1300" b="0">
                <a:solidFill>
                  <a:srgbClr val="FFDD44"/>
                </a:solidFill>
                <a:latin typeface="Courier New"/>
              </a:defRPr>
            </a:pPr>
            <a:r>
              <a:t> 0x00 CTRL   [0]=start  [1]=done  [2]=found</a:t>
            </a:r>
          </a:p>
          <a:p>
            <a:pPr>
              <a:spcAft>
                <a:spcPts val="10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 0x04 THRESHOLD  [15:0] conf_threshold (RW)</a:t>
            </a:r>
          </a:p>
          <a:p>
            <a:pPr>
              <a:spcAft>
                <a:spcPts val="10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 0x08 PEAK_ROW   [4:0]  peak row (R)</a:t>
            </a:r>
          </a:p>
          <a:p>
            <a:pPr>
              <a:spcAft>
                <a:spcPts val="10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 0x0C PEAK_COL   [4:0]  peak col (R)</a:t>
            </a:r>
          </a:p>
          <a:p>
            <a:pPr>
              <a:spcAft>
                <a:spcPts val="10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 0x10 PEAK_VAL   [15:0] peak val, Q8.8 (R)</a:t>
            </a:r>
          </a:p>
          <a:p>
            <a:pPr>
              <a:spcAft>
                <a:spcPts val="10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 0x14 TARGET_FOUND [0]  found flag (R)</a:t>
            </a:r>
          </a:p>
          <a:p>
            <a:pPr>
              <a:spcAft>
                <a:spcPts val="100"/>
              </a:spcAft>
              <a:defRPr sz="8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200" b="0">
                <a:solidFill>
                  <a:srgbClr val="AAAAAA"/>
                </a:solidFill>
                <a:latin typeface="Courier New"/>
              </a:defRPr>
            </a:pPr>
            <a:r>
              <a:t> ↓ internal signals</a:t>
            </a:r>
          </a:p>
          <a:p>
            <a:pPr>
              <a:spcAft>
                <a:spcPts val="100"/>
              </a:spcAft>
              <a:defRPr sz="1400" b="1">
                <a:solidFill>
                  <a:srgbClr val="44FF88"/>
                </a:solidFill>
                <a:latin typeface="Courier New"/>
              </a:defRPr>
            </a:pPr>
            <a:r>
              <a:t> kcf_detect_top  (N=32, unchanged)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005840"/>
            <a:ext cx="53949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00D4AA"/>
                </a:solidFill>
              </a:defRPr>
            </a:pPr>
            <a:r>
              <a:t>Key design decisions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FF9933"/>
                </a:solidFill>
              </a:defRPr>
            </a:pPr>
            <a:r>
              <a:t>done_w is a 1-cycle pulse only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Wrapper latches it → done_latched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Cleared by start_pulse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AXI-Lite CTRL[1] reads done_latched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00D4AA"/>
                </a:solidFill>
              </a:defRPr>
            </a:pPr>
            <a:r>
              <a:t>Stream backpressure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tready=0 in STREAM_IDLE state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Prevents overwriting patch during detection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00D4AA"/>
                </a:solidFill>
              </a:defRPr>
            </a:pPr>
            <a:r>
              <a:t>SoC software sequence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1. Write THRESHOLD (0x04)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2. DMA stream 1,024 pixels via TDATA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3. Write CTRL[0]=1 → start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4. Poll CTRL[1] until done=1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5. Read PEAK_ROW / COL / VAL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6. Compute displacement, repeat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AXI Interface: Next Steps for FPGA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D4AA"/>
                </a:solidFill>
              </a:defRPr>
            </a:pPr>
            <a:r>
              <a:t>What the AXI wrapper enables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Plug-and-play with any RISC-V or ARM SoC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SoC DMA controller handles AXI4-Stream bursts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CPU controls tracker via simple register reads/writes</a:t>
            </a:r>
          </a:p>
          <a:p>
            <a:pPr lvl="1"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Standard for Vivado IP catalogue integration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D4AA"/>
                </a:solidFill>
              </a:defRPr>
            </a:pPr>
            <a:r>
              <a:t>tb_kcf_axi_wrapper.sv — testbench tasks</a:t>
            </a:r>
          </a:p>
          <a:p>
            <a:pPr lvl="1">
              <a:spcAft>
                <a:spcPts val="600"/>
              </a:spcAft>
              <a:defRPr sz="1500">
                <a:solidFill>
                  <a:srgbClr val="FFDD44"/>
                </a:solidFill>
              </a:defRPr>
            </a:pPr>
            <a:r>
              <a:t>axi_write(addr, data)</a:t>
            </a:r>
          </a:p>
          <a:p>
            <a:pPr lvl="2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Full 5-channel AXI4-Lite handshake</a:t>
            </a:r>
          </a:p>
          <a:p>
            <a:pPr lvl="1">
              <a:spcAft>
                <a:spcPts val="600"/>
              </a:spcAft>
              <a:defRPr sz="1500">
                <a:solidFill>
                  <a:srgbClr val="FFDD44"/>
                </a:solidFill>
              </a:defRPr>
            </a:pPr>
            <a:r>
              <a:t>axi_read(addr, data)</a:t>
            </a:r>
          </a:p>
          <a:p>
            <a:pPr lvl="2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arvalid + rready, returns rdata</a:t>
            </a:r>
          </a:p>
          <a:p>
            <a:pPr lvl="1">
              <a:spcAft>
                <a:spcPts val="600"/>
              </a:spcAft>
              <a:defRPr sz="1500">
                <a:solidFill>
                  <a:srgbClr val="FFDD44"/>
                </a:solidFill>
              </a:defRPr>
            </a:pPr>
            <a:r>
              <a:t>axis_send_patch(memfile)</a:t>
            </a:r>
          </a:p>
          <a:p>
            <a:pPr lvl="2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Streams 1,024 pixels, TLAST on beat 1023</a:t>
            </a:r>
          </a:p>
          <a:p>
            <a:pPr lvl="2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Respects TREADY backpressure</a:t>
            </a:r>
          </a:p>
          <a:p>
            <a:pPr lvl="1">
              <a:spcAft>
                <a:spcPts val="600"/>
              </a:spcAft>
              <a:defRPr sz="1500">
                <a:solidFill>
                  <a:srgbClr val="FFDD44"/>
                </a:solidFill>
              </a:defRPr>
            </a:pPr>
            <a:r>
              <a:t>poll_done(timed_out)</a:t>
            </a:r>
          </a:p>
          <a:p>
            <a:pPr lvl="2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Polls CTRL[1] up to 200,000 times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44FF88"/>
                </a:solidFill>
              </a:defRPr>
            </a:pPr>
            <a:r>
              <a:t>Verified: results match tb_kcf_detect_top exactly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0584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00D4AA"/>
                </a:solidFill>
              </a:defRPr>
            </a:pPr>
            <a:r>
              <a:t>Integration path on FPGA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FPGA fabric</a:t>
            </a:r>
          </a:p>
          <a:p>
            <a:pPr lvl="1">
              <a:spcAft>
                <a:spcPts val="600"/>
              </a:spcAft>
              <a:defRPr sz="1400">
                <a:solidFill>
                  <a:srgbClr val="44FF88"/>
                </a:solidFill>
              </a:defRPr>
            </a:pPr>
            <a:r>
              <a:t>  KCF IP   ←← AXI4-Stream ←←  DMA controller</a:t>
            </a:r>
          </a:p>
          <a:p>
            <a:pPr lvl="1">
              <a:spcAft>
                <a:spcPts val="600"/>
              </a:spcAft>
              <a:defRPr sz="1400">
                <a:solidFill>
                  <a:srgbClr val="44FF88"/>
                </a:solidFill>
              </a:defRPr>
            </a:pPr>
            <a:r>
              <a:t>  KCF IP   ←← AXI4-Lite  ←←→ SoC CPU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00D4AA"/>
                </a:solidFill>
              </a:defRPr>
            </a:pPr>
            <a:r>
              <a:t>AXI4-Stream delivers 1,024 pixels in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~1,024 clock cycles (burst mode)</a:t>
            </a:r>
          </a:p>
          <a:p>
            <a:pPr>
              <a:spcAft>
                <a:spcPts val="600"/>
              </a:spcAft>
              <a:defRPr sz="1500">
                <a:solidFill>
                  <a:srgbClr val="00D4AA"/>
                </a:solidFill>
              </a:defRPr>
            </a:pPr>
            <a:r>
              <a:t>AXI4-Lite register accesses: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~5–10 cycles per transaction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00D4AA"/>
                </a:solidFill>
              </a:defRPr>
            </a:pPr>
            <a:r>
              <a:t>Total per-frame latency budget: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Stream: 1,024 cycles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KCF compute: 19,300 cycles</a:t>
            </a:r>
          </a:p>
          <a:p>
            <a:pPr lvl="1"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Register reads: ~50 cycles</a:t>
            </a:r>
          </a:p>
          <a:p>
            <a:pPr lvl="1">
              <a:spcAft>
                <a:spcPts val="600"/>
              </a:spcAft>
              <a:defRPr sz="1400">
                <a:solidFill>
                  <a:srgbClr val="44FF88"/>
                </a:solidFill>
              </a:defRPr>
            </a:pPr>
            <a:r>
              <a:t> Total: ~20,400 cycles @ 100 MHz = 204 us</a:t>
            </a:r>
          </a:p>
          <a:p>
            <a:pPr lvl="1">
              <a:spcAft>
                <a:spcPts val="600"/>
              </a:spcAft>
              <a:defRPr sz="1400">
                <a:solidFill>
                  <a:srgbClr val="44FF88"/>
                </a:solidFill>
              </a:defRPr>
            </a:pPr>
            <a:r>
              <a:t> Max theoretical: ~4,900 frames/sec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4AA"/>
                </a:solidFill>
              </a:defRPr>
            </a:pPr>
            <a:r>
              <a:t>Section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Demo &amp; Simulation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606040"/>
            <a:ext cx="54864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Demo Results: 3-Frame Tracking Sequence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rame1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3840480" cy="23032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34924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599FF"/>
                </a:solidFill>
              </a:defRPr>
            </a:pPr>
            <a:r>
              <a:t>Frame 1</a:t>
            </a:r>
            <a:br/>
            <a:r>
              <a:t>KCF Trained (clicked target)</a:t>
            </a:r>
          </a:p>
        </p:txBody>
      </p:sp>
      <p:pic>
        <p:nvPicPr>
          <p:cNvPr id="6" name="Picture 5" descr="fig_frame2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59" y="1005840"/>
            <a:ext cx="3840480" cy="23032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59" y="534924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44FF88"/>
                </a:solidFill>
              </a:defRPr>
            </a:pPr>
            <a:r>
              <a:t>Frame 2</a:t>
            </a:r>
            <a:br/>
            <a:r>
              <a:t>NCC Search (heatmap + green box)</a:t>
            </a:r>
          </a:p>
        </p:txBody>
      </p:sp>
      <p:pic>
        <p:nvPicPr>
          <p:cNvPr id="8" name="Picture 7" descr="fig_pres_detection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005840"/>
            <a:ext cx="3840480" cy="2231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534924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D44"/>
                </a:solidFill>
              </a:defRPr>
            </a:pPr>
            <a:r>
              <a:t>Frame 3</a:t>
            </a:r>
            <a:br/>
            <a:r>
              <a:t>KCF Only (yellow=window, cyan=peak)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Response Maps &amp; Hardware–Software Agreement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est1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3108960" cy="1485236"/>
          </a:xfrm>
          <a:prstGeom prst="rect">
            <a:avLst/>
          </a:prstGeom>
        </p:spPr>
      </p:pic>
      <p:pic>
        <p:nvPicPr>
          <p:cNvPr id="5" name="Picture 4" descr="fig_pres_respons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005840"/>
            <a:ext cx="3108960" cy="3140974"/>
          </a:xfrm>
          <a:prstGeom prst="rect">
            <a:avLst/>
          </a:prstGeom>
        </p:spPr>
      </p:pic>
      <p:pic>
        <p:nvPicPr>
          <p:cNvPr id="6" name="Picture 5" descr="Outp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005840"/>
            <a:ext cx="5029200" cy="3462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397763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AA"/>
                </a:solidFill>
              </a:defRPr>
            </a:pPr>
            <a:r>
              <a:t>Frame 1 — KCF self-test</a:t>
            </a:r>
            <a:br/>
            <a:r>
              <a:t>Peak at (0,0) = target centred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97763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AA"/>
                </a:solidFill>
              </a:defRPr>
            </a:pPr>
            <a:r>
              <a:t>3D response surface</a:t>
            </a:r>
            <a:br/>
            <a:r>
              <a:t>Sharp peak = high confidence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9776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AA"/>
                </a:solidFill>
              </a:defRPr>
            </a:pPr>
            <a:r>
              <a:t>Vivado simulation output</a:t>
            </a:r>
          </a:p>
        </p:txBody>
      </p:sp>
      <p:pic>
        <p:nvPicPr>
          <p:cNvPr id="10" name="Picture 9" descr="wavef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4617720"/>
            <a:ext cx="11612880" cy="61308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4320" y="6035040"/>
            <a:ext cx="11612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44FF88"/>
                </a:solidFill>
              </a:defRPr>
            </a:pPr>
            <a:r>
              <a:t>Python golden reference: peak_row=29, peak_col=30 → displacement (−3, −2)    Vivado simulation: exact match on all 5 output registers  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4AA"/>
                </a:solidFill>
              </a:defRPr>
            </a:pPr>
            <a:r>
              <a:t>Section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Key Challenges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606040"/>
            <a:ext cx="54864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Key Engineering Challenges &amp;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5669280" cy="2606040"/>
          </a:xfrm>
          <a:prstGeom prst="rect">
            <a:avLst/>
          </a:prstGeom>
          <a:solidFill>
            <a:srgbClr val="101622"/>
          </a:solidFill>
          <a:ln w="19050"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69848"/>
            <a:ext cx="54864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5555"/>
                </a:solidFill>
              </a:defRPr>
            </a:pPr>
            <a:r>
              <a:t>Q8.8 Precision Loss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08176"/>
            <a:ext cx="5486400" cy="38100"/>
          </a:xfrm>
          <a:prstGeom prst="rect">
            <a:avLst/>
          </a:prstGeom>
          <a:solidFill>
            <a:srgbClr val="FF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5555"/>
                </a:solidFill>
              </a:defRPr>
            </a:pPr>
            <a:r>
              <a:t>✗  2-pass FFT →1/1024 attenuation</a:t>
            </a:r>
            <a:br/>
            <a:r>
              <a:t>✗  All peaks round to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1463040"/>
            <a:ext cx="2697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FF88"/>
                </a:solidFill>
              </a:defRPr>
            </a:pPr>
            <a:r>
              <a:t>✓  Asymmetric scaling (1/N not 1/N²)</a:t>
            </a:r>
            <a:br/>
            <a:r>
              <a:t>✓  + adaptive K pre-scaling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005840"/>
            <a:ext cx="5669280" cy="2606040"/>
          </a:xfrm>
          <a:prstGeom prst="rect">
            <a:avLst/>
          </a:prstGeom>
          <a:solidFill>
            <a:srgbClr val="101622"/>
          </a:solidFill>
          <a:ln w="1905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69848"/>
            <a:ext cx="54864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933"/>
                </a:solidFill>
              </a:defRPr>
            </a:pPr>
            <a:r>
              <a:t>done is a 1-cycle pulse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08176"/>
            <a:ext cx="5486400" cy="381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46304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5555"/>
                </a:solidFill>
              </a:defRPr>
            </a:pPr>
            <a:r>
              <a:t>✗  kcf_detect_top asserts done for</a:t>
            </a:r>
            <a:br/>
            <a:r>
              <a:t>✗  only 1 clock in S_DONE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1463040"/>
            <a:ext cx="2697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FF88"/>
                </a:solidFill>
              </a:defRPr>
            </a:pPr>
            <a:r>
              <a:t>✓  Wrapper latches done_w → done_latched</a:t>
            </a:r>
            <a:br/>
            <a:r>
              <a:t>✓  Set by done_w, cleared by start_pulse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94760"/>
            <a:ext cx="5669280" cy="2606040"/>
          </a:xfrm>
          <a:prstGeom prst="rect">
            <a:avLst/>
          </a:prstGeom>
          <a:solidFill>
            <a:srgbClr val="101622"/>
          </a:solidFill>
          <a:ln w="19050">
            <a:solidFill>
              <a:srgbClr val="FFD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858768"/>
            <a:ext cx="54864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D44"/>
                </a:solidFill>
              </a:defRPr>
            </a:pPr>
            <a:r>
              <a:t>KCF tracking range limit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197096"/>
            <a:ext cx="5486400" cy="38100"/>
          </a:xfrm>
          <a:prstGeom prst="rect">
            <a:avLst/>
          </a:prstGeom>
          <a:solidFill>
            <a:srgbClr val="FFD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25196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5555"/>
                </a:solidFill>
              </a:defRPr>
            </a:pPr>
            <a:r>
              <a:t>✗  Gaussian σ=2: response at 7px ≈0.2%</a:t>
            </a:r>
            <a:br/>
            <a:r>
              <a:t>✗  Shifts &gt;~10px cause false peak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4251960"/>
            <a:ext cx="2697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FF88"/>
                </a:solidFill>
              </a:defRPr>
            </a:pPr>
            <a:r>
              <a:t>✓  Synthetic Frame 3: np.roll(+8r,+7c)</a:t>
            </a:r>
            <a:br/>
            <a:r>
              <a:t>✓  = 10.6px total, both axes in range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94760"/>
            <a:ext cx="5669280" cy="2606040"/>
          </a:xfrm>
          <a:prstGeom prst="rect">
            <a:avLst/>
          </a:prstGeom>
          <a:solidFill>
            <a:srgbClr val="101622"/>
          </a:solidFill>
          <a:ln w="19050">
            <a:solidFill>
              <a:srgbClr val="55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4864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599FF"/>
                </a:solidFill>
              </a:defRPr>
            </a:pPr>
            <a:r>
              <a:t>NCC wrap-around peaks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197096"/>
            <a:ext cx="5486400" cy="38100"/>
          </a:xfrm>
          <a:prstGeom prst="rect">
            <a:avLst/>
          </a:prstGeom>
          <a:solidFill>
            <a:srgbClr val="55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4251960"/>
            <a:ext cx="2606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5555"/>
                </a:solidFill>
              </a:defRPr>
            </a:pPr>
            <a:r>
              <a:t>✗  FFT correlation wraps at image edge</a:t>
            </a:r>
            <a:br/>
            <a:r>
              <a:t>✗  Border positions give false peaks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4251960"/>
            <a:ext cx="2697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FF88"/>
                </a:solidFill>
              </a:defRPr>
            </a:pPr>
            <a:r>
              <a:t>✓  Valid mask: ncc[:H–N+1, :W–N+1]</a:t>
            </a:r>
            <a:br/>
            <a:r>
              <a:t>✓  Argmax only over valid region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</a:defRPr>
            </a:pPr>
            <a:r>
              <a:t>Future Work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05156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5760720" cy="1792224"/>
          </a:xfrm>
          <a:prstGeom prst="rect">
            <a:avLst/>
          </a:prstGeom>
          <a:solidFill>
            <a:srgbClr val="101622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4AA"/>
                </a:solidFill>
              </a:defRPr>
            </a:pPr>
            <a:r>
              <a:t>1.  FPGA Synthesis &amp; Timing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08176"/>
            <a:ext cx="557784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5577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Deploy on Artix-7. Evaluate LUT/FF/BRAM utilisation, timing closure at 100 MHz, and power budget in Vivado.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005840"/>
            <a:ext cx="5760720" cy="1792224"/>
          </a:xfrm>
          <a:prstGeom prst="rect">
            <a:avLst/>
          </a:prstGeom>
          <a:solidFill>
            <a:srgbClr val="101622"/>
          </a:solidFill>
          <a:ln w="19050">
            <a:solidFill>
              <a:srgbClr val="44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0515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4FF88"/>
                </a:solidFill>
              </a:defRPr>
            </a:pPr>
            <a:r>
              <a:t>2.  SoC Integration via AXI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08176"/>
            <a:ext cx="5577840" cy="38100"/>
          </a:xfrm>
          <a:prstGeom prst="rect">
            <a:avLst/>
          </a:prstGeom>
          <a:solidFill>
            <a:srgbClr val="44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63040"/>
            <a:ext cx="5577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Connect kcf_axi_wrapper to a RISC-V or ARM SoC AXI interconnect. Write bare-metal C driver: DMA setup, register access, interrupt on done.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926080"/>
            <a:ext cx="5760720" cy="1792224"/>
          </a:xfrm>
          <a:prstGeom prst="rect">
            <a:avLst/>
          </a:prstGeom>
          <a:solidFill>
            <a:srgbClr val="101622"/>
          </a:solidFill>
          <a:ln w="19050">
            <a:solidFill>
              <a:srgbClr val="55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971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5599FF"/>
                </a:solidFill>
              </a:defRPr>
            </a:pPr>
            <a:r>
              <a:t>3.  64×64 Patch Support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28416"/>
            <a:ext cx="5577840" cy="38100"/>
          </a:xfrm>
          <a:prstGeom prst="rect">
            <a:avLst/>
          </a:prstGeom>
          <a:solidFill>
            <a:srgbClr val="55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383280"/>
            <a:ext cx="5577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Add fft2d_64 + ifft2d_64 (6-stage 1D FFT). Extend patch_buf to 4,096, beat counter to 12-bit. 4× more texture → improved tracking robustness.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26080"/>
            <a:ext cx="5760720" cy="1792224"/>
          </a:xfrm>
          <a:prstGeom prst="rect">
            <a:avLst/>
          </a:prstGeom>
          <a:solidFill>
            <a:srgbClr val="101622"/>
          </a:solidFill>
          <a:ln w="19050">
            <a:solidFill>
              <a:srgbClr val="FFD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971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DD44"/>
                </a:solidFill>
              </a:defRPr>
            </a:pPr>
            <a:r>
              <a:t>4.  Gaussian Kernel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328416"/>
            <a:ext cx="5577840" cy="38100"/>
          </a:xfrm>
          <a:prstGeom prst="rect">
            <a:avLst/>
          </a:prstGeom>
          <a:solidFill>
            <a:srgbClr val="FFD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383280"/>
            <a:ext cx="5577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Replace linear kernel: k(x,x') = exp(–‖x–x'‖²/σ²). Hardware exponential LUT for significant robustness gain.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846320"/>
            <a:ext cx="5760720" cy="1792224"/>
          </a:xfrm>
          <a:prstGeom prst="rect">
            <a:avLst/>
          </a:prstGeom>
          <a:solidFill>
            <a:srgbClr val="101622"/>
          </a:solidFill>
          <a:ln w="1905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8920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9933"/>
                </a:solidFill>
              </a:defRPr>
            </a:pPr>
            <a:r>
              <a:t>5.  Online Model Update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48656"/>
            <a:ext cx="5577840" cy="381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303520"/>
            <a:ext cx="5577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Compute new α̂ every frame (hardware divider). Handles lighting changes, rotation, gradual appearance drift.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846320"/>
            <a:ext cx="5760720" cy="1792224"/>
          </a:xfrm>
          <a:prstGeom prst="rect">
            <a:avLst/>
          </a:prstGeom>
          <a:solidFill>
            <a:srgbClr val="101622"/>
          </a:solidFill>
          <a:ln w="19050">
            <a:solidFill>
              <a:srgbClr val="CC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48920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C88FF"/>
                </a:solidFill>
              </a:defRPr>
            </a:pPr>
            <a:r>
              <a:t>6.  Camera Input Pipeline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248656"/>
            <a:ext cx="5577840" cy="38100"/>
          </a:xfrm>
          <a:prstGeom prst="rect">
            <a:avLst/>
          </a:prstGeom>
          <a:solidFill>
            <a:srgbClr val="CC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5303520"/>
            <a:ext cx="5577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Add camera or HDMI RX frontend. Resize to grayscale 32×32 in hardware, feed directly to AXI-Stream. Full closed-loop real-time system.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D4AA"/>
                </a:solidFill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0" y="2834640"/>
            <a:ext cx="73152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0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</a:defRPr>
            </a:pPr>
            <a:r>
              <a:t>Akhil Sriram  |  ECE499 Major Project  |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0916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</a:defRPr>
            </a:pPr>
            <a:r>
              <a:t>Supervisor: Dr. Venkatnarayan Hariharan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6636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</a:defRPr>
            </a:pPr>
            <a:r>
              <a:t>Dept. of Electrical Engineering  |  Shiv Nadar Institution of Eminence</a:t>
            </a:r>
          </a:p>
        </p:txBody>
      </p:sp>
      <p:pic>
        <p:nvPicPr>
          <p:cNvPr id="8" name="Picture 7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5669280"/>
            <a:ext cx="1371600" cy="263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