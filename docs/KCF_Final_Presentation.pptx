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64592" cy="65288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3A6B"/>
                </a:solidFill>
              </a:rPr>
              <a:t>RTL Implementation of 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1907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3A6B"/>
                </a:solidFill>
              </a:rPr>
              <a:t>KCF / MOSSE Visual Tracking Algorithm on FPGA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679192"/>
            <a:ext cx="9445752" cy="3200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</a:rPr>
              <a:t>Akhil Sriram  |  Roll No. 2210110134  |  B.Tech ECE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735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</a:rPr>
              <a:t>Supervisor: Dr. Venkatnarayan Hariharan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3931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</a:rPr>
              <a:t>Department of Electrical Engineering  |  Shiv Nadar Institution of Eminence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050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</a:rPr>
              <a:t>April 2026</a:t>
            </a:r>
          </a:p>
        </p:txBody>
      </p:sp>
      <p:pic>
        <p:nvPicPr>
          <p:cNvPr id="12" name="Picture 11" descr="logon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4617720"/>
            <a:ext cx="274320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650992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188720"/>
            <a:ext cx="5513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1.  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27048"/>
            <a:ext cx="5650992" cy="1993392"/>
          </a:xfrm>
          <a:prstGeom prst="rect">
            <a:avLst/>
          </a:prstGeom>
          <a:solidFill>
            <a:srgbClr val="F2F4F8"/>
          </a:solidFill>
          <a:ln w="635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600200"/>
            <a:ext cx="5468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b="0" i="0">
                <a:solidFill>
                  <a:srgbClr val="1A1A1A"/>
                </a:solidFill>
              </a:rPr>
              <a:t>•  Why FPGA for tracking?</a:t>
            </a:r>
          </a:p>
          <a:p>
            <a:pPr>
              <a:spcBef>
                <a:spcPts val="200"/>
              </a:spcBef>
            </a:pPr>
            <a:r>
              <a:rPr sz="1400" b="0" i="0">
                <a:solidFill>
                  <a:srgbClr val="1A1A1A"/>
                </a:solidFill>
              </a:rPr>
              <a:t>•  Frequency-domain insight</a:t>
            </a:r>
          </a:p>
          <a:p>
            <a:pPr>
              <a:spcBef>
                <a:spcPts val="200"/>
              </a:spcBef>
            </a:pPr>
            <a:r>
              <a:rPr sz="1400" b="0" i="0">
                <a:solidFill>
                  <a:srgbClr val="1A1A1A"/>
                </a:solidFill>
              </a:rPr>
              <a:t>•  NCC / MOSSE / KCF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650992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188720"/>
            <a:ext cx="5513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2.  KCF Algorithm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27048"/>
            <a:ext cx="5650992" cy="1993392"/>
          </a:xfrm>
          <a:prstGeom prst="rect">
            <a:avLst/>
          </a:prstGeom>
          <a:solidFill>
            <a:srgbClr val="F2F4F8"/>
          </a:solidFill>
          <a:ln w="635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600200"/>
            <a:ext cx="5468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b="0" i="0">
                <a:solidFill>
                  <a:srgbClr val="1A1A1A"/>
                </a:solidFill>
              </a:rPr>
              <a:t>•  Hann window &amp; Gaussian label</a:t>
            </a:r>
          </a:p>
          <a:p>
            <a:pPr>
              <a:spcBef>
                <a:spcPts val="200"/>
              </a:spcBef>
            </a:pPr>
            <a:r>
              <a:rPr sz="1400" b="0" i="0">
                <a:solidFill>
                  <a:srgbClr val="1A1A1A"/>
                </a:solidFill>
              </a:rPr>
              <a:t>•  Training: alpha = Y/(|X|^2 + lambda)</a:t>
            </a:r>
          </a:p>
          <a:p>
            <a:pPr>
              <a:spcBef>
                <a:spcPts val="200"/>
              </a:spcBef>
            </a:pPr>
            <a:r>
              <a:rPr sz="1400" b="0" i="0">
                <a:solidFill>
                  <a:srgbClr val="1A1A1A"/>
                </a:solidFill>
              </a:rPr>
              <a:t>•  Detection &amp; response 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49039"/>
            <a:ext cx="5650992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3794759"/>
            <a:ext cx="5513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3.  Live Demo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133087"/>
            <a:ext cx="5650992" cy="1993392"/>
          </a:xfrm>
          <a:prstGeom prst="rect">
            <a:avLst/>
          </a:prstGeom>
          <a:solidFill>
            <a:srgbClr val="F2F4F8"/>
          </a:solidFill>
          <a:ln w="635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4206239"/>
            <a:ext cx="5468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b="0" i="0">
                <a:solidFill>
                  <a:srgbClr val="1A1A1A"/>
                </a:solidFill>
              </a:rPr>
              <a:t>•  Frame 1 — target selection + training</a:t>
            </a:r>
          </a:p>
          <a:p>
            <a:pPr>
              <a:spcBef>
                <a:spcPts val="200"/>
              </a:spcBef>
            </a:pPr>
            <a:r>
              <a:rPr sz="1400" b="0" i="0">
                <a:solidFill>
                  <a:srgbClr val="1A1A1A"/>
                </a:solidFill>
              </a:rPr>
              <a:t>•  Frame 2 — NCC full-image search</a:t>
            </a:r>
          </a:p>
          <a:p>
            <a:pPr>
              <a:spcBef>
                <a:spcPts val="200"/>
              </a:spcBef>
            </a:pPr>
            <a:r>
              <a:rPr sz="1400" b="0" i="0">
                <a:solidFill>
                  <a:srgbClr val="1A1A1A"/>
                </a:solidFill>
              </a:rPr>
              <a:t>•  Frame 3 — KCF-only tracking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749039"/>
            <a:ext cx="5650992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794759"/>
            <a:ext cx="5513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4.  Hardware &amp; 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133087"/>
            <a:ext cx="5650992" cy="1993392"/>
          </a:xfrm>
          <a:prstGeom prst="rect">
            <a:avLst/>
          </a:prstGeom>
          <a:solidFill>
            <a:srgbClr val="F2F4F8"/>
          </a:solidFill>
          <a:ln w="635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4206239"/>
            <a:ext cx="5468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b="0" i="0">
                <a:solidFill>
                  <a:srgbClr val="1A1A1A"/>
                </a:solidFill>
              </a:rPr>
              <a:t>•  7-stage RTL pipeline (~19,300 cycles)</a:t>
            </a:r>
          </a:p>
          <a:p>
            <a:pPr>
              <a:spcBef>
                <a:spcPts val="200"/>
              </a:spcBef>
            </a:pPr>
            <a:r>
              <a:rPr sz="1400" b="0" i="0">
                <a:solidFill>
                  <a:srgbClr val="1A1A1A"/>
                </a:solidFill>
              </a:rPr>
              <a:t>•  AXI interface &amp; processor integration</a:t>
            </a:r>
          </a:p>
          <a:p>
            <a:pPr>
              <a:spcBef>
                <a:spcPts val="200"/>
              </a:spcBef>
            </a:pPr>
            <a:r>
              <a:rPr sz="1400" b="0" i="0">
                <a:solidFill>
                  <a:srgbClr val="1A1A1A"/>
                </a:solidFill>
              </a:rPr>
              <a:t>• 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3291840"/>
            <a:ext cx="7616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The Visual Tracking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FPGA? The Frequency-Domain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500" b="1" i="0">
                <a:solidFill>
                  <a:srgbClr val="1B3A6B"/>
                </a:solidFill>
              </a:rPr>
              <a:t>• </a:t>
            </a:r>
            <a:r>
              <a:rPr sz="1500" b="1" i="0">
                <a:solidFill>
                  <a:srgbClr val="1B3A6B"/>
                </a:solidFill>
              </a:rPr>
              <a:t>Challenge:</a:t>
            </a:r>
            <a:r>
              <a:rPr sz="1500" b="0" i="0">
                <a:solidFill>
                  <a:srgbClr val="1A1A1A"/>
                </a:solidFill>
              </a:rPr>
              <a:t>  Real-time tracking on edge devices needs low latency and low power — CPUs execute serially and are too slow for high-frame-rate video.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1B3A6B"/>
                </a:solidFill>
              </a:rPr>
              <a:t>• </a:t>
            </a:r>
            <a:r>
              <a:rPr sz="1500" b="1" i="0">
                <a:solidFill>
                  <a:srgbClr val="1B3A6B"/>
                </a:solidFill>
              </a:rPr>
              <a:t>Key Insight:</a:t>
            </a:r>
            <a:r>
              <a:rPr sz="1500" b="0" i="0">
                <a:solidFill>
                  <a:srgbClr val="1A1A1A"/>
                </a:solidFill>
              </a:rPr>
              <a:t>  KCF exploits that all cyclic shifts of a patch form a circulant matrix diagonalised by the DFT — tracking reduces to element-wise division: alpha = Y / (|X|^2 + lambda)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1B3A6B"/>
                </a:solidFill>
              </a:rPr>
              <a:t>• </a:t>
            </a:r>
            <a:r>
              <a:rPr sz="1500" b="1" i="0">
                <a:solidFill>
                  <a:srgbClr val="1B3A6B"/>
                </a:solidFill>
              </a:rPr>
              <a:t>FPGA Advantage:</a:t>
            </a:r>
            <a:r>
              <a:rPr sz="1500" b="0" i="0">
                <a:solidFill>
                  <a:srgbClr val="1A1A1A"/>
                </a:solidFill>
              </a:rPr>
              <a:t>  Dedicated parallel dataflow maps directly to the FFT butterfly pipeline. Fixed-point arithmetic eliminates FPUs, cutting LUT usage significantly.</a:t>
            </a:r>
          </a:p>
        </p:txBody>
      </p:sp>
      <p:pic>
        <p:nvPicPr>
          <p:cNvPr id="5" name="Picture 4" descr="K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97280"/>
            <a:ext cx="6217920" cy="3017520"/>
          </a:xfrm>
          <a:prstGeom prst="rect">
            <a:avLst/>
          </a:prstGeom>
        </p:spPr>
      </p:pic>
      <p:pic>
        <p:nvPicPr>
          <p:cNvPr id="6" name="Picture 5" descr="fig_respons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4206240"/>
            <a:ext cx="621792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Algorithm Survey: NCC vs MOSSE vs KCF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2880360" cy="668655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79576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Property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143000"/>
            <a:ext cx="2880360" cy="668655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1179576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NCC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143000"/>
            <a:ext cx="2880360" cy="668655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179576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MOSSE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143000"/>
            <a:ext cx="2880360" cy="668655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179576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KCF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11655"/>
            <a:ext cx="2880360" cy="668655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" y="1848231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</a:rPr>
              <a:t>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811655"/>
            <a:ext cx="2880360" cy="668655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5264" y="1848231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Target acquisition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811655"/>
            <a:ext cx="2880360" cy="668655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5624" y="1848231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Fast tracking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811655"/>
            <a:ext cx="2880360" cy="668655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15984" y="1848231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Robust per-frame tracking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80310"/>
            <a:ext cx="2880360" cy="668655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" y="2516886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</a:rPr>
              <a:t>Feature space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480310"/>
            <a:ext cx="2880360" cy="668655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55264" y="2516886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Raw pixels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2480310"/>
            <a:ext cx="2880360" cy="668655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35624" y="2516886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Raw pixels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2480310"/>
            <a:ext cx="2880360" cy="668655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15984" y="2516886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Kernel (linear / RBF)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148965"/>
            <a:ext cx="2880360" cy="668655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" y="3185541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</a:rPr>
              <a:t>Complexity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3148965"/>
            <a:ext cx="2880360" cy="668655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55264" y="3185541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O(MN log MN)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3148965"/>
            <a:ext cx="2880360" cy="668655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3185541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O(N^2 log 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3148965"/>
            <a:ext cx="2880360" cy="668655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15984" y="3185541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O(N^2 log 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817620"/>
            <a:ext cx="2880360" cy="668655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4" y="3854196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</a:rPr>
              <a:t>Robustness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3817620"/>
            <a:ext cx="2880360" cy="668655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55264" y="3854196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3817620"/>
            <a:ext cx="2880360" cy="668655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3854196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Medium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0" y="3817620"/>
            <a:ext cx="2880360" cy="668655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15984" y="3854196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High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486275"/>
            <a:ext cx="2880360" cy="668655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4" y="4522851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</a:rPr>
              <a:t>Update rule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4486275"/>
            <a:ext cx="2880360" cy="668655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55264" y="4522851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None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4486275"/>
            <a:ext cx="2880360" cy="668655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4522851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Online average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4486275"/>
            <a:ext cx="2880360" cy="668655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15984" y="4522851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Learning rate eta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154930"/>
            <a:ext cx="2880360" cy="668655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4904" y="5191506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</a:rPr>
              <a:t>HW cost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5154930"/>
            <a:ext cx="2880360" cy="668655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55264" y="5191506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Medium (1 FFT pair)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80760" y="5154930"/>
            <a:ext cx="2880360" cy="668655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5191506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Low (2 FFT)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1120" y="5154930"/>
            <a:ext cx="2880360" cy="668655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15984" y="5191506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Medium (6 FFT)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5823585"/>
            <a:ext cx="2880360" cy="668655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4904" y="5860161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</a:rPr>
              <a:t>This project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0" y="5823585"/>
            <a:ext cx="2880360" cy="668655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55264" y="5860161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Frame 2 only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80760" y="5823585"/>
            <a:ext cx="2880360" cy="668655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5860161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Algorithm basis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61120" y="5823585"/>
            <a:ext cx="2880360" cy="668655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15984" y="5860161"/>
            <a:ext cx="2788920" cy="61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</a:rPr>
              <a:t>Frames 3+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3291840"/>
            <a:ext cx="7616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KCF Algorithm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KCF Training: Hann Window &amp; Gaussian Label</a:t>
            </a:r>
          </a:p>
        </p:txBody>
      </p:sp>
      <p:pic>
        <p:nvPicPr>
          <p:cNvPr id="4" name="Picture 3" descr="fig_pres_hann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394960" cy="2651760"/>
          </a:xfrm>
          <a:prstGeom prst="rect">
            <a:avLst/>
          </a:prstGeom>
        </p:spPr>
      </p:pic>
      <p:pic>
        <p:nvPicPr>
          <p:cNvPr id="5" name="Picture 4" descr="fig_pres_gaussian_lab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840480"/>
            <a:ext cx="5394960" cy="2788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097280"/>
            <a:ext cx="5943600" cy="914400"/>
          </a:xfrm>
          <a:prstGeom prst="rect">
            <a:avLst/>
          </a:prstGeom>
          <a:solidFill>
            <a:srgbClr val="F2F4F8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143000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3A6B"/>
                </a:solidFill>
              </a:rPr>
              <a:t>alpha = Y  /  ( |X|^2  +  lambda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76272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 i="0">
                <a:solidFill>
                  <a:srgbClr val="1B3A6B"/>
                </a:solidFill>
              </a:rPr>
              <a:t>&gt; </a:t>
            </a:r>
            <a:r>
              <a:rPr sz="1500" b="1" i="0">
                <a:solidFill>
                  <a:srgbClr val="1B3A6B"/>
                </a:solidFill>
              </a:rPr>
              <a:t>1.</a:t>
            </a:r>
            <a:r>
              <a:rPr sz="1500" b="0" i="0">
                <a:solidFill>
                  <a:srgbClr val="1A1A1A"/>
                </a:solidFill>
              </a:rPr>
              <a:t>  Extract 32x32 patch x from Frame 1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1B3A6B"/>
                </a:solidFill>
              </a:rPr>
              <a:t>&gt; </a:t>
            </a:r>
            <a:r>
              <a:rPr sz="1500" b="1" i="0">
                <a:solidFill>
                  <a:srgbClr val="1B3A6B"/>
                </a:solidFill>
              </a:rPr>
              <a:t>2.</a:t>
            </a:r>
            <a:r>
              <a:rPr sz="1500" b="0" i="0">
                <a:solidFill>
                  <a:srgbClr val="1A1A1A"/>
                </a:solidFill>
              </a:rPr>
              <a:t>  Apply Hann window:  x_w = x * w^2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1B3A6B"/>
                </a:solidFill>
              </a:rPr>
              <a:t>&gt; </a:t>
            </a:r>
            <a:r>
              <a:rPr sz="1500" b="1" i="0">
                <a:solidFill>
                  <a:srgbClr val="1B3A6B"/>
                </a:solidFill>
              </a:rPr>
              <a:t>3.</a:t>
            </a:r>
            <a:r>
              <a:rPr sz="1500" b="0" i="0">
                <a:solidFill>
                  <a:srgbClr val="1A1A1A"/>
                </a:solidFill>
              </a:rPr>
              <a:t>  Compute FFT:  X = FFT2(x_w)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1B3A6B"/>
                </a:solidFill>
              </a:rPr>
              <a:t>&gt; </a:t>
            </a:r>
            <a:r>
              <a:rPr sz="1500" b="1" i="0">
                <a:solidFill>
                  <a:srgbClr val="1B3A6B"/>
                </a:solidFill>
              </a:rPr>
              <a:t>4.</a:t>
            </a:r>
            <a:r>
              <a:rPr sz="1500" b="0" i="0">
                <a:solidFill>
                  <a:srgbClr val="1A1A1A"/>
                </a:solidFill>
              </a:rPr>
              <a:t>  Gaussian label:  Y = FFT2(y,  sigma=2.0)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1B3A6B"/>
                </a:solidFill>
              </a:rPr>
              <a:t>&gt; </a:t>
            </a:r>
            <a:r>
              <a:rPr sz="1500" b="1" i="0">
                <a:solidFill>
                  <a:srgbClr val="1B3A6B"/>
                </a:solidFill>
              </a:rPr>
              <a:t>5.</a:t>
            </a:r>
            <a:r>
              <a:rPr sz="1500" b="0" i="0">
                <a:solidFill>
                  <a:srgbClr val="1A1A1A"/>
                </a:solidFill>
              </a:rPr>
              <a:t>  alpha = Y / (|X|^2 + lambda),  lambda=0.01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1B3A6B"/>
                </a:solidFill>
              </a:rPr>
              <a:t>&gt; </a:t>
            </a:r>
            <a:r>
              <a:rPr sz="1500" b="1" i="0">
                <a:solidFill>
                  <a:srgbClr val="1B3A6B"/>
                </a:solidFill>
              </a:rPr>
              <a:t>6.</a:t>
            </a:r>
            <a:r>
              <a:rPr sz="1500" b="0" i="0">
                <a:solidFill>
                  <a:srgbClr val="1A1A1A"/>
                </a:solidFill>
              </a:rPr>
              <a:t>  Store alpha in ROM — computed once offline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KCF Detection: Response Map &amp; Peak Finding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5623560" cy="914400"/>
          </a:xfrm>
          <a:prstGeom prst="rect">
            <a:avLst/>
          </a:prstGeom>
          <a:solidFill>
            <a:srgbClr val="F2F4F8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3A6B"/>
                </a:solidFill>
              </a:rPr>
              <a:t>R  =  IFFT2( conj(X) . Z . alpha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176272"/>
            <a:ext cx="5623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 i="0">
                <a:solidFill>
                  <a:srgbClr val="1B3A6B"/>
                </a:solidFill>
              </a:rPr>
              <a:t>&gt; </a:t>
            </a:r>
            <a:r>
              <a:rPr sz="1500" b="1" i="0">
                <a:solidFill>
                  <a:srgbClr val="1B3A6B"/>
                </a:solidFill>
              </a:rPr>
              <a:t>1.</a:t>
            </a:r>
            <a:r>
              <a:rPr sz="1500" b="0" i="0">
                <a:solidFill>
                  <a:srgbClr val="1A1A1A"/>
                </a:solidFill>
              </a:rPr>
              <a:t>  Extract 32x32 patch z around last known position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1B3A6B"/>
                </a:solidFill>
              </a:rPr>
              <a:t>&gt; </a:t>
            </a:r>
            <a:r>
              <a:rPr sz="1500" b="1" i="0">
                <a:solidFill>
                  <a:srgbClr val="1B3A6B"/>
                </a:solidFill>
              </a:rPr>
              <a:t>2.</a:t>
            </a:r>
            <a:r>
              <a:rPr sz="1500" b="0" i="0">
                <a:solidFill>
                  <a:srgbClr val="1A1A1A"/>
                </a:solidFill>
              </a:rPr>
              <a:t>  Apply Hann window:  z_w = z * w^2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1B3A6B"/>
                </a:solidFill>
              </a:rPr>
              <a:t>&gt; </a:t>
            </a:r>
            <a:r>
              <a:rPr sz="1500" b="1" i="0">
                <a:solidFill>
                  <a:srgbClr val="1B3A6B"/>
                </a:solidFill>
              </a:rPr>
              <a:t>3.</a:t>
            </a:r>
            <a:r>
              <a:rPr sz="1500" b="0" i="0">
                <a:solidFill>
                  <a:srgbClr val="1A1A1A"/>
                </a:solidFill>
              </a:rPr>
              <a:t>  Compute FFT:  Z = FFT2(z_w)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1B3A6B"/>
                </a:solidFill>
              </a:rPr>
              <a:t>&gt; </a:t>
            </a:r>
            <a:r>
              <a:rPr sz="1500" b="1" i="0">
                <a:solidFill>
                  <a:srgbClr val="1B3A6B"/>
                </a:solidFill>
              </a:rPr>
              <a:t>4.</a:t>
            </a:r>
            <a:r>
              <a:rPr sz="1500" b="0" i="0">
                <a:solidFill>
                  <a:srgbClr val="1A1A1A"/>
                </a:solidFill>
              </a:rPr>
              <a:t>  Correlate:  R_hat = conj(X) . Z . alpha  (element-wise)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1B3A6B"/>
                </a:solidFill>
              </a:rPr>
              <a:t>&gt; </a:t>
            </a:r>
            <a:r>
              <a:rPr sz="1500" b="1" i="0">
                <a:solidFill>
                  <a:srgbClr val="1B3A6B"/>
                </a:solidFill>
              </a:rPr>
              <a:t>5.</a:t>
            </a:r>
            <a:r>
              <a:rPr sz="1500" b="0" i="0">
                <a:solidFill>
                  <a:srgbClr val="1A1A1A"/>
                </a:solidFill>
              </a:rPr>
              <a:t>  IFFT via conjugate trick:  R = IFFT2(R_hat)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1B3A6B"/>
                </a:solidFill>
              </a:rPr>
              <a:t>&gt; </a:t>
            </a:r>
            <a:r>
              <a:rPr sz="1500" b="1" i="0">
                <a:solidFill>
                  <a:srgbClr val="1B3A6B"/>
                </a:solidFill>
              </a:rPr>
              <a:t>6.</a:t>
            </a:r>
            <a:r>
              <a:rPr sz="1500" b="0" i="0">
                <a:solidFill>
                  <a:srgbClr val="1A1A1A"/>
                </a:solidFill>
              </a:rPr>
              <a:t>  Peak of R gives displacement (d_row, d_col) -&gt; new target position</a:t>
            </a:r>
          </a:p>
        </p:txBody>
      </p:sp>
      <p:pic>
        <p:nvPicPr>
          <p:cNvPr id="7" name="Picture 6" descr="fig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097280"/>
            <a:ext cx="5852160" cy="2926080"/>
          </a:xfrm>
          <a:prstGeom prst="rect">
            <a:avLst/>
          </a:prstGeom>
        </p:spPr>
      </p:pic>
      <p:pic>
        <p:nvPicPr>
          <p:cNvPr id="8" name="Picture 7" descr="fig_pres_response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114800"/>
            <a:ext cx="585216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3291840"/>
            <a:ext cx="7616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Live Demo: NCC to KCF Tracking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Frame 1 — Target Selection &amp; KCF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0BAD8"/>
                </a:solidFill>
              </a:rPr>
              <a:t>Step 1-2 / 7</a:t>
            </a:r>
          </a:p>
        </p:txBody>
      </p:sp>
      <p:pic>
        <p:nvPicPr>
          <p:cNvPr id="5" name="Picture 4" descr="demo_s1_se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5897880" cy="5349240"/>
          </a:xfrm>
          <a:prstGeom prst="rect">
            <a:avLst/>
          </a:prstGeom>
        </p:spPr>
      </p:pic>
      <p:pic>
        <p:nvPicPr>
          <p:cNvPr id="6" name="Picture 5" descr="demo_s2_tra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669280" cy="5349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8600" y="6492240"/>
            <a:ext cx="11704320" cy="237744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0138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User clicks to select a 32x32 target patch  -&gt;  KCF filter alpha computed offline and stored in ROM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Frame 2 — NCC Full-Image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0BAD8"/>
                </a:solidFill>
              </a:rPr>
              <a:t>Step 4 / 7</a:t>
            </a:r>
          </a:p>
        </p:txBody>
      </p:sp>
      <p:pic>
        <p:nvPicPr>
          <p:cNvPr id="5" name="Picture 4" descr="demo_s3_n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11704320" cy="5074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8600" y="6263640"/>
            <a:ext cx="11704320" cy="384048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2910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</a:rPr>
              <a:t>NCC score = 1.000  |  Target found at (146, 853)  |  NCC used ONCE for initial acquisition — too slow for every frame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NCC -&gt; KCF Handoff &amp; Frame 3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0BAD8"/>
                </a:solidFill>
              </a:rPr>
              <a:t>Steps 5-6 / 7</a:t>
            </a:r>
          </a:p>
        </p:txBody>
      </p:sp>
      <p:pic>
        <p:nvPicPr>
          <p:cNvPr id="5" name="Picture 4" descr="demo_s4_hand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11704320" cy="2331720"/>
          </a:xfrm>
          <a:prstGeom prst="rect">
            <a:avLst/>
          </a:prstGeom>
        </p:spPr>
      </p:pic>
      <p:pic>
        <p:nvPicPr>
          <p:cNvPr id="6" name="Picture 5" descr="demo_s5_k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547872"/>
            <a:ext cx="11704320" cy="30906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0BAD8"/>
                </a:solidFill>
              </a:rPr>
              <a:t>Response maps + hardware simulation</a:t>
            </a:r>
          </a:p>
        </p:txBody>
      </p:sp>
      <p:pic>
        <p:nvPicPr>
          <p:cNvPr id="5" name="Picture 4" descr="demo_s6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7178040" cy="5349240"/>
          </a:xfrm>
          <a:prstGeom prst="rect">
            <a:avLst/>
          </a:prstGeom>
        </p:spPr>
      </p:pic>
      <p:pic>
        <p:nvPicPr>
          <p:cNvPr id="6" name="Picture 5" descr="wave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097280"/>
            <a:ext cx="4343400" cy="2514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89520" y="3749039"/>
            <a:ext cx="4343400" cy="2651760"/>
          </a:xfrm>
          <a:prstGeom prst="rect">
            <a:avLst/>
          </a:prstGeom>
          <a:solidFill>
            <a:srgbClr val="F2F4F8"/>
          </a:solidFill>
          <a:ln w="1524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9248" y="382219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Hardware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4187952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</a:rPr>
              <a:t>v  done pulse confirmed in Vivado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</a:rPr>
              <a:t>v  ~19,300 cycles = 193 us @ 100 MHz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</a:rPr>
              <a:t>v  peak_row / peak_col match Python ref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</a:rPr>
              <a:t>v  Hardware-software agreement verified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3291840"/>
            <a:ext cx="7616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RTL Hardware &amp;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RTL Pipeline &amp; Processor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9728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7-Stage Detection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36192"/>
            <a:ext cx="1859280" cy="600891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9320" y="1536192"/>
            <a:ext cx="1859280" cy="600891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72768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Cycles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38600" y="1536192"/>
            <a:ext cx="1859280" cy="600891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84320" y="1572768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37083"/>
            <a:ext cx="1859280" cy="600891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" y="2173659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</a:rPr>
              <a:t>S_HANN_WIN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9320" y="2137083"/>
            <a:ext cx="1859280" cy="600891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34184" y="2173659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1,024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38600" y="2137083"/>
            <a:ext cx="1859280" cy="600891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3464" y="2173659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Hann window multiply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737974"/>
            <a:ext cx="1859280" cy="600891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2774550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</a:rPr>
              <a:t>S_FFT_RUN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9320" y="2737974"/>
            <a:ext cx="1859280" cy="600891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34184" y="2774550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~5,600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38600" y="2737974"/>
            <a:ext cx="1859280" cy="600891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93464" y="2774550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2D-FFT (32 row + 32 col)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338866"/>
            <a:ext cx="1859280" cy="600891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" y="3375442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</a:rPr>
              <a:t>S_ELEM_MUL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79320" y="3338866"/>
            <a:ext cx="1859280" cy="600891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34184" y="3375442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1,024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38600" y="3338866"/>
            <a:ext cx="1859280" cy="600891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3464" y="3375442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conj(X).Z.alpha element-wise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39757"/>
            <a:ext cx="1859280" cy="600891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976333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</a:rPr>
              <a:t>S_IFFT_RUN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79320" y="3939757"/>
            <a:ext cx="1859280" cy="600891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34184" y="3976333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~5,600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38600" y="3939757"/>
            <a:ext cx="1859280" cy="600891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93464" y="3976333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2D-IFFT (conjugate trick)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540649"/>
            <a:ext cx="1859280" cy="600891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" y="4577225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</a:rPr>
              <a:t>S_PEAK_RUN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79320" y="4540649"/>
            <a:ext cx="1859280" cy="600891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34184" y="4577225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1,024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38600" y="4540649"/>
            <a:ext cx="1859280" cy="600891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93464" y="4577225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Scan for response peak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141540"/>
            <a:ext cx="1859280" cy="600891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" y="5178116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</a:rPr>
              <a:t>TOTAL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79320" y="5141540"/>
            <a:ext cx="1859280" cy="600891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34184" y="5178116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~19,300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38600" y="5141540"/>
            <a:ext cx="1859280" cy="600891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93464" y="5178116"/>
            <a:ext cx="1767840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~193 us @ 100 MHz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109728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AXI Interface — Processor Integration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1536192"/>
            <a:ext cx="1889760" cy="441524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1572768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Offset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61960" y="1536192"/>
            <a:ext cx="1889760" cy="441524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07680" y="1572768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Register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51720" y="1536192"/>
            <a:ext cx="1889760" cy="441524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97440" y="1572768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Access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1977716"/>
            <a:ext cx="1889760" cy="441524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27064" y="2014292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</a:rPr>
              <a:t>0x00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61960" y="1977716"/>
            <a:ext cx="1889760" cy="441524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16824" y="2014292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CTRL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951720" y="1977716"/>
            <a:ext cx="1889760" cy="441524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06584" y="2014292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W — trigger start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2419241"/>
            <a:ext cx="1889760" cy="4415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27064" y="2455817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</a:rPr>
              <a:t>0x04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61960" y="2419241"/>
            <a:ext cx="1889760" cy="4415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16824" y="2455817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THRESHOLD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51720" y="2419241"/>
            <a:ext cx="1889760" cy="4415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06584" y="2455817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R/W — confidence level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72200" y="2860765"/>
            <a:ext cx="1889760" cy="441524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27064" y="2897341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</a:rPr>
              <a:t>0x08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61960" y="2860765"/>
            <a:ext cx="1889760" cy="441524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16824" y="2897341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PEAK_ROW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951720" y="2860765"/>
            <a:ext cx="1889760" cy="441524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06584" y="2897341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R — row index (0-31)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72200" y="3302290"/>
            <a:ext cx="1889760" cy="4415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27064" y="3338866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</a:rPr>
              <a:t>0x0C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61960" y="3302290"/>
            <a:ext cx="1889760" cy="4415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16824" y="3338866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PEAK_COL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51720" y="3302290"/>
            <a:ext cx="1889760" cy="4415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06584" y="3338866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R — col index (0-31)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3743814"/>
            <a:ext cx="1889760" cy="441524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27064" y="3780390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</a:rPr>
              <a:t>0x10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61960" y="3743814"/>
            <a:ext cx="1889760" cy="441524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116824" y="3780390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PEAK_VAL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51720" y="3743814"/>
            <a:ext cx="1889760" cy="441524"/>
          </a:xfrm>
          <a:prstGeom prst="rect">
            <a:avLst/>
          </a:prstGeom>
          <a:solidFill>
            <a:srgbClr val="F2F4F8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006584" y="3780390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R — response magnitude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72200" y="4185339"/>
            <a:ext cx="1889760" cy="4415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27064" y="4221915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</a:rPr>
              <a:t>0x14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61960" y="4185339"/>
            <a:ext cx="1889760" cy="4415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16824" y="4221915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TARGET_FOUND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51720" y="4185339"/>
            <a:ext cx="1889760" cy="4415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006584" y="4221915"/>
            <a:ext cx="1798320" cy="3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R — valid detection bit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72200" y="4709160"/>
            <a:ext cx="5669280" cy="1024128"/>
          </a:xfrm>
          <a:prstGeom prst="rect">
            <a:avLst/>
          </a:prstGeom>
          <a:solidFill>
            <a:srgbClr val="F2F4F8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81928" y="4754880"/>
            <a:ext cx="54498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AXI4-Stream: 1024 x 16-bit pixel stream  (tready / tvalid / tlast)
AXI4-Lite: control + result registers
Integration with processor via AXI interconnect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Future Work &amp;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972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</a:rPr>
              <a:t>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27632"/>
            <a:ext cx="5532120" cy="804672"/>
          </a:xfrm>
          <a:prstGeom prst="rect">
            <a:avLst/>
          </a:prstGeom>
          <a:solidFill>
            <a:srgbClr val="F2F4F8"/>
          </a:solidFill>
          <a:ln w="889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&gt;  FPGA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Artix-7 LUT/FF/BRAM utilisation + timing closure at 100 MHz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542032"/>
            <a:ext cx="5532120" cy="804672"/>
          </a:xfrm>
          <a:prstGeom prst="rect">
            <a:avLst/>
          </a:prstGeom>
          <a:solidFill>
            <a:srgbClr val="F2F4F8"/>
          </a:solidFill>
          <a:ln w="889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7860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&gt;  64x64 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6-stage FFT for higher accuracy on larger targets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456432"/>
            <a:ext cx="5532120" cy="804672"/>
          </a:xfrm>
          <a:prstGeom prst="rect">
            <a:avLst/>
          </a:prstGeom>
          <a:solidFill>
            <a:srgbClr val="F2F4F8"/>
          </a:solidFill>
          <a:ln w="889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9300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&gt;  Gaussian Kernel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Hardware exponential LUT for RBF kernel — improves robustness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70832"/>
            <a:ext cx="5532120" cy="804672"/>
          </a:xfrm>
          <a:prstGeom prst="rect">
            <a:avLst/>
          </a:prstGeom>
          <a:solidFill>
            <a:srgbClr val="F2F4F8"/>
          </a:solidFill>
          <a:ln w="889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40740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&gt;  Online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Adaptive filter: alpha_new = (1-eta)*alpha_old + eta*alpha_frame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285232"/>
            <a:ext cx="5532120" cy="804672"/>
          </a:xfrm>
          <a:prstGeom prst="rect">
            <a:avLst/>
          </a:prstGeom>
          <a:solidFill>
            <a:srgbClr val="F2F4F8"/>
          </a:solidFill>
          <a:ln w="889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32180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&gt;  Camera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MIPI CSI-2 / OV7670 input + HDMI output on Nexys A7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097280"/>
            <a:ext cx="5742432" cy="47548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1920240"/>
            <a:ext cx="5559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2816352"/>
            <a:ext cx="5559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0BAD8"/>
                </a:solidFill>
              </a:rPr>
              <a:t>Questions?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3502152"/>
            <a:ext cx="466344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3611880"/>
            <a:ext cx="5559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Akhil Sriram  |  2210110134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3977639"/>
            <a:ext cx="5559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AD8"/>
                </a:solidFill>
              </a:rPr>
              <a:t>Dr. Venkatnarayan Hariharan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4325112"/>
            <a:ext cx="5559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090B0"/>
                </a:solidFill>
              </a:rPr>
              <a:t>Shiv Nadar Institution of Eminence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