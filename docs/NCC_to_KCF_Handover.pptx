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9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NCC  →  KCF  Handover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760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ED2F0"/>
                </a:solidFill>
              </a:rPr>
              <a:t>Initial acquisition via NCC; real-time tracking via KCF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0" y="137160"/>
            <a:ext cx="2194560" cy="594360"/>
          </a:xfrm>
          <a:prstGeom prst="rect">
            <a:avLst/>
          </a:prstGeom>
          <a:solidFill>
            <a:srgbClr val="285096"/>
          </a:solidFill>
          <a:ln w="12700">
            <a:solidFill>
              <a:srgbClr val="6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02368" y="1554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ED2F0"/>
                </a:solidFill>
              </a:rPr>
              <a:t>KCF Visual Tracker
RTL IP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12618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C50"/>
                </a:solidFill>
              </a:rPr>
              <a:t>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" y="2212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C50"/>
                </a:solidFill>
              </a:rPr>
              <a:t>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4370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C50"/>
                </a:solidFill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5276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C50"/>
                </a:solidFill>
              </a:rPr>
              <a:t>METRIC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" y="1024128"/>
            <a:ext cx="11887200" cy="0"/>
          </a:xfrm>
          <a:prstGeom prst="line">
            <a:avLst/>
          </a:prstGeom>
          <a:ln w="12700">
            <a:solidFill>
              <a:srgbClr val="3C5A8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43000" y="1170432"/>
            <a:ext cx="2926080" cy="749808"/>
          </a:xfrm>
          <a:prstGeom prst="rect">
            <a:avLst/>
          </a:prstGeom>
          <a:solidFill>
            <a:srgbClr val="1E5AA0"/>
          </a:solidFill>
          <a:ln w="15240"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1188720"/>
            <a:ext cx="2816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Frame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153619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D2F0"/>
                </a:solidFill>
              </a:rPr>
              <a:t>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170432"/>
            <a:ext cx="2926080" cy="749808"/>
          </a:xfrm>
          <a:prstGeom prst="rect">
            <a:avLst/>
          </a:prstGeom>
          <a:solidFill>
            <a:srgbClr val="1E5AA0"/>
          </a:solidFill>
          <a:ln w="15240"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1188720"/>
            <a:ext cx="2816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Frame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153619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D2F0"/>
                </a:solidFill>
              </a:rPr>
              <a:t>Acquisition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170432"/>
            <a:ext cx="2926080" cy="749808"/>
          </a:xfrm>
          <a:prstGeom prst="rect">
            <a:avLst/>
          </a:prstGeom>
          <a:solidFill>
            <a:srgbClr val="148250"/>
          </a:solidFill>
          <a:ln w="15240"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74152" y="1188720"/>
            <a:ext cx="2816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Frame 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1536192"/>
            <a:ext cx="2816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ED2F0"/>
                </a:solidFill>
              </a:rPr>
              <a:t>Tracking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1545336"/>
            <a:ext cx="502920" cy="0"/>
          </a:xfrm>
          <a:prstGeom prst="line">
            <a:avLst/>
          </a:prstGeom>
          <a:ln w="25400">
            <a:solidFill>
              <a:srgbClr val="C8C8C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8079" y="1545336"/>
            <a:ext cx="502921" cy="0"/>
          </a:xfrm>
          <a:prstGeom prst="line">
            <a:avLst/>
          </a:prstGeom>
          <a:ln w="25400">
            <a:solidFill>
              <a:srgbClr val="C8C8C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43000" y="2121408"/>
            <a:ext cx="2926080" cy="1261872"/>
          </a:xfrm>
          <a:prstGeom prst="rect">
            <a:avLst/>
          </a:prstGeom>
          <a:solidFill>
            <a:srgbClr val="462878"/>
          </a:solidFill>
          <a:ln w="19050">
            <a:solidFill>
              <a:srgbClr val="B4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16152" y="2139696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KCF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505456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ED2F0"/>
                </a:solidFill>
              </a:rPr>
              <a:t>• Hann window the patch
• 2D-FFT  →  compute α̂
• Store α̂ into on-chip ROM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121408"/>
            <a:ext cx="2926080" cy="1261872"/>
          </a:xfrm>
          <a:prstGeom prst="rect">
            <a:avLst/>
          </a:prstGeom>
          <a:solidFill>
            <a:srgbClr val="1E5AA0"/>
          </a:solidFill>
          <a:ln w="19050">
            <a:solidFill>
              <a:srgbClr val="82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45152" y="2139696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NCC ACQUISITION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505456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ED2F0"/>
                </a:solidFill>
              </a:rPr>
              <a:t>• Cross-correlate template
• Normalise scores → map
• Peak  →  initial (r, 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2121408"/>
            <a:ext cx="2926080" cy="1261872"/>
          </a:xfrm>
          <a:prstGeom prst="rect">
            <a:avLst/>
          </a:prstGeom>
          <a:solidFill>
            <a:srgbClr val="148250"/>
          </a:solidFill>
          <a:ln w="19050">
            <a:solidFill>
              <a:srgbClr val="64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74152" y="2139696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KCF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505456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ED2F0"/>
                </a:solidFill>
              </a:rPr>
              <a:t>• Hann window the patch
• FFT  →  R̂ = X̂·Ẑ·α̂
• IFFT  →  argmax (Δr, Δc)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69080" y="2752344"/>
            <a:ext cx="502920" cy="0"/>
          </a:xfrm>
          <a:prstGeom prst="line">
            <a:avLst/>
          </a:prstGeom>
          <a:ln w="31750">
            <a:solidFill>
              <a:srgbClr val="C8C8C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98079" y="2752344"/>
            <a:ext cx="502921" cy="0"/>
          </a:xfrm>
          <a:prstGeom prst="line">
            <a:avLst/>
          </a:prstGeom>
          <a:ln w="31750">
            <a:solidFill>
              <a:srgbClr val="C8C8C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06040" y="2121408"/>
            <a:ext cx="6858000" cy="0"/>
          </a:xfrm>
          <a:prstGeom prst="line">
            <a:avLst/>
          </a:prstGeom>
          <a:ln w="19050">
            <a:solidFill>
              <a:srgbClr val="FFDC50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951072" y="1900253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FFDC50"/>
                </a:solidFill>
              </a:rPr>
              <a:t>α̂ coefficients passed to KCF detector (ROM load)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4279392"/>
            <a:ext cx="2926080" cy="749808"/>
          </a:xfrm>
          <a:prstGeom prst="rect">
            <a:avLst/>
          </a:prstGeom>
          <a:solidFill>
            <a:srgbClr val="46287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297680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Filter  α̂
(preloaded in ROM)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4279392"/>
            <a:ext cx="2926080" cy="749808"/>
          </a:xfrm>
          <a:prstGeom prst="rect">
            <a:avLst/>
          </a:prstGeom>
          <a:solidFill>
            <a:srgbClr val="1E5AA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63440" y="4297680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Initial target position
(row, col)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4279392"/>
            <a:ext cx="2926080" cy="749808"/>
          </a:xfrm>
          <a:prstGeom prst="rect">
            <a:avLst/>
          </a:prstGeom>
          <a:solidFill>
            <a:srgbClr val="14825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92440" y="4297680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Refined displacement
(Δrow, Δcol)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606040" y="3383280"/>
            <a:ext cx="0" cy="896112"/>
          </a:xfrm>
          <a:prstGeom prst="line">
            <a:avLst/>
          </a:prstGeom>
          <a:ln w="22860">
            <a:solidFill>
              <a:srgbClr val="C8C8C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35040" y="3383280"/>
            <a:ext cx="0" cy="896112"/>
          </a:xfrm>
          <a:prstGeom prst="line">
            <a:avLst/>
          </a:prstGeom>
          <a:ln w="22860">
            <a:solidFill>
              <a:srgbClr val="C8C8C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464040" y="3383280"/>
            <a:ext cx="0" cy="896112"/>
          </a:xfrm>
          <a:prstGeom prst="line">
            <a:avLst/>
          </a:prstGeom>
          <a:ln w="22860">
            <a:solidFill>
              <a:srgbClr val="C8C8C8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143000" y="5138928"/>
            <a:ext cx="2926080" cy="749808"/>
          </a:xfrm>
          <a:prstGeom prst="rect">
            <a:avLst/>
          </a:prstGeom>
          <a:solidFill>
            <a:srgbClr val="282850"/>
          </a:solidFill>
          <a:ln w="12700">
            <a:solidFill>
              <a:srgbClr val="7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34440" y="5157216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ED2F0"/>
                </a:solidFill>
              </a:rPr>
              <a:t>Used: once
Complexity: O(N² log 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5138928"/>
            <a:ext cx="2926080" cy="749808"/>
          </a:xfrm>
          <a:prstGeom prst="rect">
            <a:avLst/>
          </a:prstGeom>
          <a:solidFill>
            <a:srgbClr val="461919"/>
          </a:solidFill>
          <a:ln w="19050">
            <a:solidFill>
              <a:srgbClr val="DC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63440" y="5157216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B4A0"/>
                </a:solidFill>
              </a:rPr>
              <a:t>Used: Frame 2 only
⚠  Slower — O(MN log MN)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01000" y="5138928"/>
            <a:ext cx="2926080" cy="749808"/>
          </a:xfrm>
          <a:prstGeom prst="rect">
            <a:avLst/>
          </a:prstGeom>
          <a:solidFill>
            <a:srgbClr val="123C1E"/>
          </a:solidFill>
          <a:ln w="19050">
            <a:solidFill>
              <a:srgbClr val="50D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2440" y="5157216"/>
            <a:ext cx="27797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FFBE"/>
                </a:solidFill>
              </a:rPr>
              <a:t>Used: every frame
✓  Fast — ≈193 µs @ 100 MHz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" y="6007608"/>
            <a:ext cx="10149840" cy="713232"/>
          </a:xfrm>
          <a:prstGeom prst="rect">
            <a:avLst/>
          </a:prstGeom>
          <a:solidFill>
            <a:srgbClr val="191937"/>
          </a:solidFill>
          <a:ln w="12700">
            <a:solidFill>
              <a:srgbClr val="5A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8992" y="6025896"/>
            <a:ext cx="10058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ED2F0"/>
                </a:solidFill>
              </a:rPr>
              <a:t>Trade-off:  NCC provides a highly accurate, illumination-robust initial position but is expensive per frame.  KCF runs in O(N²log N) — an order of magnitude faster — but requires NCC seeding.  Once seeded, KCF tracks in real-time every frame.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234</Words>
  <Application>Microsoft Macintosh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 Sriram</cp:lastModifiedBy>
  <cp:revision>2</cp:revision>
  <dcterms:created xsi:type="dcterms:W3CDTF">2013-01-27T09:14:16Z</dcterms:created>
  <dcterms:modified xsi:type="dcterms:W3CDTF">2026-06-26T10:12:17Z</dcterms:modified>
  <cp:category/>
</cp:coreProperties>
</file>