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AA"/>
                </a:solidFill>
              </a:defRPr>
            </a:pPr>
            <a:r>
              <a:t>RTL Design of a KCF Visual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ECE499 Major Project — Mid-Semester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Akhil Sriram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BB"/>
                </a:solidFill>
              </a:defRPr>
            </a:pPr>
            <a:r>
              <a:t>Supervisor: Dr. Venkatnarayan Hariharan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</a:defRPr>
            </a:pPr>
            <a:r>
              <a:t>Department of Electrical Engineering, Shiv Nadar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AA"/>
                </a:solidFill>
              </a:defRPr>
            </a:pPr>
            <a:r>
              <a:t>Spring 2026</a:t>
            </a:r>
          </a:p>
        </p:txBody>
      </p:sp>
      <p:pic>
        <p:nvPicPr>
          <p:cNvPr id="8" name="Picture 7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5303520"/>
            <a:ext cx="1828800" cy="3517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The Visual Tracking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515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Given: Frame 1 + bounding box around target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Goal: Find the same target in Frame 2, 3, 4, ...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Naive approach: Slide template across entire search area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 Complexity: O(N^4) — far too slow for real-time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Key insight: Use the FFT to test ALL shifts at once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 Frequency-domain correlation: O(N^2 log N)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 Enables real-time tracking at 100+ FPS</a:t>
            </a:r>
          </a:p>
        </p:txBody>
      </p:sp>
      <p:pic>
        <p:nvPicPr>
          <p:cNvPr id="5" name="Picture 4" descr="graphic for expl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20462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MOSSE: Minimum Output Sum of Squared Error</a:t>
            </a:r>
          </a:p>
        </p:txBody>
      </p:sp>
      <p:pic>
        <p:nvPicPr>
          <p:cNvPr id="3" name="Picture 2" descr="eq_mosse_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97280"/>
            <a:ext cx="7315200" cy="14593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Learn filter H* in the frequency domain from training frames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Detection: G = H* (element-wise) F — single FFT + multiply + IFFT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Achieves 600+ FPS on a single CPU core (Bolme et al., CVPR 2010)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Limitation: Operates on raw pixel intensities only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Cannot handle non-linear appearance changes (rotation, lighting)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Only captures linear correlations — low robustness to clutter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KCF: Kernelized Correlation Filter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515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Extends MOSSE with the kernel trick (Henriques et al., 2015)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Maps patches into higher-dimensional feature space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Key insight: Kernel correlations of circulant data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 are still diagonalised by the DFT!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Linear kernel: equivalent to MOSSE, better regularised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Gaussian kernel: captures non-linear relationships,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 significantly improves robustness to appearance changes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Same O(N^2 log N) complexity as MOSSE</a:t>
            </a:r>
          </a:p>
        </p:txBody>
      </p:sp>
      <p:pic>
        <p:nvPicPr>
          <p:cNvPr id="5" name="Picture 4" descr="K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25530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MOSSE vs KCF: Why KCF Wins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A1A2E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A1A2E"/>
                          </a:solidFill>
                        </a:defRPr>
                      </a:pPr>
                      <a:r>
                        <a:t>MOSSE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A1A2E"/>
                          </a:solidFill>
                        </a:defRPr>
                      </a:pPr>
                      <a:r>
                        <a:t>KCF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Feature space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Raw pixels (linear)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Kernel-mapped (non-linear)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Core operation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H* . F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alpha . k^xz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Computational backbone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FFT / IFFT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FFT / IFFT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Training complexity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O(N^2 log N)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O(N^2 log N)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Robustness to clutter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Non-linear appearance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Yes (Gaussian kernel)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OTB-2013 precision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66.9%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73.2%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Hardware cost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Low (linear) / Moderate (Gaussian)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Circulant Matrices and the DFT</a:t>
            </a:r>
          </a:p>
        </p:txBody>
      </p:sp>
      <p:pic>
        <p:nvPicPr>
          <p:cNvPr id="3" name="Picture 2" descr="eq_circul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97280"/>
            <a:ext cx="7315200" cy="14593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All cyclic shifts of a patch x form a circulant matrix C(x)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Circulant matrices are diagonalised by the DFT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Operations on ALL shifts become element-wise in frequency domain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This is why KCF can test every possible displacement in one pass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Complexity drops from O(N^4) spatial to O(N^2 log N) frequency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Training: Learning the Filter</a:t>
            </a:r>
          </a:p>
        </p:txBody>
      </p:sp>
      <p:pic>
        <p:nvPicPr>
          <p:cNvPr id="3" name="Picture 2" descr="eq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97280"/>
            <a:ext cx="7315200" cy="14593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Given target patch x and desired Gaussian response y (sigma=2.0)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Linear kernel: K_hat = |X_hat|^2  (power spectrum)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Ridge regression in frequency domain gives alpha_hat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Lambda = 0.01 prevents division by zero, improves stability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Training is done OFFLINE in Python for this MVP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Detection: Locating the Target</a:t>
            </a:r>
          </a:p>
        </p:txBody>
      </p:sp>
      <p:pic>
        <p:nvPicPr>
          <p:cNvPr id="3" name="Picture 2" descr="eq_det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97280"/>
            <a:ext cx="7315200" cy="14593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Given new search patch z from the next frame: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1. Apply Hann window to z, compute FFT(z)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2. Element-wise multiply: conj(X) * Z_hat * alpha_hat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3. Inverse FFT gives the response map (32x32 real values)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4. Peak of response = displacement of target between frames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Entire detection: one FFT + one multiply + one IFFT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Combined Filter for Hardware</a:t>
            </a:r>
          </a:p>
        </p:txBody>
      </p:sp>
      <p:pic>
        <p:nvPicPr>
          <p:cNvPr id="3" name="Picture 2" descr="eq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97280"/>
            <a:ext cx="7315200" cy="14593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Hardware multiplier computes: a * conj(b)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Store f_stored = conj(alpha) * X  in a single ROM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At detection: Z_hat * conj(f_stored) = conj(X) * Z * alpha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This IS the correct KCF detection equation!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Advantage: One ROM instead of two, no Verilog changes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DFT Displacement Convention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515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Response map uses circular (DFT) indexing: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 Index 0, 1, 2, ...  = positive displacement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 Index 31, 30, 29, ... = negative displacement (-1, -2, -3, ...)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Unwrapping rule (N=32):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 If peak &lt; 16:  displacement = +peak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 If peak &gt;= 16: displacement = peak - 32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Example: peak at (29, 30)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 29 - 32 = -3 rows,  30 - 32 = -2 cols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 Target moved 3 pixels up, 2 pixels left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4AA"/>
                </a:solidFill>
              </a:defRPr>
            </a:pPr>
            <a:r>
              <a:t>The Hann Window: Preventing Spectral Leakage</a:t>
            </a:r>
          </a:p>
        </p:txBody>
      </p:sp>
      <p:pic>
        <p:nvPicPr>
          <p:cNvPr id="3" name="Picture 2" descr="fig_pres_hann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515600" cy="96453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</a:defRPr>
            </a:pPr>
            <a:r>
              <a:t>The Hann window smoothly tapers patch edges to zero, preventing sharp boundary artifacts in the FFT.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Hardware 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515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7-stage Finite State Machine in kcf_detect_top.sv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Input: 32x32 patch (1024 pixels, Q8.8 fixed-point)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Output: (peak_row, peak_col) = target displacement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Total latency: ~19,300 clock cycles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At 100 MHz: ~193 microseconds per detection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Throughput: ~5,200 detections/second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All arithmetic in Q8.8 (16-bit signed, 8 fractional bits)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Pipeline Stages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515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1. S_HANN_WIN    (1024 cyc)  — Apply 2D Hann window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2. S_FFT_LOAD    (1024 cyc)  — Load windowed patch into FFT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3. S_FFT_RUN     (~5400 cyc) — 2D FFT (32 rows + 32 cols)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4. S_ELEM_MUL    (1024 cyc)  — Conjugate multiply with filter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5. S_IFFT_LOAD   (1024 cyc)  — Load product into IFFT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6. S_IFFT_RUN    (~6400 cyc) — 2D IFFT (conjugate trick)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7. S_PEAK_RUN    (1026 cyc)  — Scan response, find maximum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Pipeline is fully sequential — one stage at a time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Each 1D FFT: 5 butterfly stages x 16 operations = 80 ops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Q8.8 Fixed-Point Representation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515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16-bit signed: 1 sign + 7 integer + 8 fractional bits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Range: -128.000 to +127.996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Resolution: 1/256 = 0.00390625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THE PROBLEM: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2D FFT scales by 1/N per pass = 1/N^2 = 1/1024 total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Response values fall below smallest Q8.8 value!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Everything rounds to zero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This required a careful scaling solution...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The Scaling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515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Asymmetric FFT Scaling: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Forward FFT: scale row pass (1/N), skip column pass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IFFT: full scaling on both passes for correct normalisation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Net forward attenuation: 1/N (not 1/N^2)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Adaptive Pre-Scaling: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Multiply filter coefficients by K (largest power of 2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such that max|filter * K| &lt; 120)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Synthetic data: K=64, Real image: K=2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Final output = (K/N) x true_response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Comfortably within Q8.8 dynamic range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Key RTL Building Blocks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515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Butterfly Unit (butterfly.sv):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out_a = a + W*b,  out_b = a - W*b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Single-cycle combinational, with scaled variant (&gt;&gt;1)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Twiddle ROM (twiddle_rom_32.sv):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16 complex values, symmetry: W^(k+N/2) = -W^k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1D FFT (fft1d_32.sv): Radix-2 DIT, iterative single-butterfly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2D FFT (fft2d_32.sv): Row-column decomposition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2D IFFT (ifft2d_32.sv): Conjugate trick reuses FFT hardware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IFFT(X) = conj(FFT(conj(X))) / N^2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Peak Finder (peak_finder.sv): Sequential max scan, 1026 cycles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4AA"/>
                </a:solidFill>
              </a:defRPr>
            </a:pPr>
            <a:r>
              <a:t>Real Image: Target Selection</a:t>
            </a:r>
          </a:p>
        </p:txBody>
      </p:sp>
      <p:pic>
        <p:nvPicPr>
          <p:cNvPr id="3" name="Picture 2" descr="fig_pres_frame1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515600" cy="64928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</a:defRPr>
            </a:pPr>
            <a:r>
              <a:t>Test image: soccer ball on pavement (284x533). Target: textured ground at (240, 300).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4AA"/>
                </a:solidFill>
              </a:defRPr>
            </a:pPr>
            <a:r>
              <a:t>Simulated Frame-to-Frame Motion</a:t>
            </a:r>
          </a:p>
        </p:txBody>
      </p:sp>
      <p:pic>
        <p:nvPicPr>
          <p:cNvPr id="3" name="Picture 2" descr="fig_pres_patc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515600" cy="36891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</a:defRPr>
            </a:pPr>
            <a:r>
              <a:t>Search patch cropped 3 rows down, 2 cols right. Difference map highlights shifted content at edges.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4AA"/>
                </a:solidFill>
              </a:defRPr>
            </a:pPr>
            <a:r>
              <a:t>Detection Result on Real Image</a:t>
            </a:r>
          </a:p>
        </p:txBody>
      </p:sp>
      <p:pic>
        <p:nvPicPr>
          <p:cNvPr id="3" name="Picture 2" descr="fig_pres_detectio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515600" cy="6111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</a:defRPr>
            </a:pPr>
            <a:r>
              <a:t>KCF correctly detects displacement (-3, -2) — matching the simulated 3-pixel shift.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4AA"/>
                </a:solidFill>
              </a:defRPr>
            </a:pPr>
            <a:r>
              <a:t>Response Map: Algorithm Confidence</a:t>
            </a:r>
          </a:p>
        </p:txBody>
      </p:sp>
      <p:pic>
        <p:nvPicPr>
          <p:cNvPr id="3" name="Picture 2" descr="fig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486400" cy="4709504"/>
          </a:xfrm>
          <a:prstGeom prst="rect">
            <a:avLst/>
          </a:prstGeom>
        </p:spPr>
      </p:pic>
      <p:pic>
        <p:nvPicPr>
          <p:cNvPr id="4" name="Picture 3" descr="fig_pres_response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486400" cy="5542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126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2D heatmap (centred with fftshift)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126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3D surface — sharp peak at (-3, -2)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4AA"/>
                </a:solidFill>
              </a:defRPr>
            </a:pPr>
            <a:r>
              <a:t>KCF Detection Pipeline: Input to Output</a:t>
            </a:r>
          </a:p>
        </p:txBody>
      </p:sp>
      <p:pic>
        <p:nvPicPr>
          <p:cNvPr id="3" name="Picture 2" descr="fig_pipeline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515600" cy="102728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</a:defRPr>
            </a:pPr>
            <a:r>
              <a:t>(a) Target patch  (b) Hann-windowed  (c) Search patch  (d) Response map with detected displacement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4AA"/>
                </a:solidFill>
              </a:defRPr>
            </a:pPr>
            <a:r>
              <a:t>Hardware-Software Agreement</a:t>
            </a:r>
          </a:p>
        </p:txBody>
      </p:sp>
      <p:pic>
        <p:nvPicPr>
          <p:cNvPr id="3" name="Picture 2" descr="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486400" cy="3777436"/>
          </a:xfrm>
          <a:prstGeom prst="rect">
            <a:avLst/>
          </a:prstGeom>
        </p:spPr>
      </p:pic>
      <p:pic>
        <p:nvPicPr>
          <p:cNvPr id="4" name="Picture 3" descr="zoomed 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486400" cy="28815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126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Python golden reference: peak (29, 30) = displacement (-3, 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126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Vivado waveform: done pulse at ~193 us, matching peak coordinates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Real Tracking System vs Our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4444"/>
                </a:solidFill>
              </a:defRPr>
            </a:pPr>
            <a:r>
              <a:t>Real Tracking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Continuous video stream (30+ FPS)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Model updates every frame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Larger patches (64x64 or 128x128)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Gaussian kernel for robustness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AXI bus for pixel streaming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Handles occlusion, scale changes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Real-time closed-loop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66"/>
                </a:solidFill>
              </a:defRPr>
            </a:pPr>
            <a:r>
              <a:t>Our Mid-Semester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Single image, simulated motion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Frozen offline-trained filter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32x32 patches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Linear kernel (simpler hardware)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Direct write port (no AXI)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Detection phase only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~193 us per detection at 100 MHz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188720"/>
            <a:ext cx="25400" cy="4572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What We Achieved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515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Complete 7-stage KCF detection pipeline in synthesisable SystemVerilog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Custom 2D FFT/IFFT using iterative single-butterfly architecture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Q8.8 fixed-point with asymmetric scaling — solved precision challenge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Correct combined-filter formulation for hardware efficiency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Python toolchain: training, data generation, golden reference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Real-image demonstration with exact HW-SW agreement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~19,300 cycles = 193 us per detection at 100 MHz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Verified in both Icarus Verilog and Xilinx Vivado 2024.2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</a:defRPr>
            </a:pPr>
            <a:r>
              <a:t>Future Work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515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1. FPGA Synthesis: Deploy on Xilinx Artix-7,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  evaluate timing, resource consumption, power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2. Resolution Scaling: 64x64 patches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  (6th FFT stage, 4x memory buffers)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3. Gaussian Kernel: Hardware exponential LUT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  for improved tracking robustness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4. Online Model Update: Adapt filter to appearance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  changes in real-time (rotation, lighting)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5. AXI4-Stream Interface: SoC integration with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   DMA pixel streaming from camera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D4AA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</a:defRPr>
            </a:pPr>
            <a:r>
              <a:t>Akhil Sriram  |  ECE499  |  Spring 2026  |  Shiv Nadar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