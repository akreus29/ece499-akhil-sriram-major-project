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D0D7E4"/>
                </a:solidFill>
              </a:rPr>
              <a:t>INFRACORE SYSTEMS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686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Precision Guidance
for GPS-Denied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8686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0D7E4"/>
                </a:solidFill>
              </a:rPr>
              <a:t>An indigenous, FPGA-accelerated terminal-phase tracking system
built on the SHAKTI RISC-V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315968"/>
            <a:ext cx="1152144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5B8DB8"/>
                </a:solidFill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Risky 5  —  InfraCore Systems LLP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646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5B8DB8"/>
                </a:solidFill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6460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Shiv Nadar Institution of Eminence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4865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5B8DB8"/>
                </a:solidFill>
              </a:rPr>
              <a:t>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48656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Dr. Venkatnarayan Hariharan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5B8DB8"/>
                </a:solidFill>
              </a:rPr>
              <a:t>DIR-V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D0D7E4"/>
                </a:solidFill>
              </a:rPr>
              <a:t>Why terminal-phase visual guidance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THE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73352"/>
            <a:ext cx="54864" cy="54864"/>
          </a:xfrm>
          <a:prstGeom prst="rect">
            <a:avLst/>
          </a:prstGeom>
          <a:solidFill>
            <a:srgbClr val="2E75B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GPS is not reliable in the terminal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49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Adversarial jammers are deployed precisely at the last moment. A missile relying only on GPS coordinates becomes blind exactly when it matters most.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52344"/>
            <a:ext cx="54864" cy="54864"/>
          </a:xfrm>
          <a:prstGeom prst="rect">
            <a:avLst/>
          </a:prstGeom>
          <a:solidFill>
            <a:srgbClr val="2E75B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Existing seekers rely on foreign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99232"/>
            <a:ext cx="5349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SCALP-EG, HAMMER, and similar IIR seekers run on proprietary foreign black-box processors — creating supply-chain risk and ITAR dependency.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831336"/>
            <a:ext cx="54864" cy="54864"/>
          </a:xfrm>
          <a:prstGeom prst="rect">
            <a:avLst/>
          </a:prstGeom>
          <a:solidFill>
            <a:srgbClr val="2E75B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58184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Standard IR sensors only track hot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78224"/>
            <a:ext cx="5349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Conventional IR seekers need an active heat source (jet exhaust, engine). Stationary infrastructure, grounded vehicles, and inanimate targets are invisible to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25400" cy="5394960"/>
          </a:xfrm>
          <a:prstGeom prst="rect">
            <a:avLst/>
          </a:prstGeom>
          <a:solidFill>
            <a:srgbClr val="D0D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34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D7377"/>
                </a:solidFill>
              </a:rPr>
              <a:t>OUR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73352"/>
            <a:ext cx="54864" cy="54864"/>
          </a:xfrm>
          <a:prstGeom prst="rect">
            <a:avLst/>
          </a:prstGeom>
          <a:solidFill>
            <a:srgbClr val="0D73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002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100% Indigenous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40"/>
            <a:ext cx="5349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SHAKTI Yamuna RISC-V processor + Artix-7 FPGA — no foreign CPUs, no black boxes, no ITAR constraints.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33472"/>
            <a:ext cx="54864" cy="54864"/>
          </a:xfrm>
          <a:prstGeom prst="rect">
            <a:avLst/>
          </a:prstGeom>
          <a:solidFill>
            <a:srgbClr val="0D73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Works when GPS is Jammed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5349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Onboard image tracking takes over autonomously in the terminal phase. The system locks on visually and guides itself to target.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593592"/>
            <a:ext cx="54864" cy="54864"/>
          </a:xfrm>
          <a:prstGeom prst="rect">
            <a:avLst/>
          </a:prstGeom>
          <a:solidFill>
            <a:srgbClr val="0D73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LWIR: Tracks Thermally Passive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40480"/>
            <a:ext cx="5349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Long-Wave IR detects intrinsic heat of any object — structures, vehicles at rest, infrastructure. No active heat source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553712"/>
            <a:ext cx="54864" cy="54864"/>
          </a:xfrm>
          <a:prstGeom prst="rect">
            <a:avLst/>
          </a:prstGeom>
          <a:solidFill>
            <a:srgbClr val="0D73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Real-Time at &lt; 200 microseconds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800600"/>
            <a:ext cx="5349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FPGA-accelerated correlation: 19,300 clock cycles per tracking decision at 100 MHz. Faster than any software solution.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1967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1B3A6B"/>
                </a:solidFill>
              </a:rPr>
              <a:t>Modular &amp; sensor-agnostic — same platform adapts to UAVs, loitering munitions, border surveillance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D0D7E4"/>
                </a:solidFill>
              </a:rPr>
              <a:t>FPGA-accelerated image correlation on indigenous hardware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3035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6634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Yamuna RTOS Application — SHAKTI processor manages sensor fusion, queues results, and dispatches guidance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18872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572768"/>
            <a:ext cx="1234440" cy="292608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3872" y="15910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 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1572768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Camera/LWIR frame arrives. NCC (Normalised Cross-Correlation) scans the full image to find and lock on to the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322576"/>
            <a:ext cx="1234440" cy="292608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234086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322576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KCF algorithm tracks the target frame-to-frame in the frequency domain — no re-scanning needed. Fixed compute cost regardless of image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3072384"/>
            <a:ext cx="1234440" cy="292608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309067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 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3072384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FPGA writes displacement (Δx, Δy) to a register. SHAKTI RTOS reads it, fuses with IMU data, and outputs a guidance command.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822192"/>
            <a:ext cx="1234440" cy="292608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384048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 Correct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3822192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Flight controller receives YAW / PITCH corrections and adjusts heading — closing the loop autonomously.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709160"/>
            <a:ext cx="11521440" cy="12700"/>
          </a:xfrm>
          <a:prstGeom prst="rect">
            <a:avLst/>
          </a:prstGeom>
          <a:solidFill>
            <a:srgbClr val="D0D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846320"/>
            <a:ext cx="2743200" cy="1691640"/>
          </a:xfrm>
          <a:prstGeom prst="rect">
            <a:avLst/>
          </a:prstGeom>
          <a:solidFill>
            <a:srgbClr val="F2F4F8"/>
          </a:solidFill>
          <a:ln w="1270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937760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</a:rPr>
              <a:t>193 µs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577840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Per tracking
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4846320"/>
            <a:ext cx="2743200" cy="1691640"/>
          </a:xfrm>
          <a:prstGeom prst="rect">
            <a:avLst/>
          </a:prstGeom>
          <a:solidFill>
            <a:srgbClr val="F2F4F8"/>
          </a:solidFill>
          <a:ln w="1270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4937760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</a:rPr>
              <a:t>32 ×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5577840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Patch size
(scalable to 64×64)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846320"/>
            <a:ext cx="2743200" cy="1691640"/>
          </a:xfrm>
          <a:prstGeom prst="rect">
            <a:avLst/>
          </a:prstGeom>
          <a:solidFill>
            <a:srgbClr val="F2F4F8"/>
          </a:solidFill>
          <a:ln w="1270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4937760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</a:rPr>
              <a:t>5,000+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577840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Decisions
per second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4846320"/>
            <a:ext cx="2743200" cy="1691640"/>
          </a:xfrm>
          <a:prstGeom prst="rect">
            <a:avLst/>
          </a:prstGeom>
          <a:solidFill>
            <a:srgbClr val="F2F4F8"/>
          </a:solidFill>
          <a:ln w="12700">
            <a:solidFill>
              <a:srgbClr val="D0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4937760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</a:rPr>
              <a:t>100% Indigenous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5577840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SHAKTI + FPGA
no foreign silicon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D0D7E4"/>
                </a:solidFill>
              </a:rPr>
              <a:t>Status, demonstrated results, and what we need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0700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DEMONSTRATED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6420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572768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KCF/MOSSE tracking RTL verified in Vivado simulation — outputs match Python reference model exactly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3113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2139696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End-to-end frame capture: camera module → SHAKTI Yamuna SoC (serial logs on physical 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98064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706624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NCC → KCF handoff pipeline: target selected on Frame 1, found by NCC on Frame 2, tracked by KCF from Frame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64992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3273552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AXI4-Lite register interface designed — SHAKTI reads displacement and TARGET_FOUND flag from FPGA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31920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840480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RTOS application architecture: task queues, ISR, control logic, flight command dispatch</a:t>
            </a:r>
          </a:p>
        </p:txBody>
      </p:sp>
      <p:pic>
        <p:nvPicPr>
          <p:cNvPr id="16" name="Picture 15" descr="demo_s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663440"/>
            <a:ext cx="5303520" cy="187451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035040" y="1188720"/>
            <a:ext cx="25400" cy="5394960"/>
          </a:xfrm>
          <a:prstGeom prst="rect">
            <a:avLst/>
          </a:prstGeom>
          <a:solidFill>
            <a:srgbClr val="D0D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0700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NEXT MILESTONES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64208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572768"/>
            <a:ext cx="5349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Continuous video streaming (&gt;10 FPS) through FPGA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31136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139696"/>
            <a:ext cx="5349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LWIR thermal sensor integration (replacing current camera surrogate)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798064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706624"/>
            <a:ext cx="5349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IMU sensor fusion on SHAKTI RTOS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364992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73552"/>
            <a:ext cx="5349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Full hardware close-loop test on physical FPGA 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5623560" cy="2560320"/>
          </a:xfrm>
          <a:prstGeom prst="rect">
            <a:avLst/>
          </a:prstGeom>
          <a:solidFill>
            <a:srgbClr val="1B3A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06240"/>
            <a:ext cx="5257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D0D7E4"/>
                </a:solidFill>
              </a:rPr>
              <a:t>WHAT WE ARE LOOKING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17720"/>
            <a:ext cx="5257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Technical feedback from domain experts on image-based terminal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93208"/>
            <a:ext cx="5257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Access to test environments or UAV/munition simulation platforms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68696"/>
            <a:ext cx="5257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Potential collaboration or field validation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6044184"/>
            <a:ext cx="5257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Guidance on iDEX / TDF funding pathways for next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