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9"/>
  </p:notesMasterIdLst>
  <p:sldIdLst>
    <p:sldId id="277" r:id="rId5"/>
    <p:sldId id="258" r:id="rId6"/>
    <p:sldId id="280" r:id="rId7"/>
    <p:sldId id="281" r:id="rId8"/>
    <p:sldId id="273" r:id="rId9"/>
    <p:sldId id="274" r:id="rId10"/>
    <p:sldId id="275" r:id="rId11"/>
    <p:sldId id="276" r:id="rId12"/>
    <p:sldId id="278" r:id="rId13"/>
    <p:sldId id="279" r:id="rId14"/>
    <p:sldId id="283" r:id="rId15"/>
    <p:sldId id="290" r:id="rId16"/>
    <p:sldId id="289" r:id="rId17"/>
    <p:sldId id="298" r:id="rId18"/>
    <p:sldId id="297" r:id="rId19"/>
    <p:sldId id="292" r:id="rId20"/>
    <p:sldId id="299" r:id="rId21"/>
    <p:sldId id="296" r:id="rId22"/>
    <p:sldId id="293" r:id="rId23"/>
    <p:sldId id="294" r:id="rId24"/>
    <p:sldId id="295" r:id="rId25"/>
    <p:sldId id="300" r:id="rId26"/>
    <p:sldId id="302" r:id="rId27"/>
    <p:sldId id="303" r:id="rId28"/>
    <p:sldId id="304" r:id="rId29"/>
    <p:sldId id="305" r:id="rId30"/>
    <p:sldId id="301" r:id="rId31"/>
    <p:sldId id="314" r:id="rId32"/>
    <p:sldId id="306" r:id="rId33"/>
    <p:sldId id="312" r:id="rId34"/>
    <p:sldId id="319" r:id="rId35"/>
    <p:sldId id="313" r:id="rId36"/>
    <p:sldId id="316" r:id="rId37"/>
    <p:sldId id="317" r:id="rId38"/>
    <p:sldId id="320" r:id="rId39"/>
    <p:sldId id="318" r:id="rId40"/>
    <p:sldId id="321" r:id="rId41"/>
    <p:sldId id="329" r:id="rId42"/>
    <p:sldId id="330" r:id="rId43"/>
    <p:sldId id="327" r:id="rId44"/>
    <p:sldId id="326" r:id="rId45"/>
    <p:sldId id="325" r:id="rId46"/>
    <p:sldId id="324" r:id="rId47"/>
    <p:sldId id="323" r:id="rId48"/>
    <p:sldId id="328" r:id="rId49"/>
    <p:sldId id="309" r:id="rId50"/>
    <p:sldId id="310" r:id="rId51"/>
    <p:sldId id="311" r:id="rId52"/>
    <p:sldId id="322" r:id="rId53"/>
    <p:sldId id="315" r:id="rId54"/>
    <p:sldId id="332" r:id="rId55"/>
    <p:sldId id="331" r:id="rId56"/>
    <p:sldId id="333" r:id="rId57"/>
    <p:sldId id="334" r:id="rId58"/>
    <p:sldId id="335" r:id="rId59"/>
    <p:sldId id="336" r:id="rId60"/>
    <p:sldId id="338" r:id="rId61"/>
    <p:sldId id="337" r:id="rId62"/>
    <p:sldId id="339" r:id="rId63"/>
    <p:sldId id="340" r:id="rId64"/>
    <p:sldId id="341" r:id="rId65"/>
    <p:sldId id="342" r:id="rId66"/>
    <p:sldId id="343" r:id="rId67"/>
    <p:sldId id="344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7E0526-175C-2281-9949-3DC707B4B793}" name="Akhil Sriram" initials="AS" userId="S::as830@snu.edu.in::d70c45c1-9066-4cac-825a-a053579a774e" providerId="AD"/>
  <p188:author id="{F6E1BF3E-A15D-F5B0-BAD9-56C0BDDDA262}" name="Guest User" initials="GU" userId="S::urn:spo:tenantanon#fd1266d7-62fb-4683-852f-417261402a2c::" providerId="AD"/>
  <p188:author id="{7176538A-3F38-FC8C-B630-AF9C41A4B90B}" name="Saksham Mahajan" initials="SM" userId="S::sm938@snu.edu.in::156696ba-e046-4451-9612-a2ac1915e927" providerId="AD"/>
  <p188:author id="{C0BCFCE5-AB2A-8021-9FD0-BF5CA71C42A2}" name="Kalrav Mathur" initials="KM" userId="S::km257@snu.edu.in::2180289a-35ba-4f63-b260-c023c06c154e" providerId="AD"/>
  <p188:author id="{CB48C5EF-8BEB-98EB-11E0-98E0522ACEC4}" name="Akansh Saraf" initials="AS" userId="S::as925@snu.edu.in::fae4e5f3-5808-48fb-af24-4367585b9c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6EC"/>
    <a:srgbClr val="BFBFBF"/>
    <a:srgbClr val="1F3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4AFE2-3AD4-4003-886B-9CD751E09B8E}" v="832" dt="2026-04-11T06:21:41.780"/>
    <p1510:client id="{636B6255-95CE-3461-35D3-BF321572C1F3}" v="200" dt="2026-04-10T18:15:57.306"/>
    <p1510:client id="{73E4E752-7E04-8B7C-7218-20672BBA1251}" v="52" dt="2026-04-11T04:59:56.840"/>
    <p1510:client id="{E01E318F-B828-E176-25E7-06060E4DB994}" v="45" dt="2026-04-11T04:44:13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9:36:01.5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366 1 24575,'318'20'0,"-226"-12"0,0-5 0,100-9 0,-63-6 0,64-2 0,274 15 0,-461-1 0,-1 0 0,1 0 0,-1 1 0,1-1 0,-1 1 0,1 1 0,-1-1 0,1 1 0,-1 0 0,0 0 0,0 0 0,0 1 0,7 4 0,-10-5 0,1 1 0,-1-1 0,0 1 0,0 0 0,0 0 0,0 0 0,0 0 0,-1 0 0,0 0 0,1 0 0,-1 1 0,0-1 0,0 0 0,-1 1 0,1-1 0,-1 1 0,0-1 0,1 1 0,-2-1 0,1 1 0,0-1 0,-1 1 0,0 3 0,-3 9 0,-1 0 0,0-1 0,-1 1 0,-1-1 0,0-1 0,-1 1 0,-1-1 0,0-1 0,-1 1 0,0-2 0,-19 19 0,19-22 0,-2 0 0,1 0 0,-1-1 0,0-1 0,-23 11 0,18-10 0,1 1 0,-26 18 0,20-11 0,-2-1 0,1-1 0,-2 0 0,0-2 0,0-1 0,-1-1 0,-1-2 0,-36 8 0,23-8 0,0-3 0,0-1 0,-1-2 0,1-1 0,-45-6 0,68 2 0,0-1 0,0 0 0,-27-11 0,28 9 0,0 0 0,-1 2 0,-27-5 0,24 5 0,1-1 0,-1 0 0,1-2 0,0 0 0,0-1 0,-21-12 0,15 7 0,0 2 0,-43-14 0,47 19 0,-19-4 0,0-2 0,-49-21 0,61 22 0,0 1 0,-40-9 0,14 5 0,1-1 0,-164-54 0,215 69 0,1 0 0,-1-1 0,0 1 0,1-1 0,-1 1 0,1-1 0,-1 0 0,0 1 0,1-1 0,0 0 0,-1 0 0,1 0 0,0-1 0,-1 1 0,1 0 0,0 0 0,0-1 0,0 1 0,0 0 0,0-1 0,-1-2 0,2 3 0,1 0 0,-1-1 0,1 1 0,-1 0 0,1 0 0,0 0 0,-1 0 0,1 0 0,0 0 0,0 1 0,0-1 0,0 0 0,0 0 0,0 0 0,0 1 0,0-1 0,0 1 0,0-1 0,0 1 0,0-1 0,0 1 0,2-1 0,13-4 0,0 0 0,1 1 0,18-2 0,229-17 0,293 13 0,-402 10 0,-133 2 0,0 0 0,-1 2 0,0 0 0,30 10 0,-27-7 0,0 0 0,0-2 0,27 2 0,177-5-258,-175-2-849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5T19:36:01.5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578 2 24575,'502'35'0,"-356"-21"0,-1-9 0,158-16 0,-99-10 0,101-3 0,433 26 0,-728-2 0,-2 0 0,1 0 0,-1 1 0,1-1 0,-1 2 0,2 2 0,-2-3 0,1 3 0,-1-1 0,0 1 0,0-1 0,0 3 0,11 6 0,-16-9 0,2 3 0,-2-3 0,0 2 0,0 1 0,0-1 0,0 0 0,1 0 0,-3 0 0,1 1 0,1-1 0,-1 2 0,-1-2 0,1 0 0,-2 2 0,1-1 0,-1 1 0,0-2 0,2 2 0,-4-2 0,2 2 0,0-2 0,-1 2 0,-1 5 0,-4 16 0,-2 0 0,0-2 0,-2 2 0,-1-2 0,0-1 0,-1 1 0,-2-2 0,-1-1 0,-1 1 0,1-3 0,-31 33 0,30-38 0,-3 0 0,2 0 0,-2-2 0,0-2 0,-37 19 0,30-17 0,0 2 0,-40 31 0,31-19 0,-3-2 0,2-2 0,-4 1 0,1-4 0,-1-2 0,-1-2 0,-1-3 0,-58 14 0,37-14 0,0-5 0,-1-2 0,0-4 0,0-1 0,-70-11 0,107 4 0,0-2 0,1 0 0,-44-19 0,45 16 0,-1-1 0,0 4 0,-44-9 0,39 9 0,0-1 0,0-1 0,1-3 0,0 0 0,0-2 0,-33-21 0,23 12 0,1 4 0,-69-25 0,75 34 0,-30-8 0,0-3 0,-78-36 0,97 38 0,-1 1 0,-62-15 0,22 9 0,1-2 0,-259-95 0,340 121 0,1 0 0,-1-2 0,0 2 0,1-1 0,-1 1 0,2-2 0,-3 0 0,1 2 0,2-2 0,-1 1 0,-1-1 0,1 0 0,1-1 0,-2 1 0,1 0 0,0 1 0,1-3 0,-1 2 0,1 1 0,-1-3 0,-1-3 0,3 5 0,2 1 0,-2-3 0,1 2 0,-1 1 0,2-1 0,-1 0 0,-1 0 0,2 1 0,-1-1 0,1 2 0,0-2 0,-1 0 0,1 1 0,-1-1 0,1 2 0,0-2 0,-1 2 0,1-2 0,-1 2 0,1-1 0,-1 1 0,4-2 0,20-7 0,1 1 0,1 1 0,28-4 0,362-29 0,463 23 0,-635 17 0,-210 3 0,0 0 0,-2 4 0,0 0 0,48 18 0,-43-13 0,0 0 0,-1-3 0,44 3 0,279-8-258,-276-4-849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E408E-A146-42D9-B4C8-DAD72549246A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10D5C-52AD-4A84-8800-96ECB356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8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 good evening we are team Risky 5 and Our project name is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19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96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8402-8EC2-840A-F5DD-9EBCE33D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CABBB-95CB-8E73-1C3B-471984D61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B170D-BDF9-7445-49B5-6CFC2155B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Lets discuss the objectives of this project.</a:t>
            </a:r>
            <a:br>
              <a:rPr lang="en-US"/>
            </a:br>
            <a:endParaRPr lang="en-US"/>
          </a:p>
          <a:p>
            <a:pPr marL="228600" indent="-228600">
              <a:buAutoNum type="arabicPeriod"/>
            </a:pPr>
            <a:r>
              <a:rPr lang="en-US"/>
              <a:t>We want to develop a terminal phase infrared seeker, that tracks a target by doing real time calculations for minimizing the error from the target.</a:t>
            </a:r>
          </a:p>
          <a:p>
            <a:pPr marL="228600" indent="-228600">
              <a:buAutoNum type="arabicPeriod"/>
            </a:pPr>
            <a:r>
              <a:rPr lang="en-US"/>
              <a:t>We will implement software design that runs the main error calculation and correction software on the processor, and a hardware accelerator IP block that takes on the image processing and does all the heavy compute for the </a:t>
            </a:r>
            <a:r>
              <a:rPr lang="en-US" err="1"/>
              <a:t>cpu</a:t>
            </a:r>
            <a:r>
              <a:rPr lang="en-US"/>
              <a:t>, </a:t>
            </a:r>
          </a:p>
          <a:p>
            <a:pPr marL="685800" lvl="1" indent="-228600">
              <a:buAutoNum type="arabicPeriod"/>
            </a:pPr>
            <a:r>
              <a:rPr lang="en-US"/>
              <a:t>this reduces image processing delays which will </a:t>
            </a:r>
            <a:r>
              <a:rPr lang="en-US" err="1"/>
              <a:t>bethere</a:t>
            </a:r>
            <a:r>
              <a:rPr lang="en-US"/>
              <a:t> if we do this on the processor.</a:t>
            </a:r>
          </a:p>
          <a:p>
            <a:pPr marL="685800" lvl="1" indent="-228600">
              <a:buAutoNum type="arabicPeriod"/>
            </a:pPr>
            <a:endParaRPr lang="en-US"/>
          </a:p>
          <a:p>
            <a:pPr marL="685800" lvl="1" indent="-228600">
              <a:buAutoNum type="arabicPeriod"/>
            </a:pPr>
            <a:endParaRPr lang="en-US"/>
          </a:p>
          <a:p>
            <a:pPr marL="685800" lvl="1" indent="-228600">
              <a:buAutoNum type="arabicPeriod"/>
            </a:pPr>
            <a:r>
              <a:rPr lang="en-US"/>
              <a:t>Overall our system will </a:t>
            </a:r>
            <a:r>
              <a:rPr lang="en-US" err="1"/>
              <a:t>achive</a:t>
            </a:r>
            <a:r>
              <a:rPr lang="en-US"/>
              <a:t> l</a:t>
            </a:r>
          </a:p>
          <a:p>
            <a:pPr marL="1143000" lvl="2" indent="-228600">
              <a:buAutoNum type="arabicPeriod"/>
            </a:pPr>
            <a:r>
              <a:rPr lang="en-US"/>
              <a:t>locking onto a physical target, and </a:t>
            </a:r>
          </a:p>
          <a:p>
            <a:pPr marL="1143000" lvl="2" indent="-228600">
              <a:buAutoNum type="arabicPeriod"/>
            </a:pPr>
            <a:r>
              <a:rPr lang="en-US"/>
              <a:t>computing the errors from the incoming image frames, </a:t>
            </a:r>
          </a:p>
          <a:p>
            <a:pPr marL="1143000" lvl="2" indent="-228600">
              <a:buAutoNum type="arabicPeriod"/>
            </a:pPr>
            <a:r>
              <a:rPr lang="en-US"/>
              <a:t>Output the correction control signals to correct the error from the target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06D3D-6D06-58E5-B484-4AC69E67A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44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A017-3D03-3B68-396B-79535FCB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46F6F-7F2F-A450-2F45-394AABE61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EABA4-597B-249C-37A0-B3B09ADF5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The project addresses a critical capability gap for India's strategic autonomy by replacing imported IIR-</a:t>
            </a:r>
            <a:r>
              <a:rPr lang="en-US" err="1"/>
              <a:t>guidedsystems</a:t>
            </a:r>
            <a:r>
              <a:rPr lang="en-US"/>
              <a:t> like SCALP-EG and HAMMER, and lays the foundation for future R&amp;D in seeker design.</a:t>
            </a:r>
            <a:endParaRPr lang="en-GB"/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Its core novelty is the implementation of a terminal-phase IIR seeker emulator on fully indigenous </a:t>
            </a:r>
            <a:r>
              <a:rPr lang="en-US" err="1"/>
              <a:t>hardware,eliminating</a:t>
            </a:r>
            <a:r>
              <a:rPr lang="en-US"/>
              <a:t> reliance on foreign black-box CPUs/GPUs and the security risks they pose.</a:t>
            </a:r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Rather than simply running software on a processor, we use a hybrid architecture where the FPGA </a:t>
            </a:r>
            <a:r>
              <a:rPr lang="en-US" err="1"/>
              <a:t>handlesparallel</a:t>
            </a:r>
            <a:r>
              <a:rPr lang="en-US"/>
              <a:t> pixel-level tasks, freeing the SHAKTI core for high-level processing — enabling real-time performance.</a:t>
            </a:r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Unlike proprietary military systems, our emulator is modular and adaptable, allowing repurposing for civilian </a:t>
            </a:r>
            <a:r>
              <a:rPr lang="en-US" err="1"/>
              <a:t>andsecurity</a:t>
            </a:r>
            <a:r>
              <a:rPr lang="en-US"/>
              <a:t> applications like drone navigation, border surveillance, precision agriculture, and disaster relief.</a:t>
            </a:r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The project provides a low-cost, indigenous compute platform for thermal-guided systems, enabling </a:t>
            </a:r>
            <a:r>
              <a:rPr lang="en-US" err="1"/>
              <a:t>scalabledeployment</a:t>
            </a:r>
            <a:r>
              <a:rPr lang="en-US"/>
              <a:t> by Indian MSMEs under Make in India and </a:t>
            </a:r>
            <a:r>
              <a:rPr lang="en-US" err="1"/>
              <a:t>iDEX</a:t>
            </a:r>
            <a:r>
              <a:rPr lang="en-US"/>
              <a:t> — ideal for disposable military use.</a:t>
            </a:r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/>
              <a:t>This replaces foreign compute hardware with India-based processors, reducing costs and enabling broad use </a:t>
            </a:r>
            <a:r>
              <a:rPr lang="en-US" err="1"/>
              <a:t>inexpendable</a:t>
            </a:r>
            <a:r>
              <a:rPr lang="en-US"/>
              <a:t> platforms like UAVs and guided munitions.</a:t>
            </a:r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/>
          </a:p>
          <a:p>
            <a:pPr marL="171450" indent="-1714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/>
          </a:p>
          <a:p>
            <a:pPr marL="171450" indent="-1714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/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/>
          </a:p>
          <a:p>
            <a:pPr marL="514350" indent="-285750">
              <a:lnSpc>
                <a:spcPct val="90000"/>
              </a:lnSpc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426A2-B10B-DD54-F535-B0E1F972C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6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77B5-DB1F-38A5-6DB7-C3CC99D0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1B3E4-2D3E-EDF8-2B7F-ADFF79375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5D688-4873-8942-D883-C29AD992E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BEF54-3BC4-15A9-33B4-491749C92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3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AB14-65DC-6520-E75A-4260498D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4B5D0-33BA-E0EB-D89D-78D05E0BA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47E2D-51D9-409D-9D05-F513709C5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3A443-A395-E73B-E724-256B342D3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29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D0257-9DC6-FD0A-A42F-0C4C215C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12D4A-8661-C116-2B70-E0D82FD7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BBD7B-0CB4-3ACB-A75C-30D64AF34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the </a:t>
            </a:r>
            <a:r>
              <a:rPr lang="en-US" err="1"/>
              <a:t>the</a:t>
            </a:r>
            <a:r>
              <a:rPr lang="en-US"/>
              <a:t> block diagram of our project.</a:t>
            </a:r>
          </a:p>
          <a:p>
            <a:endParaRPr lang="en-US"/>
          </a:p>
          <a:p>
            <a:r>
              <a:rPr lang="en-US"/>
              <a:t>1. First we can see that a </a:t>
            </a:r>
            <a:r>
              <a:rPr lang="en-US" err="1"/>
              <a:t>lwir</a:t>
            </a:r>
            <a:r>
              <a:rPr lang="en-US"/>
              <a:t> sensor is interfaced with the custom image processing IP</a:t>
            </a:r>
          </a:p>
          <a:p>
            <a:r>
              <a:rPr lang="en-US"/>
              <a:t>2. This module then sends the processed image to the shakti </a:t>
            </a:r>
            <a:r>
              <a:rPr lang="en-US" err="1"/>
              <a:t>cpu</a:t>
            </a:r>
            <a:r>
              <a:rPr lang="en-US"/>
              <a:t> </a:t>
            </a:r>
          </a:p>
          <a:p>
            <a:r>
              <a:rPr lang="en-US"/>
              <a:t>3. Shakti </a:t>
            </a:r>
            <a:r>
              <a:rPr lang="en-US" err="1"/>
              <a:t>cpu</a:t>
            </a:r>
            <a:r>
              <a:rPr lang="en-US"/>
              <a:t> on the basis of the image inference and IMU data, </a:t>
            </a:r>
            <a:r>
              <a:rPr lang="en-US" err="1"/>
              <a:t>perfoms</a:t>
            </a:r>
            <a:r>
              <a:rPr lang="en-US"/>
              <a:t> calculations to deduce the error</a:t>
            </a:r>
          </a:p>
          <a:p>
            <a:endParaRPr lang="en-US"/>
          </a:p>
          <a:p>
            <a:r>
              <a:rPr lang="en-US"/>
              <a:t>4. The </a:t>
            </a:r>
            <a:r>
              <a:rPr lang="en-US" err="1"/>
              <a:t>cpu</a:t>
            </a:r>
            <a:r>
              <a:rPr lang="en-US"/>
              <a:t> then sends the correction commands to the flight controller, which then does the actuations of those commands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671A1-168D-5B2E-D332-EE85A1DC3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65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A776-D58D-916B-81F8-AC25CFFF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8C3B-84B5-A5B7-1835-7E639CEA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19FA2-28FD-26C1-1D70-B03BE7864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D4C7C-276C-B327-8FB8-5D7B4932B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63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C1E5-72F8-0148-499C-A9453F6F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B0669-7C2A-88D5-B030-E8D7D0ED9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BD3F1-215C-06B2-77EC-119C2C7E8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AA4EB-1DEE-8BF5-CABB-29C0EACAE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0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6AEE-981B-FCC0-CC7D-544759AB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6F8BC-96C6-7B7E-4BA1-39919B61C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266DF-7E21-BBC8-8B2D-A5DDE5878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B7D4-D450-D7AC-2F52-F9A76074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50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F029-885E-AC3B-43F3-378A8738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53BBD-2368-EAAD-6070-3D3FE47DE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1A838-D753-E0BB-EF51-1CD53FB4A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2CAB0-9120-F8EC-AD23-41248DA14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01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4510-5F40-8608-5022-D5D8213D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35F57-1C3D-CFED-8ACF-1F88455EA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0EB81-092D-25CC-49CE-33B8D70D1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73AFC-0AAB-488F-80C2-809259C3EA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97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AF88-AD20-1E29-802E-F6EB8D0C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BC14F-8E6E-BD66-AE95-4F4AA578A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C77EB-1390-1BC9-6E7A-AEBB8B7B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Milestones for MVP</a:t>
            </a:r>
          </a:p>
          <a:p>
            <a:r>
              <a:rPr lang="en-US"/>
              <a:t>We are going to discuss our milestone </a:t>
            </a:r>
            <a:r>
              <a:rPr lang="en-US" err="1"/>
              <a:t>achievments</a:t>
            </a:r>
            <a:r>
              <a:rPr lang="en-US"/>
              <a:t>. </a:t>
            </a:r>
          </a:p>
          <a:p>
            <a:r>
              <a:rPr lang="en-US"/>
              <a:t>    we have completed most of it</a:t>
            </a:r>
          </a:p>
          <a:p>
            <a:r>
              <a:rPr lang="en-US"/>
              <a:t>    more about each milestone later</a:t>
            </a:r>
          </a:p>
          <a:p>
            <a:r>
              <a:rPr lang="en-US"/>
              <a:t>    will come back to this slide after discussion on each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DA8CD-588A-1175-150A-8E6145FC2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1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D8C7-447A-66FF-41D4-834EE62A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979A0-7360-8002-BA1B-794CEA0E6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86098-C300-DCAC-75CB-A6B5159A0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Lets discuss the objectives of this project.</a:t>
            </a:r>
            <a:br>
              <a:rPr lang="en-US"/>
            </a:br>
            <a:endParaRPr lang="en-US"/>
          </a:p>
          <a:p>
            <a:pPr marL="228600" indent="-228600">
              <a:buAutoNum type="arabicPeriod"/>
            </a:pPr>
            <a:r>
              <a:rPr lang="en-US"/>
              <a:t>We want to develop a terminal phase infrared seeker, that tracks a target by doing real time calculations for minimizing the error from the target.</a:t>
            </a:r>
          </a:p>
          <a:p>
            <a:pPr marL="228600" indent="-228600">
              <a:buAutoNum type="arabicPeriod"/>
            </a:pPr>
            <a:r>
              <a:rPr lang="en-US"/>
              <a:t>We will implement software design that runs the main error calculation and correction software on the processor, and a hardware accelerator IP block that takes on the image processing and does all the heavy compute for the </a:t>
            </a:r>
            <a:r>
              <a:rPr lang="en-US" err="1"/>
              <a:t>cpu</a:t>
            </a:r>
            <a:r>
              <a:rPr lang="en-US"/>
              <a:t>, </a:t>
            </a:r>
          </a:p>
          <a:p>
            <a:pPr marL="685800" lvl="1" indent="-228600">
              <a:buAutoNum type="arabicPeriod"/>
            </a:pPr>
            <a:r>
              <a:rPr lang="en-US"/>
              <a:t>this reduces image processing delays which will </a:t>
            </a:r>
            <a:r>
              <a:rPr lang="en-US" err="1"/>
              <a:t>bethere</a:t>
            </a:r>
            <a:r>
              <a:rPr lang="en-US"/>
              <a:t> if we do this on the processor.</a:t>
            </a:r>
          </a:p>
          <a:p>
            <a:pPr marL="685800" lvl="1" indent="-228600">
              <a:buAutoNum type="arabicPeriod"/>
            </a:pPr>
            <a:endParaRPr lang="en-US"/>
          </a:p>
          <a:p>
            <a:pPr marL="685800" lvl="1" indent="-228600">
              <a:buAutoNum type="arabicPeriod"/>
            </a:pPr>
            <a:endParaRPr lang="en-US"/>
          </a:p>
          <a:p>
            <a:pPr marL="685800" lvl="1" indent="-228600">
              <a:buAutoNum type="arabicPeriod"/>
            </a:pPr>
            <a:r>
              <a:rPr lang="en-US"/>
              <a:t>Overall our system will </a:t>
            </a:r>
            <a:r>
              <a:rPr lang="en-US" err="1"/>
              <a:t>achive</a:t>
            </a:r>
            <a:r>
              <a:rPr lang="en-US"/>
              <a:t> l</a:t>
            </a:r>
          </a:p>
          <a:p>
            <a:pPr marL="1143000" lvl="2" indent="-228600">
              <a:buAutoNum type="arabicPeriod"/>
            </a:pPr>
            <a:r>
              <a:rPr lang="en-US"/>
              <a:t>locking onto a physical target, and </a:t>
            </a:r>
          </a:p>
          <a:p>
            <a:pPr marL="1143000" lvl="2" indent="-228600">
              <a:buAutoNum type="arabicPeriod"/>
            </a:pPr>
            <a:r>
              <a:rPr lang="en-US"/>
              <a:t>computing the errors from the incoming image frames, </a:t>
            </a:r>
          </a:p>
          <a:p>
            <a:pPr marL="1143000" lvl="2" indent="-228600">
              <a:buAutoNum type="arabicPeriod"/>
            </a:pPr>
            <a:r>
              <a:rPr lang="en-US"/>
              <a:t>Output the correction control signals to correct the error from the target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C7BB9-C005-C9BD-331A-72B3C9849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00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CF71-A5B0-71AF-1814-09352588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89FF3-4812-D947-60FF-1EF5AC4C0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133C4-9C5F-49CA-C271-A8A85961A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the </a:t>
            </a:r>
            <a:r>
              <a:rPr lang="en-US" err="1"/>
              <a:t>the</a:t>
            </a:r>
            <a:r>
              <a:rPr lang="en-US"/>
              <a:t> block diagram of our project.</a:t>
            </a:r>
          </a:p>
          <a:p>
            <a:endParaRPr lang="en-US"/>
          </a:p>
          <a:p>
            <a:r>
              <a:rPr lang="en-US"/>
              <a:t>1. First we can see that a </a:t>
            </a:r>
            <a:r>
              <a:rPr lang="en-US" err="1"/>
              <a:t>lwir</a:t>
            </a:r>
            <a:r>
              <a:rPr lang="en-US"/>
              <a:t> sensor is interfaced with the custom image processing IP</a:t>
            </a:r>
          </a:p>
          <a:p>
            <a:r>
              <a:rPr lang="en-US"/>
              <a:t>2. This module then sends the processed image to the shakti </a:t>
            </a:r>
            <a:r>
              <a:rPr lang="en-US" err="1"/>
              <a:t>cpu</a:t>
            </a:r>
            <a:r>
              <a:rPr lang="en-US"/>
              <a:t> </a:t>
            </a:r>
          </a:p>
          <a:p>
            <a:r>
              <a:rPr lang="en-US"/>
              <a:t>3. Shakti </a:t>
            </a:r>
            <a:r>
              <a:rPr lang="en-US" err="1"/>
              <a:t>cpu</a:t>
            </a:r>
            <a:r>
              <a:rPr lang="en-US"/>
              <a:t> on the basis of the image inference and IMU data, </a:t>
            </a:r>
            <a:r>
              <a:rPr lang="en-US" err="1"/>
              <a:t>perfoms</a:t>
            </a:r>
            <a:r>
              <a:rPr lang="en-US"/>
              <a:t> calculations to deduce the error</a:t>
            </a:r>
          </a:p>
          <a:p>
            <a:endParaRPr lang="en-US"/>
          </a:p>
          <a:p>
            <a:r>
              <a:rPr lang="en-US"/>
              <a:t>4. The </a:t>
            </a:r>
            <a:r>
              <a:rPr lang="en-US" err="1"/>
              <a:t>cpu</a:t>
            </a:r>
            <a:r>
              <a:rPr lang="en-US"/>
              <a:t> then sends the correction commands to the flight controller, which then does the actuations of those commands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517A6-68EC-D1BA-299B-F79607712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37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Complete architecture of our project. </a:t>
            </a:r>
          </a:p>
          <a:p>
            <a:r>
              <a:rPr lang="en-IN"/>
              <a:t>We can see how each module is interfaced.</a:t>
            </a:r>
          </a:p>
          <a:p>
            <a:endParaRPr lang="en-IN"/>
          </a:p>
          <a:p>
            <a:r>
              <a:rPr lang="en-IN"/>
              <a:t>Using </a:t>
            </a:r>
            <a:r>
              <a:rPr lang="en-IN" err="1"/>
              <a:t>uart</a:t>
            </a:r>
            <a:r>
              <a:rPr lang="en-IN"/>
              <a:t> for the IMU and camera interface</a:t>
            </a:r>
          </a:p>
          <a:p>
            <a:r>
              <a:rPr lang="en-IN"/>
              <a:t>The application follows a typical </a:t>
            </a:r>
            <a:r>
              <a:rPr lang="en-IN" err="1"/>
              <a:t>rtos</a:t>
            </a:r>
            <a:r>
              <a:rPr lang="en-IN"/>
              <a:t> application structure with many queues, tasks and other </a:t>
            </a:r>
            <a:r>
              <a:rPr lang="en-IN" err="1"/>
              <a:t>interprocess</a:t>
            </a:r>
            <a:r>
              <a:rPr lang="en-IN"/>
              <a:t> comm objects.</a:t>
            </a:r>
          </a:p>
          <a:p>
            <a:r>
              <a:rPr lang="en-IN"/>
              <a:t>For high deterministic behaviour, low latency and to achieve concurrency. 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37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Camera interfacing with ESP32s3 with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  <a:r>
              <a:rPr lang="en-US">
                <a:latin typeface="Calibri"/>
                <a:ea typeface="Calibri"/>
                <a:cs typeface="Calibri"/>
              </a:rPr>
              <a:t> is done over </a:t>
            </a:r>
            <a:r>
              <a:rPr lang="en-US" err="1">
                <a:latin typeface="Calibri"/>
                <a:ea typeface="Calibri"/>
                <a:cs typeface="Calibri"/>
              </a:rPr>
              <a:t>uart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Tested with multiple baud rates to find the greatest baud rate with low baud error and 100% </a:t>
            </a:r>
            <a:r>
              <a:rPr lang="en-US" err="1">
                <a:latin typeface="Calibri"/>
                <a:ea typeface="Calibri"/>
                <a:cs typeface="Calibri"/>
              </a:rPr>
              <a:t>reliabilty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Sending frames continuously over </a:t>
            </a:r>
            <a:r>
              <a:rPr lang="en-US" err="1">
                <a:latin typeface="Calibri"/>
                <a:ea typeface="Calibri"/>
                <a:cs typeface="Calibri"/>
              </a:rPr>
              <a:t>uart</a:t>
            </a:r>
            <a:r>
              <a:rPr lang="en-US">
                <a:latin typeface="Calibri"/>
                <a:ea typeface="Calibri"/>
                <a:cs typeface="Calibri"/>
              </a:rPr>
              <a:t> from esp32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Filling the frame buff byte by byte as I </a:t>
            </a:r>
            <a:r>
              <a:rPr lang="en-US" err="1">
                <a:latin typeface="Calibri"/>
                <a:ea typeface="Calibri"/>
                <a:cs typeface="Calibri"/>
              </a:rPr>
              <a:t>recv</a:t>
            </a:r>
            <a:r>
              <a:rPr lang="en-US">
                <a:latin typeface="Calibri"/>
                <a:ea typeface="Calibri"/>
                <a:cs typeface="Calibri"/>
              </a:rPr>
              <a:t> at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We can verify the results by seeing that we have got the exact amount of data. So no loss or packet drop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02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From the seed funding we have bought some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22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1039-9FA1-B88D-8403-F6F685A5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9A35A-23D8-6756-964B-3459C2CAC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15D9E-E0B3-DE90-0F37-34D7A498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Camera interfacing with ESP32s3 with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  <a:r>
              <a:rPr lang="en-US">
                <a:latin typeface="Calibri"/>
                <a:ea typeface="Calibri"/>
                <a:cs typeface="Calibri"/>
              </a:rPr>
              <a:t> is done over </a:t>
            </a:r>
            <a:r>
              <a:rPr lang="en-US" err="1">
                <a:latin typeface="Calibri"/>
                <a:ea typeface="Calibri"/>
                <a:cs typeface="Calibri"/>
              </a:rPr>
              <a:t>uart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Tested with multiple baud rates to find the greatest baud rate with low baud error and 100% </a:t>
            </a:r>
            <a:r>
              <a:rPr lang="en-US" err="1">
                <a:latin typeface="Calibri"/>
                <a:ea typeface="Calibri"/>
                <a:cs typeface="Calibri"/>
              </a:rPr>
              <a:t>reliabilty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Sending frames continuously over </a:t>
            </a:r>
            <a:r>
              <a:rPr lang="en-US" err="1">
                <a:latin typeface="Calibri"/>
                <a:ea typeface="Calibri"/>
                <a:cs typeface="Calibri"/>
              </a:rPr>
              <a:t>uart</a:t>
            </a:r>
            <a:r>
              <a:rPr lang="en-US">
                <a:latin typeface="Calibri"/>
                <a:ea typeface="Calibri"/>
                <a:cs typeface="Calibri"/>
              </a:rPr>
              <a:t> from esp32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Filling the frame buff byte by byte as I </a:t>
            </a:r>
            <a:r>
              <a:rPr lang="en-US" err="1">
                <a:latin typeface="Calibri"/>
                <a:ea typeface="Calibri"/>
                <a:cs typeface="Calibri"/>
              </a:rPr>
              <a:t>recv</a:t>
            </a:r>
            <a:r>
              <a:rPr lang="en-US">
                <a:latin typeface="Calibri"/>
                <a:ea typeface="Calibri"/>
                <a:cs typeface="Calibri"/>
              </a:rPr>
              <a:t> at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We can verify the results by seeing that we have got the exact amount of data. So no loss or packet drop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C05E4-A07B-9384-AC0D-6706F2FAA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505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RTOS application for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Multiple task handlers. Queue handlers, structs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Explain the flow of the execution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PID tasks waits on IMU data and </a:t>
            </a:r>
            <a:r>
              <a:rPr lang="en-US" err="1">
                <a:latin typeface="Calibri"/>
                <a:ea typeface="Calibri"/>
                <a:cs typeface="Calibri"/>
              </a:rPr>
              <a:t>img</a:t>
            </a:r>
            <a:r>
              <a:rPr lang="en-US">
                <a:latin typeface="Calibri"/>
                <a:ea typeface="Calibri"/>
                <a:cs typeface="Calibri"/>
              </a:rPr>
              <a:t> data then calculates the output and </a:t>
            </a:r>
            <a:r>
              <a:rPr lang="en-US" err="1">
                <a:latin typeface="Calibri"/>
                <a:ea typeface="Calibri"/>
                <a:cs typeface="Calibri"/>
              </a:rPr>
              <a:t>puses</a:t>
            </a:r>
            <a:r>
              <a:rPr lang="en-US">
                <a:latin typeface="Calibri"/>
                <a:ea typeface="Calibri"/>
                <a:cs typeface="Calibri"/>
              </a:rPr>
              <a:t> to fc </a:t>
            </a:r>
            <a:r>
              <a:rPr lang="en-US" err="1">
                <a:latin typeface="Calibri"/>
                <a:ea typeface="Calibri"/>
                <a:cs typeface="Calibri"/>
              </a:rPr>
              <a:t>cmd</a:t>
            </a:r>
            <a:r>
              <a:rPr lang="en-US">
                <a:latin typeface="Calibri"/>
                <a:ea typeface="Calibri"/>
                <a:cs typeface="Calibri"/>
              </a:rPr>
              <a:t>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13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NCC algorithm implemented on shakti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  <a:r>
              <a:rPr lang="en-US">
                <a:latin typeface="Calibri"/>
                <a:ea typeface="Calibri"/>
                <a:cs typeface="Calibri"/>
              </a:rPr>
              <a:t> in c. 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We successfully implemented and validated this algo on </a:t>
            </a:r>
            <a:r>
              <a:rPr lang="en-US" err="1">
                <a:latin typeface="Calibri"/>
                <a:ea typeface="Calibri"/>
                <a:cs typeface="Calibri"/>
              </a:rPr>
              <a:t>yamuna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First tried with pre stored image and target image in header file. 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Then integrated with cam interface to capture and compute </a:t>
            </a:r>
            <a:r>
              <a:rPr lang="en-US" err="1">
                <a:latin typeface="Calibri"/>
                <a:ea typeface="Calibri"/>
                <a:cs typeface="Calibri"/>
              </a:rPr>
              <a:t>ncc</a:t>
            </a:r>
            <a:r>
              <a:rPr lang="en-US">
                <a:latin typeface="Calibri"/>
                <a:ea typeface="Calibri"/>
                <a:cs typeface="Calibri"/>
              </a:rPr>
              <a:t> on live frames. 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Use the </a:t>
            </a:r>
            <a:r>
              <a:rPr lang="en-US" err="1">
                <a:latin typeface="Calibri"/>
                <a:ea typeface="Calibri"/>
                <a:cs typeface="Calibri"/>
              </a:rPr>
              <a:t>img</a:t>
            </a:r>
            <a:r>
              <a:rPr lang="en-US">
                <a:latin typeface="Calibri"/>
                <a:ea typeface="Calibri"/>
                <a:cs typeface="Calibri"/>
              </a:rPr>
              <a:t> rep in binary to calculate </a:t>
            </a:r>
            <a:r>
              <a:rPr lang="en-US" err="1">
                <a:latin typeface="Calibri"/>
                <a:ea typeface="Calibri"/>
                <a:cs typeface="Calibri"/>
              </a:rPr>
              <a:t>ncc</a:t>
            </a:r>
            <a:r>
              <a:rPr lang="en-US">
                <a:latin typeface="Calibri"/>
                <a:ea typeface="Calibri"/>
                <a:cs typeface="Calibri"/>
              </a:rPr>
              <a:t> score then output the coordinate with best score. 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High res image takes v long low res is faster.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90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08CCD-011E-DC9A-A440-A67B6FCB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1B1AF-23D6-5EBB-1C87-5FB6DF4B8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3586E-D540-A58A-E306-C11C1A1EB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C7292-8F4E-5BE7-BAB0-D9556BDB3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8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D303-1957-F12F-4EAE-84F55219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5B751-57A5-4B27-5D76-AEFCD7B84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684E9-DD52-0549-FCA6-22E08B6EC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8F825-C670-E0BC-645B-4371A43EA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59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A697-01D9-94DE-C5C0-C5BE212D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8CC73-81E4-25C0-F987-8BEF7698C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CFEF0-433C-BB32-3F62-91CADBB0C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CFF78-A893-27E7-7E61-86C899E70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7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17E9-A5C2-9C27-8A80-8CD50C2F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BF3DE-BFCC-6AC4-6B0D-F6E8BB8F0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556C4-204B-357C-5E3C-6B43DB548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DAC1-13A6-0B59-EC04-FB4851404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11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1119-71A9-5992-DA32-666A3A69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5D0DF-42DD-ACEA-42B4-9AD4AD270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B2639-B130-5042-66A7-DA51F7FA1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Milestones for MVP</a:t>
            </a:r>
          </a:p>
          <a:p>
            <a:r>
              <a:rPr lang="en-US"/>
              <a:t>We are going to discuss our milestone </a:t>
            </a:r>
            <a:r>
              <a:rPr lang="en-US" err="1"/>
              <a:t>achievments</a:t>
            </a:r>
            <a:r>
              <a:rPr lang="en-US"/>
              <a:t>. </a:t>
            </a:r>
          </a:p>
          <a:p>
            <a:r>
              <a:rPr lang="en-US"/>
              <a:t>    we have completed most of it</a:t>
            </a:r>
          </a:p>
          <a:p>
            <a:r>
              <a:rPr lang="en-US"/>
              <a:t>    more about each milestone later</a:t>
            </a:r>
          </a:p>
          <a:p>
            <a:r>
              <a:rPr lang="en-US"/>
              <a:t>    will come back to this slide after discussion on each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F157D-081A-999D-C5B1-271796BF1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37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8D443-3A39-5671-5B91-79A10EDF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695D0-A0BD-5589-40B6-E4DE20FD8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23E6F-2241-DD6B-0657-05985929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E1D5A-EE70-DCC5-6C28-EB59C1CDF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760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B13B0-6E7F-4E88-16B6-634F6E79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74E11-BC0A-A4EB-EDFE-A725F3739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2D836-E08D-F8C7-0A4B-E88F0C568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2EB15-7051-5DA6-9768-A9DB7B35F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91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DF0C-A93E-E100-DA47-099F59BB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02673-DDE3-44CA-8DE6-8BF018330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C9A7A-B98D-D2D1-A5F8-A75E59569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9936A-87D8-264E-50CC-DEF089D44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83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8320-BB37-DB51-525D-F0D7F2C0C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C398B-E1EB-703C-8C7F-27572C287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FBD8F-0E40-7161-47B8-CEF925C0B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5A49-F8F5-1325-BE87-9F419249C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87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6BA9-0CAD-8795-ED01-CE81B08D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1AAF-21B5-CC8C-03E3-8608C8B23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4DC6B-F9FA-F211-41E5-B7D61C4F0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Kalrav Mathur team lead for this project, and we are representing SNU, Our mentor is Dr </a:t>
            </a:r>
            <a:r>
              <a:rPr lang="en-US" err="1"/>
              <a:t>Venkathariharan</a:t>
            </a:r>
            <a:r>
              <a:rPr lang="en-US"/>
              <a:t>, and other members include Akhil Sriram, Akansh Saraf, Saksham Mahajan and Tushar Juneja. </a:t>
            </a:r>
          </a:p>
          <a:p>
            <a:endParaRPr lang="en-US"/>
          </a:p>
          <a:p>
            <a:r>
              <a:rPr lang="en-US"/>
              <a:t>We will be using Shakti Yamuna processor.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98D3-6680-9687-93C0-A8151D9D3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0D5C-52AD-4A84-8800-96ECB35641D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3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CEC8-012F-8AA1-07AD-DF3EBC33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48E-E5C7-7766-8EDB-E3BD09DDE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B6D5F-A73B-CFEF-7EA9-A1E97686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BEBCE-E6DE-0386-17F2-20858174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AB186-B776-86CE-A734-B1407C9B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2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7936-56B1-F3D5-A3C9-AF1C2E03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B717-4131-7C98-35ED-B7C7DDFD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B81CC-C9A4-B387-A95A-36C931968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FCE7B-F044-EE0A-1656-C4390DD0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3DBF-4074-FCFF-31A5-DB5474C2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61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5301-104A-CB07-07F6-E6E66209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2FBF6-7CE3-2DA6-8535-5B7A217F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FEE06-3D86-ADD0-C477-6B9ABCEB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1DD96-AF05-DD4D-8800-B85D5D51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6B8F-B04A-77D0-4763-CA494EF9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37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9C6C-89EA-15E5-D7D5-560E994D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581EB-5575-1359-D45E-80FDDF684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4B910-7A07-D8AE-62C2-A98ED0538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74851-55D5-F562-E381-8CB2AE5A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04B17-C141-15C6-2D4D-527FDD7C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C96D8-4FA2-B859-8B9E-1ABE31B8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75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D409-D605-BFCC-E936-48963E5E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68B9B-CFEF-BA3E-FB69-034DC723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7EF5D-A73D-DBE9-F0F1-5A2B4A213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EA449-52D3-68AE-92A5-73A973060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C09B0-E6DF-1579-868C-83A2A4E5D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8B94B-7130-D38B-B0FC-BBEF35907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AFB93-1ED6-FB01-3E5C-807A1C50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C048D-2D07-9BF0-7893-AE5E6D69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8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7125-EC9F-EAE2-C124-C2E1391B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2BC93-4E76-3CDB-0127-0C478105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62CAB-1FE3-585B-F65E-CF3D06E0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CD487-F5CF-90EE-40A4-36F3C5A6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4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86F3A-9496-FE54-AA43-D16724CF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E79216-9B88-EC95-C6D1-96198251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DCC30-2FD6-93EA-1D00-569A631B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6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ED7E-EC66-37AC-FF26-F6F8EB3A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F021-881F-487F-9586-21D5AEE2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8A8F2-7123-4C72-5DE2-ED03B8DB0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C14F3-3BC6-BBB3-EA82-CBDAACBD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DE9A8-BBA6-1046-FE4B-F87EFF00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532C1-D53D-9856-F4E8-AB5D3A23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17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4665-E33A-E4A7-8647-6C3C15AD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09B87-8513-9AF8-CC58-A8CC60602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13CB0-0F7C-2256-CC7B-1367F07F1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E55FE-7418-8D9C-EB06-40DE09C1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16712-F06D-C576-2E32-BD389908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F8181-A662-642E-9E82-16333FA5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39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A5A6-04F0-AE12-D64C-6AE0A978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AAEF2-C619-B0BB-BAC4-D6B60647D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187F8-169D-DDEB-995F-6048C555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5B692-0462-04B5-9703-FDD722BC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B9506-20B7-A4BC-30C9-F66B5F9C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15CC7-F375-AC8D-7456-E5B2311B5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174EF-8BEB-F148-5E67-4A86DF657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35479-BBE3-CADD-B991-2877911FE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412EA-428D-5BD1-EC2A-8DEE10CE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49E83-A93D-BE8C-BFED-8E1FD558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0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46376-2C2B-425D-AF27-84E24F2B8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0654-C161-2429-3D78-6C29DAC23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F9B9-B507-44F6-F4DB-80D1D3059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6A834-F288-44AB-9DD7-B96D7760644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4D57F-E92D-68EC-317A-70A7E0F6D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C82F4-8E7A-10E4-E670-9C30F5BCE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702C5-52DA-4DFE-B62C-3A086876CF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05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468AE-728C-F0D5-1D8D-EAABAE32DD50}"/>
              </a:ext>
            </a:extLst>
          </p:cNvPr>
          <p:cNvSpPr txBox="1"/>
          <p:nvPr/>
        </p:nvSpPr>
        <p:spPr>
          <a:xfrm>
            <a:off x="576289" y="2878777"/>
            <a:ext cx="110352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b="1"/>
              <a:t>Precision Guidance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26B1E-CB59-131D-BE18-9440AF418954}"/>
              </a:ext>
            </a:extLst>
          </p:cNvPr>
          <p:cNvSpPr txBox="1"/>
          <p:nvPr/>
        </p:nvSpPr>
        <p:spPr>
          <a:xfrm>
            <a:off x="9125877" y="3988243"/>
            <a:ext cx="42231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- By Team Risky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3567A-6036-5511-7C92-0984E255F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A0B0F1-A811-28D2-FBD4-344919BDD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3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E717E2-8F45-D151-19FA-6E92EB2C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Team Details</a:t>
            </a:r>
            <a:endParaRPr lang="en-IN" b="1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434E99A-07E3-014E-5B60-64BD54B1E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831"/>
            <a:ext cx="10744200" cy="3259044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base">
              <a:buFont typeface="Arial" panose="02110004020202020204"/>
              <a:buChar char="•"/>
            </a:pPr>
            <a:r>
              <a:rPr lang="en-IN" sz="2400" b="1"/>
              <a:t>Team Name:</a:t>
            </a:r>
            <a:r>
              <a:rPr lang="en-IN" sz="2400"/>
              <a:t> </a:t>
            </a:r>
            <a:r>
              <a:rPr lang="en-IN" sz="2400">
                <a:latin typeface="Aptos"/>
              </a:rPr>
              <a:t>Risky 5</a:t>
            </a:r>
            <a:r>
              <a:rPr lang="en-US" sz="2400">
                <a:latin typeface="Aptos"/>
              </a:rPr>
              <a:t>​</a:t>
            </a:r>
          </a:p>
          <a:p>
            <a:pPr fontAlgn="base">
              <a:buFont typeface="Arial" panose="02110004020202020204"/>
              <a:buChar char="•"/>
            </a:pPr>
            <a:r>
              <a:rPr lang="en-US" sz="2400" b="1"/>
              <a:t>Startup Name: </a:t>
            </a:r>
            <a:r>
              <a:rPr lang="en-US" sz="2400" err="1"/>
              <a:t>InfraCore</a:t>
            </a:r>
            <a:r>
              <a:rPr lang="en-US" sz="2400"/>
              <a:t> Systems LLP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Team Lead:</a:t>
            </a:r>
            <a:r>
              <a:rPr lang="en-IN" sz="2400"/>
              <a:t> Kalrav Mathur</a:t>
            </a:r>
            <a:r>
              <a:rPr lang="en-US" sz="2400"/>
              <a:t>​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the Institution:</a:t>
            </a:r>
            <a:r>
              <a:rPr lang="en-IN" sz="2400"/>
              <a:t> Shiv Nadar University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the processor:</a:t>
            </a:r>
            <a:r>
              <a:rPr lang="en-IN" sz="2400"/>
              <a:t> SHAKTI Yamuna</a:t>
            </a:r>
            <a:endParaRPr lang="en-US" sz="2400"/>
          </a:p>
          <a:p>
            <a:pPr>
              <a:buFont typeface="Arial" panose="02110004020202020204"/>
              <a:buChar char="•"/>
            </a:pPr>
            <a:r>
              <a:rPr lang="en-IN" sz="2400" b="1"/>
              <a:t>Name of the Mentor: </a:t>
            </a:r>
            <a:r>
              <a:rPr lang="en-IN" sz="2400"/>
              <a:t>Dr. </a:t>
            </a:r>
            <a:r>
              <a:rPr lang="en-IN" sz="2400" err="1"/>
              <a:t>Venkatnarayan</a:t>
            </a:r>
            <a:r>
              <a:rPr lang="en-IN" sz="2400"/>
              <a:t> Hariharan</a:t>
            </a:r>
          </a:p>
          <a:p>
            <a:pPr marL="0" indent="0">
              <a:buNone/>
            </a:pPr>
            <a:br>
              <a:rPr lang="en-GB" sz="2400" b="0">
                <a:effectLst/>
              </a:rPr>
            </a:b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77500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427AF-6C99-4700-F8E0-C7267A16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72327A71-DCD9-0A21-5C0B-5A9DC4497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14E99-9D4E-222E-C86A-02899C9B1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56" y="221880"/>
            <a:ext cx="7056935" cy="748959"/>
          </a:xfrm>
        </p:spPr>
        <p:txBody>
          <a:bodyPr anchor="b">
            <a:normAutofit/>
          </a:bodyPr>
          <a:lstStyle/>
          <a:p>
            <a:r>
              <a:rPr lang="en-GB" sz="4000" b="1"/>
              <a:t>Precision Guidance System</a:t>
            </a:r>
            <a:r>
              <a:rPr lang="en-GB" sz="4000"/>
              <a:t>​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A2EB-9866-DA11-7FB7-596151126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36" y="1451870"/>
            <a:ext cx="7306979" cy="4948683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GB" sz="1800" b="1"/>
              <a:t>Target Application: Security and </a:t>
            </a:r>
            <a:r>
              <a:rPr lang="en-US" sz="1800" b="1"/>
              <a:t>Surveillance</a:t>
            </a:r>
            <a:r>
              <a:rPr lang="en-GB" sz="1800" b="1"/>
              <a:t> </a:t>
            </a:r>
            <a:endParaRPr lang="en-US" b="1"/>
          </a:p>
          <a:p>
            <a:pPr marL="0" indent="0" algn="just" fontAlgn="base">
              <a:buNone/>
            </a:pPr>
            <a:r>
              <a:rPr lang="en-US" sz="1800" b="1"/>
              <a:t>Objectives of the proposal: ​</a:t>
            </a:r>
          </a:p>
          <a:p>
            <a:pPr marL="0" indent="0" algn="just" fontAlgn="base">
              <a:buNone/>
            </a:pPr>
            <a:endParaRPr lang="en-US" sz="1600"/>
          </a:p>
          <a:p>
            <a:pPr algn="just" fontAlgn="base"/>
            <a:r>
              <a:rPr lang="en-US" sz="1600"/>
              <a:t>To develop a terminal-phase Imaging Infrared (IIR) seeker prototype for a precision guided missile system on a fully indigenous hardware stack using the SHAKTI processor.</a:t>
            </a:r>
          </a:p>
          <a:p>
            <a:pPr algn="just" fontAlgn="base"/>
            <a:r>
              <a:rPr lang="en-US" sz="1600"/>
              <a:t>Running the main logic on the SHAKTI Yamuna​ and offloading compute intensive tasks of image correlation algorithms to FPGA for parallel execution. </a:t>
            </a:r>
          </a:p>
          <a:p>
            <a:pPr algn="just" fontAlgn="base"/>
            <a:r>
              <a:rPr lang="en-US" sz="1600"/>
              <a:t>To deliver a physical prototype that demonstrates the complete guidance functionality. 						                This system will lock onto a physical target, visually track it by matching live thermal images with preloaded satellite imagery, and output the exact guidance commands.</a:t>
            </a:r>
            <a:endParaRPr lang="en-IN" sz="1600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36E608F3-73F3-6032-95D0-63D06E03C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EFB6EED2-9288-6E86-AAD2-BE8AED387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B71E27-6FF4-1940-DBB8-D97BB70899DD}"/>
              </a:ext>
            </a:extLst>
          </p:cNvPr>
          <p:cNvGrpSpPr/>
          <p:nvPr/>
        </p:nvGrpSpPr>
        <p:grpSpPr>
          <a:xfrm>
            <a:off x="7647018" y="2620794"/>
            <a:ext cx="4102086" cy="2357126"/>
            <a:chOff x="7725662" y="2770305"/>
            <a:chExt cx="4102086" cy="2357126"/>
          </a:xfrm>
        </p:grpSpPr>
        <p:pic>
          <p:nvPicPr>
            <p:cNvPr id="1026" name="Picture 2" descr="Flight profile of air-to-ground missile.">
              <a:extLst>
                <a:ext uri="{FF2B5EF4-FFF2-40B4-BE49-F238E27FC236}">
                  <a16:creationId xmlns:a16="http://schemas.microsoft.com/office/drawing/2014/main" id="{8C0DE3D4-362F-1A4C-87D9-FC794CA6F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25662" y="2770305"/>
              <a:ext cx="4102086" cy="2357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B4B4F41-AC0E-9CD4-F671-A26A513F4217}"/>
                    </a:ext>
                  </a:extLst>
                </p14:cNvPr>
                <p14:cNvContentPartPr/>
                <p14:nvPr/>
              </p14:nvContentPartPr>
              <p14:xfrm>
                <a:off x="10326990" y="3588468"/>
                <a:ext cx="704520" cy="19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B4B4F41-AC0E-9CD4-F671-A26A513F42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63990" y="3525586"/>
                  <a:ext cx="830160" cy="31800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92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7F8E5-C3A8-0513-73AA-9FC4784D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EA52E48A-B99A-030F-36FB-EE17670E1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2A078-9B78-9C5F-C7AD-3F4077FD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12" y="285380"/>
            <a:ext cx="7056935" cy="748959"/>
          </a:xfrm>
        </p:spPr>
        <p:txBody>
          <a:bodyPr anchor="b">
            <a:normAutofit/>
          </a:bodyPr>
          <a:lstStyle/>
          <a:p>
            <a:r>
              <a:rPr lang="en-GB" sz="4000" b="1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4CD3D-0C38-073F-855C-8B563A6F9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66" y="1424655"/>
            <a:ext cx="11792943" cy="4812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The project addresses a critical capability gap for India's strategic autonomy by replacing imported IIR-guided systems like SCALP-EG and HAMMER,  and lays the foundation for future R&amp;D in seeker design.</a:t>
            </a:r>
            <a:endParaRPr lang="en-GB" sz="1800">
              <a:ea typeface="+mn-lt"/>
              <a:cs typeface="+mn-lt"/>
            </a:endParaRP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Its core novelty is the implementation of a terminal-phase IIR seeker emulator on fully indigenous hardware, eliminating reliance on foreign black-box CPUs/GPUs and the security risks they pose.</a:t>
            </a: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Rather than simply running software on a processor, we use a hybrid architecture where the FPGA handles parallel pixel-level tasks, freeing the SHAKTI core for high-level processing — enabling real-time performance.</a:t>
            </a: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Unlike proprietary military systems, our emulator is modular and adaptable, allowing repurposing for civilian and security applications like drone navigation, border surveillance, precision agriculture, and disaster relief.</a:t>
            </a: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r>
              <a:rPr lang="en-US" sz="1800">
                <a:ea typeface="+mn-lt"/>
                <a:cs typeface="+mn-lt"/>
              </a:rPr>
              <a:t>The project provides a low-cost, indigenous compute platform for thermal-guided systems, enabling scalable deployment by Indian MSMEs under Make in India and </a:t>
            </a:r>
            <a:r>
              <a:rPr lang="en-US" sz="1800" err="1">
                <a:ea typeface="+mn-lt"/>
                <a:cs typeface="+mn-lt"/>
              </a:rPr>
              <a:t>iDEX</a:t>
            </a:r>
            <a:r>
              <a:rPr lang="en-US" sz="1800">
                <a:ea typeface="+mn-lt"/>
                <a:cs typeface="+mn-lt"/>
              </a:rPr>
              <a:t> (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Innovations for 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Defence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 Excellence</a:t>
            </a:r>
            <a:r>
              <a:rPr lang="en-US" sz="1800">
                <a:ea typeface="+mn-lt"/>
                <a:cs typeface="+mn-lt"/>
              </a:rPr>
              <a:t>) , ideal for disposable military use.</a:t>
            </a:r>
          </a:p>
          <a:p>
            <a:pPr indent="0">
              <a:spcBef>
                <a:spcPts val="1600"/>
              </a:spcBef>
              <a:spcAft>
                <a:spcPts val="500"/>
              </a:spcAft>
              <a:buNone/>
            </a:pPr>
            <a:endParaRPr lang="en-US" sz="1800">
              <a:ea typeface="+mn-lt"/>
              <a:cs typeface="+mn-lt"/>
            </a:endParaRP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 sz="1800">
              <a:ea typeface="+mn-lt"/>
              <a:cs typeface="+mn-lt"/>
            </a:endParaRPr>
          </a:p>
          <a:p>
            <a:pPr>
              <a:spcBef>
                <a:spcPts val="1600"/>
              </a:spcBef>
              <a:spcAft>
                <a:spcPts val="500"/>
              </a:spcAft>
              <a:buFont typeface="Arial,Sans-Serif"/>
              <a:buChar char="•"/>
            </a:pPr>
            <a:endParaRPr lang="en-US" sz="1600">
              <a:ea typeface="+mn-lt"/>
              <a:cs typeface="+mn-lt"/>
            </a:endParaRPr>
          </a:p>
          <a:p>
            <a:pPr>
              <a:spcBef>
                <a:spcPts val="1600"/>
              </a:spcBef>
              <a:spcAft>
                <a:spcPts val="500"/>
              </a:spcAft>
              <a:buFont typeface="Arial"/>
              <a:buChar char="•"/>
            </a:pPr>
            <a:endParaRPr lang="en-US" sz="1800">
              <a:ea typeface="+mn-lt"/>
              <a:cs typeface="+mn-lt"/>
            </a:endParaRPr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"/>
              <a:buChar char="•"/>
            </a:pPr>
            <a:endParaRPr lang="en-US" sz="1800"/>
          </a:p>
          <a:p>
            <a:pPr marL="514350" indent="-285750">
              <a:spcBef>
                <a:spcPts val="1600"/>
              </a:spcBef>
              <a:spcAft>
                <a:spcPts val="500"/>
              </a:spcAft>
              <a:buFont typeface="Arial"/>
              <a:buChar char="•"/>
            </a:pPr>
            <a:endParaRPr lang="en-US" sz="1800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0DDA8830-8691-11C7-8698-29B89226C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43DE853D-715B-A2F2-0B44-7B6661614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E1703-0E5D-0FED-51FD-2D225E3EF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5B53F747-D6D9-0920-423A-1B779BE22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14A9A-C85F-FCAE-0016-6C5022B8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584" y="457737"/>
            <a:ext cx="7056935" cy="748959"/>
          </a:xfrm>
        </p:spPr>
        <p:txBody>
          <a:bodyPr anchor="b">
            <a:normAutofit/>
          </a:bodyPr>
          <a:lstStyle/>
          <a:p>
            <a:r>
              <a:rPr lang="en-US" sz="3600" b="1">
                <a:latin typeface="Aptos"/>
              </a:rPr>
              <a:t>Proposed Approach</a:t>
            </a:r>
            <a:endParaRPr lang="en-GB" sz="3600" b="1">
              <a:latin typeface="Aptos"/>
            </a:endParaRP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1B57AF26-DD80-D7D2-1F9B-05D255C5B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42364F83-8AAE-8DA8-3EFE-A17E1CDC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643E-AFC2-ED0A-7976-57CEEB3D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736" y="2197148"/>
            <a:ext cx="10506529" cy="24637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000"/>
              <a:t>Our goal is to guide a </a:t>
            </a:r>
            <a:r>
              <a:rPr lang="en-GB" sz="2000" b="1"/>
              <a:t>"Fire &amp; Forget"</a:t>
            </a:r>
            <a:r>
              <a:rPr lang="en-GB" sz="2000"/>
              <a:t> ballistic missile in its terminal phase (after cruising stage to blast) towards its target. </a:t>
            </a:r>
          </a:p>
          <a:p>
            <a:r>
              <a:rPr lang="en-GB" sz="2000"/>
              <a:t>We take inputs from a camera (in Infra-Red spectrum) and use image-corelation algorithms to compute the shift in missile's heading.</a:t>
            </a:r>
          </a:p>
          <a:p>
            <a:r>
              <a:rPr lang="en-GB" sz="2000"/>
              <a:t>This can then be translated into the control signals that govern the missile's heading (yaw, pitch, roll, </a:t>
            </a:r>
            <a:r>
              <a:rPr lang="en-GB" sz="2000" err="1"/>
              <a:t>AoA</a:t>
            </a:r>
            <a:r>
              <a:rPr lang="en-GB" sz="2000"/>
              <a:t> (Angle of Attack), etc.).</a:t>
            </a:r>
            <a:endParaRPr lang="en-IN" sz="2000"/>
          </a:p>
          <a:p>
            <a:r>
              <a:rPr lang="en-GB" sz="2000"/>
              <a:t>We get additional information about heading from the inertial sensors mentioned above. </a:t>
            </a:r>
            <a:br>
              <a:rPr lang="en-GB" sz="1700"/>
            </a:br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53312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550886-A0E6-F7CC-B706-5FA53F23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DF9C2A50-3B1E-507B-4E1D-A0E694D8D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6A1D60C7-0493-326C-EA4F-609932E53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FEAB49E5-85BF-509B-220A-5A3C7D88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155694-CB00-DC18-FF6B-765948378050}"/>
              </a:ext>
            </a:extLst>
          </p:cNvPr>
          <p:cNvSpPr txBox="1"/>
          <p:nvPr/>
        </p:nvSpPr>
        <p:spPr>
          <a:xfrm>
            <a:off x="10855602" y="6070667"/>
            <a:ext cx="22910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Flow Chart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4DB47E-B2B0-D787-5490-AC852C5FD7B1}"/>
              </a:ext>
            </a:extLst>
          </p:cNvPr>
          <p:cNvGrpSpPr/>
          <p:nvPr/>
        </p:nvGrpSpPr>
        <p:grpSpPr>
          <a:xfrm>
            <a:off x="4202386" y="416030"/>
            <a:ext cx="3777085" cy="5672548"/>
            <a:chOff x="4202386" y="416030"/>
            <a:chExt cx="3777085" cy="567254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448B44D-7E3E-FF1C-1CEA-654ECAFF82A2}"/>
                </a:ext>
              </a:extLst>
            </p:cNvPr>
            <p:cNvGrpSpPr/>
            <p:nvPr/>
          </p:nvGrpSpPr>
          <p:grpSpPr>
            <a:xfrm>
              <a:off x="4202386" y="416030"/>
              <a:ext cx="3777085" cy="5672548"/>
              <a:chOff x="3798394" y="495819"/>
              <a:chExt cx="3777085" cy="567254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3DDC58-F888-F9B2-5F29-F33EDDAF5C32}"/>
                  </a:ext>
                </a:extLst>
              </p:cNvPr>
              <p:cNvSpPr/>
              <p:nvPr/>
            </p:nvSpPr>
            <p:spPr>
              <a:xfrm>
                <a:off x="3798394" y="495819"/>
                <a:ext cx="2964355" cy="72338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LWIR Sensor </a:t>
                </a:r>
              </a:p>
              <a:p>
                <a:r>
                  <a:rPr lang="en-US" sz="1400"/>
                  <a:t>Captures images continuously.</a:t>
                </a:r>
                <a:endParaRPr lang="en-IN" sz="24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724D31-7B36-F7CD-8C96-75DA7275FFAC}"/>
                  </a:ext>
                </a:extLst>
              </p:cNvPr>
              <p:cNvSpPr/>
              <p:nvPr/>
            </p:nvSpPr>
            <p:spPr>
              <a:xfrm>
                <a:off x="3798394" y="2051467"/>
                <a:ext cx="2964355" cy="72338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Image Processing Block</a:t>
                </a:r>
              </a:p>
              <a:p>
                <a:r>
                  <a:rPr lang="en-IN" sz="1400"/>
                  <a:t>Does contrast enhancements and other image preprocessing. 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212EB6ED-CF19-0210-08DD-A9274B494177}"/>
                  </a:ext>
                </a:extLst>
              </p:cNvPr>
              <p:cNvCxnSpPr>
                <a:cxnSpLocks/>
                <a:stCxn id="2" idx="2"/>
                <a:endCxn id="3" idx="0"/>
              </p:cNvCxnSpPr>
              <p:nvPr/>
            </p:nvCxnSpPr>
            <p:spPr>
              <a:xfrm>
                <a:off x="5280572" y="1219200"/>
                <a:ext cx="0" cy="8322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41859F29-AA64-F27E-58B7-706E6EDAA55B}"/>
                  </a:ext>
                </a:extLst>
              </p:cNvPr>
              <p:cNvSpPr txBox="1"/>
              <p:nvPr/>
            </p:nvSpPr>
            <p:spPr>
              <a:xfrm>
                <a:off x="5274153" y="1477757"/>
                <a:ext cx="2301326" cy="30777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/>
                  <a:t>SPI and I2C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A8E440C-E846-CEE1-7D68-F2C9C9CD56BB}"/>
                  </a:ext>
                </a:extLst>
              </p:cNvPr>
              <p:cNvCxnSpPr>
                <a:cxnSpLocks/>
                <a:stCxn id="3" idx="2"/>
                <a:endCxn id="11" idx="0"/>
              </p:cNvCxnSpPr>
              <p:nvPr/>
            </p:nvCxnSpPr>
            <p:spPr>
              <a:xfrm>
                <a:off x="5280572" y="2774848"/>
                <a:ext cx="1" cy="8092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53B6F6E-B07D-E884-6170-DC6D617EFAEE}"/>
                  </a:ext>
                </a:extLst>
              </p:cNvPr>
              <p:cNvSpPr/>
              <p:nvPr/>
            </p:nvSpPr>
            <p:spPr>
              <a:xfrm>
                <a:off x="3798395" y="3584116"/>
                <a:ext cx="2964355" cy="100298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Shakti CPU</a:t>
                </a:r>
              </a:p>
              <a:p>
                <a:r>
                  <a:rPr lang="en-IN" sz="1400"/>
                  <a:t>Calculates the error and its correction based on thermal images and inertial data.</a:t>
                </a:r>
              </a:p>
            </p:txBody>
          </p:sp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49B529DD-1E6D-9BF4-845D-5B73CAC6DBAE}"/>
                  </a:ext>
                </a:extLst>
              </p:cNvPr>
              <p:cNvSpPr txBox="1"/>
              <p:nvPr/>
            </p:nvSpPr>
            <p:spPr>
              <a:xfrm>
                <a:off x="5280572" y="3045352"/>
                <a:ext cx="5335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/>
                  <a:t>AXI4</a:t>
                </a:r>
                <a:endParaRPr lang="en-IN" sz="12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68A9BE2-AD67-DA9F-0ED2-8F2772FADA8B}"/>
                  </a:ext>
                </a:extLst>
              </p:cNvPr>
              <p:cNvSpPr/>
              <p:nvPr/>
            </p:nvSpPr>
            <p:spPr>
              <a:xfrm>
                <a:off x="3798394" y="5165382"/>
                <a:ext cx="2964355" cy="100298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Flight Controller</a:t>
                </a:r>
              </a:p>
              <a:p>
                <a:r>
                  <a:rPr lang="en-IN" sz="1400"/>
                  <a:t>Control signals are received from Shakti CPU which are then actuated by flight controller.</a:t>
                </a:r>
              </a:p>
            </p:txBody>
          </p:sp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465E4D5-1D68-CC0C-2BB1-E4A3A5FAE2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84564" y="4507312"/>
              <a:ext cx="1" cy="578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850412F2-A3F1-2A3D-8EEE-591BFC6932AF}"/>
                </a:ext>
              </a:extLst>
            </p:cNvPr>
            <p:cNvSpPr txBox="1"/>
            <p:nvPr/>
          </p:nvSpPr>
          <p:spPr>
            <a:xfrm>
              <a:off x="5678145" y="4650668"/>
              <a:ext cx="7168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/>
                <a:t>SPI</a:t>
              </a:r>
              <a:r>
                <a:rPr lang="en-US" sz="1200"/>
                <a:t>/I2C</a:t>
              </a:r>
              <a:endParaRPr lang="en-IN" sz="1200"/>
            </a:p>
          </p:txBody>
        </p:sp>
      </p:grpSp>
    </p:spTree>
    <p:extLst>
      <p:ext uri="{BB962C8B-B14F-4D97-AF65-F5344CB8AC3E}">
        <p14:creationId xmlns:p14="http://schemas.microsoft.com/office/powerpoint/2010/main" val="3467898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85D27-471C-D072-BEEF-B6C461CF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67A0A4E5-5142-CF45-02E2-2C989196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9BF33648-F96A-5968-9A14-45592C79F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C006B-6A7F-A3D2-C9C8-2FEEBCF83889}"/>
              </a:ext>
            </a:extLst>
          </p:cNvPr>
          <p:cNvSpPr txBox="1"/>
          <p:nvPr/>
        </p:nvSpPr>
        <p:spPr>
          <a:xfrm>
            <a:off x="10513254" y="6037537"/>
            <a:ext cx="22910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Block Diagram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D9C6AE-6F54-6C8D-340B-7B46DE9BD6DD}"/>
              </a:ext>
            </a:extLst>
          </p:cNvPr>
          <p:cNvGrpSpPr/>
          <p:nvPr/>
        </p:nvGrpSpPr>
        <p:grpSpPr>
          <a:xfrm>
            <a:off x="749595" y="1260710"/>
            <a:ext cx="10075493" cy="4336579"/>
            <a:chOff x="-678899" y="451940"/>
            <a:chExt cx="13255823" cy="572094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E5294E5-46A6-625F-D697-EDB15683910A}"/>
                </a:ext>
              </a:extLst>
            </p:cNvPr>
            <p:cNvSpPr/>
            <p:nvPr/>
          </p:nvSpPr>
          <p:spPr>
            <a:xfrm>
              <a:off x="6231865" y="451940"/>
              <a:ext cx="2743200" cy="1371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Inertial Measurement Unit</a:t>
              </a:r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9653B2-64B9-1B9A-05DF-5A7F537D377E}"/>
                </a:ext>
              </a:extLst>
            </p:cNvPr>
            <p:cNvSpPr/>
            <p:nvPr/>
          </p:nvSpPr>
          <p:spPr>
            <a:xfrm>
              <a:off x="-678899" y="1495367"/>
              <a:ext cx="2743200" cy="13715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LWIR Sensor</a:t>
              </a:r>
              <a:endParaRPr lang="en-IN" sz="240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6E2541F-20FA-0207-7CEC-08C349CB5F31}"/>
                </a:ext>
              </a:extLst>
            </p:cNvPr>
            <p:cNvGrpSpPr/>
            <p:nvPr/>
          </p:nvGrpSpPr>
          <p:grpSpPr>
            <a:xfrm>
              <a:off x="2876473" y="2727387"/>
              <a:ext cx="6439054" cy="3445495"/>
              <a:chOff x="4381349" y="2527511"/>
              <a:chExt cx="6439054" cy="344549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0332760-20DE-2482-A1A7-B66D866B4741}"/>
                  </a:ext>
                </a:extLst>
              </p:cNvPr>
              <p:cNvSpPr/>
              <p:nvPr/>
            </p:nvSpPr>
            <p:spPr>
              <a:xfrm>
                <a:off x="4381349" y="2527511"/>
                <a:ext cx="6439054" cy="344549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2400"/>
                  <a:t>FPGA FABRIC</a:t>
                </a:r>
                <a:endParaRPr lang="en-IN" sz="24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5EA2E7-DE1B-8179-452A-1B6AE72B1DBA}"/>
                  </a:ext>
                </a:extLst>
              </p:cNvPr>
              <p:cNvSpPr/>
              <p:nvPr/>
            </p:nvSpPr>
            <p:spPr>
              <a:xfrm>
                <a:off x="5044440" y="3651213"/>
                <a:ext cx="2208314" cy="118872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Custom Image Processing IP</a:t>
                </a:r>
                <a:endParaRPr lang="en-IN" sz="160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AC6A27E-2771-CED7-BE95-81E4DE976E99}"/>
                  </a:ext>
                </a:extLst>
              </p:cNvPr>
              <p:cNvSpPr/>
              <p:nvPr/>
            </p:nvSpPr>
            <p:spPr>
              <a:xfrm>
                <a:off x="8056781" y="3651213"/>
                <a:ext cx="2103120" cy="118872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Shakti CPU</a:t>
                </a:r>
                <a:endParaRPr lang="en-IN" sz="240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D4FD8B-7FFD-94AE-D948-75DF9C98E5EF}"/>
                </a:ext>
              </a:extLst>
            </p:cNvPr>
            <p:cNvSpPr/>
            <p:nvPr/>
          </p:nvSpPr>
          <p:spPr>
            <a:xfrm>
              <a:off x="10510612" y="3759649"/>
              <a:ext cx="2066312" cy="13715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Flight Controller</a:t>
              </a:r>
              <a:endParaRPr lang="en-IN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88B8311-6DC3-4F3F-6FD9-632762946884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65" y="1823540"/>
              <a:ext cx="0" cy="20275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E72092-4EF0-B11E-078D-ACC3F2BD0381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634464" y="4287864"/>
            <a:ext cx="6111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FBF189-85EE-01E7-42AA-B1486A0F8DA3}"/>
              </a:ext>
            </a:extLst>
          </p:cNvPr>
          <p:cNvCxnSpPr>
            <a:cxnSpLocks/>
            <a:stCxn id="22" idx="3"/>
            <a:endCxn id="6" idx="1"/>
          </p:cNvCxnSpPr>
          <p:nvPr/>
        </p:nvCxnSpPr>
        <p:spPr>
          <a:xfrm>
            <a:off x="7844130" y="4287864"/>
            <a:ext cx="1410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609B245-EAAB-01B4-A8E2-ECF99465906B}"/>
              </a:ext>
            </a:extLst>
          </p:cNvPr>
          <p:cNvCxnSpPr>
            <a:cxnSpLocks/>
          </p:cNvCxnSpPr>
          <p:nvPr/>
        </p:nvCxnSpPr>
        <p:spPr>
          <a:xfrm>
            <a:off x="2853133" y="2551194"/>
            <a:ext cx="3745718" cy="12929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45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0275E7-C5E6-90B6-EC05-D15254274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F79F94AC-C097-33B3-9224-C5DBC6793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E5384B92-F9CC-7121-9F0A-3C89EF7D5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EF8517-7EDA-B9EA-9EBE-1D39357F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14" y="4597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>
                <a:ea typeface="+mj-lt"/>
                <a:cs typeface="+mj-lt"/>
              </a:rPr>
              <a:t>Project Milestones Overview</a:t>
            </a:r>
            <a:endParaRPr lang="en-US" sz="4000" b="1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4E1804D-834B-DC49-EBFE-A38B9D422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4" y="1367105"/>
            <a:ext cx="3441123" cy="4983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b="1"/>
              <a:t>Milestone 1: MVP (Due 24th Oct 2025)</a:t>
            </a:r>
          </a:p>
          <a:p>
            <a:pPr marL="0" indent="0">
              <a:buNone/>
            </a:pPr>
            <a:r>
              <a:rPr lang="en-GB" sz="1600"/>
              <a:t>Goal: Basic Image Capture &amp; Processing Pipeline</a:t>
            </a:r>
            <a:endParaRPr lang="en-US" sz="1600"/>
          </a:p>
          <a:p>
            <a:pPr marL="285750" indent="-285750"/>
            <a:r>
              <a:rPr lang="en-GB" sz="1600"/>
              <a:t>Environment setup for Artix-7 FPGA &amp; SHAKTI RISC-V</a:t>
            </a:r>
          </a:p>
          <a:p>
            <a:pPr marL="285750" indent="-285750"/>
            <a:r>
              <a:rPr lang="en-GB" sz="1600"/>
              <a:t>Interface LWIR sensor to capture single thermal frame</a:t>
            </a:r>
          </a:p>
          <a:p>
            <a:pPr marL="285750" indent="-285750"/>
            <a:r>
              <a:rPr lang="en-GB" sz="1600"/>
              <a:t>Verilog logic for frame transfer to SHAKTI soft-core</a:t>
            </a:r>
          </a:p>
          <a:p>
            <a:pPr marL="285750" indent="-285750"/>
            <a:r>
              <a:rPr lang="en-GB" sz="1600"/>
              <a:t>C/C++ matching algorithm detects predefined target</a:t>
            </a:r>
          </a:p>
          <a:p>
            <a:pPr marL="0" indent="0">
              <a:buNone/>
            </a:pPr>
            <a:r>
              <a:rPr lang="en-GB" sz="1600" b="1"/>
              <a:t>Deliverables</a:t>
            </a:r>
            <a:r>
              <a:rPr lang="en-GB" sz="1600"/>
              <a:t>:</a:t>
            </a:r>
          </a:p>
          <a:p>
            <a:pPr marL="285750" indent="-285750"/>
            <a:r>
              <a:rPr lang="en-GB" sz="1600"/>
              <a:t>Live image via SHAKTI serial output</a:t>
            </a:r>
          </a:p>
          <a:p>
            <a:pPr marL="285750" indent="-285750"/>
            <a:r>
              <a:rPr lang="en-GB" sz="1600"/>
              <a:t>“MATCH FOUND” result + coordinates</a:t>
            </a:r>
          </a:p>
          <a:p>
            <a:pPr marL="0" indent="0">
              <a:buNone/>
            </a:pPr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BB156-A1B5-F714-E699-279F9AC2B52E}"/>
              </a:ext>
            </a:extLst>
          </p:cNvPr>
          <p:cNvSpPr txBox="1"/>
          <p:nvPr/>
        </p:nvSpPr>
        <p:spPr>
          <a:xfrm>
            <a:off x="4120902" y="1368547"/>
            <a:ext cx="3635086" cy="5197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Milestone 2: PoC (Due 25th Dec 2025)</a:t>
            </a:r>
            <a:endParaRPr lang="en-US" sz="1600" b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/>
              <a:t>Goal: Real-time Video Processing Pipeline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Continuous thermal video stream(&gt;10 FPS)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FPGA IP: contrast, filtering, edge detection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Real-time target detection (NCC) +IMU interfacing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Deliverables:</a:t>
            </a:r>
            <a:endParaRPr lang="en-US" sz="16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Processed video on monitor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LED indicator for “TARGET LOCKED”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Serial output: error vector + IMU data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Source code (FPGA + SHAKTI)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600"/>
          </a:p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FCFDB6-87BF-3E32-45A1-2FA3701CF5B0}"/>
              </a:ext>
            </a:extLst>
          </p:cNvPr>
          <p:cNvSpPr txBox="1"/>
          <p:nvPr/>
        </p:nvSpPr>
        <p:spPr>
          <a:xfrm>
            <a:off x="8113980" y="1289790"/>
            <a:ext cx="3635085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+mn-lt"/>
                <a:cs typeface="+mn-lt"/>
              </a:rPr>
              <a:t>Milestone 3: Final Demo (Due 20th Apr 2026)</a:t>
            </a:r>
            <a:endParaRPr lang="en-US" sz="1600" b="1"/>
          </a:p>
          <a:p>
            <a:r>
              <a:rPr lang="en-GB" sz="1600">
                <a:ea typeface="+mn-lt"/>
                <a:cs typeface="+mn-lt"/>
              </a:rPr>
              <a:t>Goal: Full Guidance System with Live Target Tracking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Image + IMU fused for control commands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Robustness to occlusions &amp; reacquisition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Real-time bounding box + command output</a:t>
            </a:r>
            <a:endParaRPr lang="en-GB" sz="1600"/>
          </a:p>
          <a:p>
            <a:endParaRPr lang="en-GB" sz="1600"/>
          </a:p>
          <a:p>
            <a:r>
              <a:rPr lang="en-GB" sz="1600" b="1">
                <a:ea typeface="+mn-lt"/>
                <a:cs typeface="+mn-lt"/>
              </a:rPr>
              <a:t>Deliverables:</a:t>
            </a:r>
            <a:endParaRPr lang="en-GB" sz="1600" b="1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Working prototype on test stand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Live demo with target lock &amp; recovery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Guidance commands (e.g., YAW_RIGHT: 3.2°)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 Final report + code + demo video</a:t>
            </a:r>
            <a:endParaRPr lang="en-GB" sz="1600"/>
          </a:p>
          <a:p>
            <a:pPr algn="l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0407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8DEF8-C1A0-F5DC-93C4-2DD33F26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2CDAC65D-4B6F-5989-D9B4-383CD242D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F1AFA15-6AA5-B64D-6A83-85A9D6216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F1159A9-820E-5525-263A-3B21E42F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554"/>
            <a:ext cx="10515600" cy="926422"/>
          </a:xfrm>
        </p:spPr>
        <p:txBody>
          <a:bodyPr>
            <a:normAutofit/>
          </a:bodyPr>
          <a:lstStyle/>
          <a:p>
            <a:r>
              <a:rPr lang="en-IN" sz="4000" b="1"/>
              <a:t>Business Potential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8E4F60-B65B-A830-45DE-E875C371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709" y="1407273"/>
            <a:ext cx="10865116" cy="446392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Large and Growing Global PGM Market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The global PGM market is valued at USD 35–38 billion today, rising to USD 50–55 billion by 2030, with consistent CAGR around 5–6%</a:t>
            </a:r>
            <a:endParaRPr lang="en-US" sz="1600"/>
          </a:p>
          <a:p>
            <a:pPr>
              <a:spcAft>
                <a:spcPts val="200"/>
              </a:spcAft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Substantial Indian </a:t>
            </a:r>
            <a:r>
              <a:rPr lang="en-US" sz="1600" b="1" err="1">
                <a:ea typeface="+mn-lt"/>
                <a:cs typeface="+mn-lt"/>
              </a:rPr>
              <a:t>Defence</a:t>
            </a:r>
            <a:r>
              <a:rPr lang="en-US" sz="1600" b="1">
                <a:ea typeface="+mn-lt"/>
                <a:cs typeface="+mn-lt"/>
              </a:rPr>
              <a:t> Funding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India’s </a:t>
            </a:r>
            <a:r>
              <a:rPr lang="en-US" sz="1600" err="1">
                <a:ea typeface="+mn-lt"/>
                <a:cs typeface="+mn-lt"/>
              </a:rPr>
              <a:t>defence</a:t>
            </a:r>
            <a:r>
              <a:rPr lang="en-US" sz="1600">
                <a:ea typeface="+mn-lt"/>
                <a:cs typeface="+mn-lt"/>
              </a:rPr>
              <a:t> budget is ₹6.81 trillion (~USD 78 B) for FY 2025–26, with ₹1.8 trillion (~26%) dedicated to modernization and procurement</a:t>
            </a:r>
          </a:p>
          <a:p>
            <a:pPr>
              <a:spcAft>
                <a:spcPts val="200"/>
              </a:spcAft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Strong Push for Domestic Procurement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The government has earmarked 75% of </a:t>
            </a:r>
            <a:r>
              <a:rPr lang="en-US" sz="1600" err="1">
                <a:ea typeface="+mn-lt"/>
                <a:cs typeface="+mn-lt"/>
              </a:rPr>
              <a:t>modernisation</a:t>
            </a:r>
            <a:r>
              <a:rPr lang="en-US" sz="1600">
                <a:ea typeface="+mn-lt"/>
                <a:cs typeface="+mn-lt"/>
              </a:rPr>
              <a:t> capital (~₹1.11 lakh crore) exclusively for domestic sourcing, reinforcing self-reliance goals </a:t>
            </a:r>
          </a:p>
          <a:p>
            <a:pPr>
              <a:spcAft>
                <a:spcPts val="200"/>
              </a:spcAft>
              <a:buFont typeface="Arial"/>
              <a:buChar char="•"/>
            </a:pPr>
            <a:endParaRPr lang="en-US" sz="1600">
              <a:ea typeface="+mn-lt"/>
              <a:cs typeface="+mn-lt"/>
            </a:endParaRPr>
          </a:p>
          <a:p>
            <a:pPr>
              <a:spcAft>
                <a:spcPts val="200"/>
              </a:spcAft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 Export Potential via ITAR-Free, Sensor‑Agnostic Design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 As defense exports rise toward USD 6 billion by 2029, an indigenous compute-and-guidance platform built on open Indian standards unlocks opportunities in friendly markets across Asia, Africa, and Latin America </a:t>
            </a:r>
            <a:endParaRPr lang="en-US" sz="1600"/>
          </a:p>
          <a:p>
            <a:pPr>
              <a:spcAft>
                <a:spcPts val="200"/>
              </a:spcAft>
              <a:buNone/>
            </a:pP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366741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437A2-7233-91F1-816A-E08B96E1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5B384FBE-11EC-5ED9-AD93-8FE3313E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608148D-B454-A2B7-3AA2-A7D5ECDEE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85BE344-A7CC-73F7-C17B-28AC7196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57" y="-11566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/>
              <a:t> </a:t>
            </a:r>
            <a:r>
              <a:rPr lang="en-IN" sz="3200" b="1"/>
              <a:t>Implementation strategy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533FDC5-6D25-810B-2EAE-ADC9BF28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58" y="972911"/>
            <a:ext cx="11540671" cy="52040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450" b="1"/>
              <a:t>Target Market / Initial Application</a:t>
            </a:r>
            <a:endParaRPr lang="en-US" sz="1450"/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/>
              <a:t>The solution is aimed at key stakeholders in the Indian </a:t>
            </a:r>
            <a:r>
              <a:rPr lang="en-US" sz="1450" err="1"/>
              <a:t>defence</a:t>
            </a:r>
            <a:r>
              <a:rPr lang="en-US" sz="1450"/>
              <a:t> ecosystem, including DRDO labs, the armed forces, and private defense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/>
              <a:t>Manufacturers. The initial application </a:t>
            </a:r>
            <a:r>
              <a:rPr lang="en-US" sz="1450">
                <a:ea typeface="+mn-lt"/>
                <a:cs typeface="+mn-lt"/>
              </a:rPr>
              <a:t>focuses on expendable compute modules for UAVs, loitering munitions, and training munitions, 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where cost-efficiency is critical.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lang="en-US" sz="145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 b="1">
                <a:ea typeface="+mn-lt"/>
                <a:cs typeface="+mn-lt"/>
              </a:rPr>
              <a:t>Go-to-Market Approach</a:t>
            </a:r>
          </a:p>
          <a:p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We plan to engage with DRDO and BEL through initiatives like </a:t>
            </a:r>
            <a:r>
              <a:rPr lang="en-US" sz="1450" err="1">
                <a:ea typeface="+mn-lt"/>
                <a:cs typeface="+mn-lt"/>
              </a:rPr>
              <a:t>iDEX</a:t>
            </a:r>
            <a:r>
              <a:rPr lang="en-US" sz="1450">
                <a:ea typeface="+mn-lt"/>
                <a:cs typeface="+mn-lt"/>
              </a:rPr>
              <a:t> and TDF to support early-stage development and validation, while</a:t>
            </a:r>
          </a:p>
          <a:p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partnerships with Indian MSMEs will enable manufacturing and field deployment, positioning the product as a cost-effective alternative</a:t>
            </a:r>
          </a:p>
          <a:p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to imported compute boards.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lang="en-US" sz="145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 b="1">
                <a:ea typeface="+mn-lt"/>
                <a:cs typeface="+mn-lt"/>
              </a:rPr>
              <a:t>IP &amp; Licensing</a:t>
            </a:r>
            <a:endParaRPr lang="en-US" sz="145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Our architecture is modular and reusable — it can be licensed to defense manufacturers or spun off into a startup. We're also open to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joint development and integration with existing seeker/guidance platforms.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lang="en-US" sz="1450">
              <a:ea typeface="+mn-lt"/>
              <a:cs typeface="+mn-lt"/>
            </a:endParaRPr>
          </a:p>
          <a:p>
            <a:pPr>
              <a:buNone/>
            </a:pPr>
            <a:r>
              <a:rPr lang="en-US" sz="1450" b="1">
                <a:ea typeface="+mn-lt"/>
                <a:cs typeface="+mn-lt"/>
              </a:rPr>
              <a:t>Prototype &amp; Pilot Phase</a:t>
            </a:r>
            <a:endParaRPr lang="en-US" sz="145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We'll prototype the system using SHAKTI/VEGA processors, followed by testing in simulated UAV or missile environments to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demonstrate real-time performance and robustness.</a:t>
            </a:r>
            <a:endParaRPr lang="en-US" sz="1450"/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lang="en-US" sz="1450"/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450" b="1">
                <a:ea typeface="+mn-lt"/>
                <a:cs typeface="+mn-lt"/>
              </a:rPr>
              <a:t>Scaling Strategy</a:t>
            </a:r>
            <a:endParaRPr lang="en-US" sz="145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Once validated, we plan to scale through MSME manufacturing under Make in India. In the future, the same platform can be adapted for</a:t>
            </a:r>
          </a:p>
          <a:p>
            <a:pPr>
              <a:lnSpc>
                <a:spcPct val="110000"/>
              </a:lnSpc>
              <a:spcBef>
                <a:spcPts val="200"/>
              </a:spcBef>
              <a:buNone/>
            </a:pPr>
            <a:r>
              <a:rPr lang="en-US" sz="1450">
                <a:ea typeface="+mn-lt"/>
                <a:cs typeface="+mn-lt"/>
              </a:rPr>
              <a:t>civilian drone-based applications such as disaster response, border monitoring, and surveillance.</a:t>
            </a:r>
            <a:endParaRPr lang="en-US" sz="1450"/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endParaRPr lang="en-US" sz="1450"/>
          </a:p>
        </p:txBody>
      </p:sp>
    </p:spTree>
    <p:extLst>
      <p:ext uri="{BB962C8B-B14F-4D97-AF65-F5344CB8AC3E}">
        <p14:creationId xmlns:p14="http://schemas.microsoft.com/office/powerpoint/2010/main" val="79404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F348C-C11D-2ED5-CB23-9B22A594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51B30C1-B5A7-49F9-359E-A99DDB13D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Review Meeting 2</a:t>
            </a:r>
            <a:endParaRPr lang="en-I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0110E4B-D431-D253-3D3D-54E2476317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/>
              <a:t>20 December 2025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09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EAD1-F096-8051-2D2F-FD7BC21F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Action Points discussed in last meeting	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16DE-18AB-44AC-7009-62065D5E1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b="1"/>
              <a:t>Communication Protocols:</a:t>
            </a:r>
          </a:p>
          <a:p>
            <a:pPr lvl="1"/>
            <a:r>
              <a:rPr lang="en-IN"/>
              <a:t>Flight Controller Module</a:t>
            </a:r>
          </a:p>
          <a:p>
            <a:pPr lvl="1"/>
            <a:r>
              <a:rPr lang="en-IN"/>
              <a:t>LWIR Camera </a:t>
            </a:r>
          </a:p>
          <a:p>
            <a:r>
              <a:rPr lang="en-IN" b="1"/>
              <a:t>LUT Usage Optimization:</a:t>
            </a:r>
          </a:p>
          <a:p>
            <a:pPr lvl="1"/>
            <a:r>
              <a:rPr lang="en-IN"/>
              <a:t>Image Processing IP LUT Utilization</a:t>
            </a:r>
          </a:p>
          <a:p>
            <a:pPr lvl="1"/>
            <a:r>
              <a:rPr lang="en-IN"/>
              <a:t>Shakti SOC Peripheral Optimization</a:t>
            </a:r>
          </a:p>
          <a:p>
            <a:r>
              <a:rPr lang="en-GB" b="1"/>
              <a:t>Code Showcase:</a:t>
            </a:r>
          </a:p>
          <a:p>
            <a:pPr lvl="1"/>
            <a:r>
              <a:rPr lang="en-GB"/>
              <a:t>Shakti  Embedded Application</a:t>
            </a:r>
          </a:p>
          <a:p>
            <a:pPr lvl="1"/>
            <a:r>
              <a:rPr lang="en-GB"/>
              <a:t>Image Processing IP </a:t>
            </a:r>
          </a:p>
          <a:p>
            <a:pPr marL="0" indent="0">
              <a:buNone/>
            </a:pP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337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C844-29EB-3466-FD0B-1AE1BB3B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C9B0F-88DA-152E-A1F8-53AC04AB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Custom Image Processing IP: </a:t>
            </a:r>
          </a:p>
          <a:p>
            <a:pPr lvl="1"/>
            <a:r>
              <a:rPr lang="en-US"/>
              <a:t>Implementation of NCC Algorithm without OpenCV in C++.</a:t>
            </a:r>
          </a:p>
          <a:p>
            <a:pPr lvl="1"/>
            <a:r>
              <a:rPr lang="en-US"/>
              <a:t>Conversion of C++ code to Verilog. (Manually)</a:t>
            </a:r>
          </a:p>
          <a:p>
            <a:pPr lvl="1"/>
            <a:r>
              <a:rPr lang="en-US"/>
              <a:t>Functional verification and debugging the Verilog Module.</a:t>
            </a:r>
          </a:p>
          <a:p>
            <a:pPr lvl="1"/>
            <a:r>
              <a:rPr lang="en-US"/>
              <a:t>Optimization on 2 grounds i.e. LUT usage and Parallel Execution.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865405-5D93-719F-AF10-981E564F4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" t="25524" r="1600" b="16345"/>
          <a:stretch>
            <a:fillRect/>
          </a:stretch>
        </p:blipFill>
        <p:spPr>
          <a:xfrm>
            <a:off x="381000" y="4206240"/>
            <a:ext cx="11430000" cy="15636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882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5141-9349-E70F-D5EF-E7E87E3D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2E0D-BDAE-88C8-A747-A805EE61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F1457-43D3-A656-A496-9705556CC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Custom Image Processing IP: Test Inputs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4" name="Picture 3" descr="A building with a tower in the background&#10;&#10;AI-generated content may be incorrect.">
            <a:extLst>
              <a:ext uri="{FF2B5EF4-FFF2-40B4-BE49-F238E27FC236}">
                <a16:creationId xmlns:a16="http://schemas.microsoft.com/office/drawing/2014/main" id="{1B39552A-9A4C-D8D4-D035-D1B3CC5B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19" y="2813756"/>
            <a:ext cx="3939116" cy="29943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 descr="A building with a window&#10;&#10;AI-generated content may be incorrect.">
            <a:extLst>
              <a:ext uri="{FF2B5EF4-FFF2-40B4-BE49-F238E27FC236}">
                <a16:creationId xmlns:a16="http://schemas.microsoft.com/office/drawing/2014/main" id="{35889EFE-7BFE-6E75-59B4-45A1C22DD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67" y="4563533"/>
            <a:ext cx="1223433" cy="1244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755841-24A3-1C27-901E-C3F1829FBBE8}"/>
              </a:ext>
            </a:extLst>
          </p:cNvPr>
          <p:cNvSpPr txBox="1"/>
          <p:nvPr/>
        </p:nvSpPr>
        <p:spPr>
          <a:xfrm>
            <a:off x="1982610" y="598663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298 x 224 Image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EB667-9B49-DF22-71DD-A3EF56303A0E}"/>
              </a:ext>
            </a:extLst>
          </p:cNvPr>
          <p:cNvSpPr txBox="1"/>
          <p:nvPr/>
        </p:nvSpPr>
        <p:spPr>
          <a:xfrm>
            <a:off x="5027082" y="599016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64x64 Template</a:t>
            </a:r>
            <a:endParaRPr lang="en-US"/>
          </a:p>
        </p:txBody>
      </p:sp>
      <p:pic>
        <p:nvPicPr>
          <p:cNvPr id="9" name="Picture 8" descr="A close-up of a building&#10;&#10;AI-generated content may be incorrect.">
            <a:extLst>
              <a:ext uri="{FF2B5EF4-FFF2-40B4-BE49-F238E27FC236}">
                <a16:creationId xmlns:a16="http://schemas.microsoft.com/office/drawing/2014/main" id="{A14A2A15-C58C-B1B3-B281-DED1BC05E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702" y="3108500"/>
            <a:ext cx="4698648" cy="2701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82C44E-87A3-B1FE-04C9-6E9A7B9F605D}"/>
              </a:ext>
            </a:extLst>
          </p:cNvPr>
          <p:cNvSpPr txBox="1"/>
          <p:nvPr/>
        </p:nvSpPr>
        <p:spPr>
          <a:xfrm>
            <a:off x="7768167" y="598311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(172,43) Top Left Coordinate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98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D575-FAEA-A25F-50FE-42C6A2CD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5772-1AEB-37B6-9157-5E474E15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88C7-A82B-715E-9708-96ADB9650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Custom Image Processing IP: Results</a:t>
            </a: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7E73BA5-E683-DE7A-AABA-4838AAD1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63" y="3429182"/>
            <a:ext cx="5926390" cy="14348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 descr="A green electronic board with red numbers and a display&#10;&#10;AI-generated content may be incorrect.">
            <a:extLst>
              <a:ext uri="{FF2B5EF4-FFF2-40B4-BE49-F238E27FC236}">
                <a16:creationId xmlns:a16="http://schemas.microsoft.com/office/drawing/2014/main" id="{3599B3A2-20BF-EFC8-B044-52D9AEBA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816" y="2774122"/>
            <a:ext cx="3862703" cy="32289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49D85A-6DF5-1CCB-8BBE-1895F759C677}"/>
              </a:ext>
            </a:extLst>
          </p:cNvPr>
          <p:cNvSpPr txBox="1"/>
          <p:nvPr/>
        </p:nvSpPr>
        <p:spPr>
          <a:xfrm>
            <a:off x="1679221" y="545394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Behavioral Simulation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CCEC0F-0C08-34AF-C284-8A3C3CF4A0E5}"/>
              </a:ext>
            </a:extLst>
          </p:cNvPr>
          <p:cNvSpPr txBox="1"/>
          <p:nvPr/>
        </p:nvSpPr>
        <p:spPr>
          <a:xfrm>
            <a:off x="6526389" y="6067777"/>
            <a:ext cx="47116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Result display using  7 segment display on Artix-7 FPGA</a:t>
            </a:r>
          </a:p>
        </p:txBody>
      </p:sp>
    </p:spTree>
    <p:extLst>
      <p:ext uri="{BB962C8B-B14F-4D97-AF65-F5344CB8AC3E}">
        <p14:creationId xmlns:p14="http://schemas.microsoft.com/office/powerpoint/2010/main" val="3607788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5233-1D02-52B5-1A9F-71D674329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Shakti Embedded Application:</a:t>
            </a:r>
          </a:p>
          <a:p>
            <a:pPr lvl="1"/>
            <a:r>
              <a:rPr lang="en-US"/>
              <a:t>Understanding and getting familiar with Shakti SDK. </a:t>
            </a:r>
          </a:p>
          <a:p>
            <a:pPr lvl="1"/>
            <a:r>
              <a:rPr lang="en-US"/>
              <a:t>Initial </a:t>
            </a:r>
            <a:r>
              <a:rPr lang="en-US" err="1"/>
              <a:t>FreeRTOS</a:t>
            </a:r>
            <a:r>
              <a:rPr lang="en-US"/>
              <a:t> application development with interrupts, other required peripherals and GPIOs. </a:t>
            </a:r>
          </a:p>
          <a:p>
            <a:pPr lvl="1"/>
            <a:r>
              <a:rPr lang="en-US"/>
              <a:t>Architecture design of the application.</a:t>
            </a:r>
          </a:p>
          <a:p>
            <a:pPr lvl="1"/>
            <a:r>
              <a:rPr lang="en-US"/>
              <a:t>Tasks implementation and Inter-Process communication setup.</a:t>
            </a:r>
          </a:p>
          <a:p>
            <a:pPr lvl="1"/>
            <a:r>
              <a:rPr lang="en-US"/>
              <a:t>Core logic implementation with PID controller for correction.</a:t>
            </a:r>
          </a:p>
          <a:p>
            <a:pPr marL="457200" lvl="1" indent="0">
              <a:buNone/>
            </a:pPr>
            <a:endParaRPr lang="en-US" sz="2800"/>
          </a:p>
          <a:p>
            <a:pPr lvl="1"/>
            <a:endParaRPr lang="en-US" sz="2800"/>
          </a:p>
          <a:p>
            <a:pPr lvl="1"/>
            <a:endParaRPr lang="en-US" sz="2800" b="1"/>
          </a:p>
          <a:p>
            <a:pPr lvl="1"/>
            <a:endParaRPr lang="en-IN" sz="28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24500C-34C4-33F4-CBEB-3BE364A60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684185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0DDD-37FA-A988-6DDC-50DBECC1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RTOS Application Architecture	</a:t>
            </a:r>
            <a:endParaRPr lang="en-IN" b="1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8B4F76F-20F7-C13B-08BB-35BFE1202E67}"/>
              </a:ext>
            </a:extLst>
          </p:cNvPr>
          <p:cNvGrpSpPr/>
          <p:nvPr/>
        </p:nvGrpSpPr>
        <p:grpSpPr>
          <a:xfrm>
            <a:off x="838200" y="1463675"/>
            <a:ext cx="10485248" cy="5029200"/>
            <a:chOff x="514949" y="454137"/>
            <a:chExt cx="11432066" cy="595605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269A0C9-FB1A-9169-968C-40F3E8E00DEB}"/>
                </a:ext>
              </a:extLst>
            </p:cNvPr>
            <p:cNvSpPr/>
            <p:nvPr/>
          </p:nvSpPr>
          <p:spPr>
            <a:xfrm>
              <a:off x="4687652" y="454137"/>
              <a:ext cx="1592433" cy="76104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LWIR Interface</a:t>
              </a:r>
              <a:endParaRPr lang="en-IN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7973A81-3502-FD1F-F5E5-A395B1842CDA}"/>
                </a:ext>
              </a:extLst>
            </p:cNvPr>
            <p:cNvSpPr/>
            <p:nvPr/>
          </p:nvSpPr>
          <p:spPr>
            <a:xfrm>
              <a:off x="514950" y="481961"/>
              <a:ext cx="1592433" cy="7610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LWIR Sensor</a:t>
              </a:r>
              <a:endParaRPr lang="en-IN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62FFB3E-E9BA-2BB4-AA39-2F41D0743FF9}"/>
                </a:ext>
              </a:extLst>
            </p:cNvPr>
            <p:cNvSpPr/>
            <p:nvPr/>
          </p:nvSpPr>
          <p:spPr>
            <a:xfrm>
              <a:off x="10084617" y="481961"/>
              <a:ext cx="1592433" cy="76104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Image Proc</a:t>
              </a:r>
              <a:r>
                <a:rPr lang="en-US" sz="1600"/>
                <a:t>essing</a:t>
              </a:r>
              <a:r>
                <a:rPr lang="en-US"/>
                <a:t> IP</a:t>
              </a:r>
              <a:endParaRPr lang="en-IN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69DBE0D-9272-12B0-4814-E07001C93AE6}"/>
                </a:ext>
              </a:extLst>
            </p:cNvPr>
            <p:cNvSpPr/>
            <p:nvPr/>
          </p:nvSpPr>
          <p:spPr>
            <a:xfrm>
              <a:off x="10084617" y="1969273"/>
              <a:ext cx="1592433" cy="76104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ISR</a:t>
              </a:r>
              <a:endParaRPr lang="en-IN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2C955C3-2F9D-8A14-7832-A68D4953830E}"/>
                </a:ext>
              </a:extLst>
            </p:cNvPr>
            <p:cNvCxnSpPr>
              <a:cxnSpLocks/>
              <a:stCxn id="65" idx="2"/>
              <a:endCxn id="69" idx="0"/>
            </p:cNvCxnSpPr>
            <p:nvPr/>
          </p:nvCxnSpPr>
          <p:spPr>
            <a:xfrm>
              <a:off x="10880834" y="2730322"/>
              <a:ext cx="0" cy="5893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B18C823-715B-CB51-E8D4-70690E223C13}"/>
                </a:ext>
              </a:extLst>
            </p:cNvPr>
            <p:cNvSpPr/>
            <p:nvPr/>
          </p:nvSpPr>
          <p:spPr>
            <a:xfrm>
              <a:off x="4687652" y="1888195"/>
              <a:ext cx="1592433" cy="76104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IMU Interface</a:t>
              </a:r>
              <a:endParaRPr lang="en-IN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5C19256-A024-39DE-E9E4-4BC2F5963C11}"/>
                </a:ext>
              </a:extLst>
            </p:cNvPr>
            <p:cNvSpPr/>
            <p:nvPr/>
          </p:nvSpPr>
          <p:spPr>
            <a:xfrm>
              <a:off x="4687652" y="3319697"/>
              <a:ext cx="1592433" cy="76104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imu_data_q</a:t>
              </a:r>
              <a:endParaRPr lang="en-IN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A691CB4-963A-508A-6A1F-E0F3DD3237B0}"/>
                </a:ext>
              </a:extLst>
            </p:cNvPr>
            <p:cNvSpPr/>
            <p:nvPr/>
          </p:nvSpPr>
          <p:spPr>
            <a:xfrm>
              <a:off x="10084617" y="3319697"/>
              <a:ext cx="1592433" cy="76104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co-</a:t>
              </a:r>
              <a:r>
                <a:rPr lang="en-US" err="1"/>
                <a:t>ord_q</a:t>
              </a:r>
              <a:endParaRPr lang="en-I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4F10484-C87F-8B81-A5FF-667CEF9DC94F}"/>
                </a:ext>
              </a:extLst>
            </p:cNvPr>
            <p:cNvSpPr/>
            <p:nvPr/>
          </p:nvSpPr>
          <p:spPr>
            <a:xfrm>
              <a:off x="7386134" y="4345643"/>
              <a:ext cx="1592433" cy="76104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Control Logic</a:t>
              </a:r>
              <a:endParaRPr lang="en-I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5C81527-D711-0804-4CEA-532EE50D91E3}"/>
                </a:ext>
              </a:extLst>
            </p:cNvPr>
            <p:cNvSpPr/>
            <p:nvPr/>
          </p:nvSpPr>
          <p:spPr>
            <a:xfrm>
              <a:off x="4687651" y="5649140"/>
              <a:ext cx="1592433" cy="76104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FC Interface</a:t>
              </a:r>
              <a:endParaRPr lang="en-I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EBA8BFE-1C11-E26E-D6C4-4ED6A7BD0250}"/>
                </a:ext>
              </a:extLst>
            </p:cNvPr>
            <p:cNvSpPr/>
            <p:nvPr/>
          </p:nvSpPr>
          <p:spPr>
            <a:xfrm>
              <a:off x="7386133" y="5649141"/>
              <a:ext cx="1592433" cy="76104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err="1"/>
                <a:t>flight_cmd_q</a:t>
              </a:r>
              <a:endParaRPr lang="en-IN"/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2259776-BE83-A07F-4BA5-3B62C8B8300D}"/>
                </a:ext>
              </a:extLst>
            </p:cNvPr>
            <p:cNvCxnSpPr>
              <a:cxnSpLocks/>
              <a:stCxn id="62" idx="2"/>
              <a:endCxn id="67" idx="0"/>
            </p:cNvCxnSpPr>
            <p:nvPr/>
          </p:nvCxnSpPr>
          <p:spPr>
            <a:xfrm>
              <a:off x="5483869" y="1215186"/>
              <a:ext cx="0" cy="6730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660456-4F75-1904-50E5-70EFFAF4EC61}"/>
                </a:ext>
              </a:extLst>
            </p:cNvPr>
            <p:cNvCxnSpPr>
              <a:cxnSpLocks/>
              <a:stCxn id="75" idx="3"/>
              <a:endCxn id="67" idx="1"/>
            </p:cNvCxnSpPr>
            <p:nvPr/>
          </p:nvCxnSpPr>
          <p:spPr>
            <a:xfrm>
              <a:off x="2107383" y="2268720"/>
              <a:ext cx="2580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C47FA3C-1F7C-FA86-C936-CC451048363E}"/>
                </a:ext>
              </a:extLst>
            </p:cNvPr>
            <p:cNvSpPr/>
            <p:nvPr/>
          </p:nvSpPr>
          <p:spPr>
            <a:xfrm>
              <a:off x="514950" y="1888195"/>
              <a:ext cx="1592433" cy="7610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IMU Sensor</a:t>
              </a:r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90C9160-1371-DC67-2BBC-5DDDE7D87C17}"/>
                </a:ext>
              </a:extLst>
            </p:cNvPr>
            <p:cNvCxnSpPr>
              <a:cxnSpLocks/>
              <a:stCxn id="63" idx="3"/>
              <a:endCxn id="62" idx="1"/>
            </p:cNvCxnSpPr>
            <p:nvPr/>
          </p:nvCxnSpPr>
          <p:spPr>
            <a:xfrm flipV="1">
              <a:off x="2107383" y="834662"/>
              <a:ext cx="2580269" cy="27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F1E9D8B-8E90-E165-02E9-111AE8B2CB1F}"/>
                </a:ext>
              </a:extLst>
            </p:cNvPr>
            <p:cNvCxnSpPr>
              <a:cxnSpLocks/>
              <a:stCxn id="62" idx="3"/>
              <a:endCxn id="64" idx="1"/>
            </p:cNvCxnSpPr>
            <p:nvPr/>
          </p:nvCxnSpPr>
          <p:spPr>
            <a:xfrm>
              <a:off x="6280085" y="834662"/>
              <a:ext cx="3804532" cy="278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F8E106D-53A3-AFA8-1396-56AA93EB4D64}"/>
                </a:ext>
              </a:extLst>
            </p:cNvPr>
            <p:cNvCxnSpPr>
              <a:cxnSpLocks/>
              <a:stCxn id="64" idx="2"/>
              <a:endCxn id="65" idx="0"/>
            </p:cNvCxnSpPr>
            <p:nvPr/>
          </p:nvCxnSpPr>
          <p:spPr>
            <a:xfrm>
              <a:off x="10880834" y="1243010"/>
              <a:ext cx="0" cy="726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31EFF48-4754-98E2-5F45-8CA014C5D1BD}"/>
                </a:ext>
              </a:extLst>
            </p:cNvPr>
            <p:cNvCxnSpPr>
              <a:cxnSpLocks/>
              <a:stCxn id="67" idx="2"/>
              <a:endCxn id="68" idx="0"/>
            </p:cNvCxnSpPr>
            <p:nvPr/>
          </p:nvCxnSpPr>
          <p:spPr>
            <a:xfrm>
              <a:off x="5483869" y="2649244"/>
              <a:ext cx="0" cy="6704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59900121-DDD4-026A-1B68-028E85951082}"/>
                </a:ext>
              </a:extLst>
            </p:cNvPr>
            <p:cNvCxnSpPr>
              <a:cxnSpLocks/>
              <a:stCxn id="68" idx="2"/>
              <a:endCxn id="70" idx="1"/>
            </p:cNvCxnSpPr>
            <p:nvPr/>
          </p:nvCxnSpPr>
          <p:spPr>
            <a:xfrm rot="16200000" flipH="1">
              <a:off x="6112290" y="3452324"/>
              <a:ext cx="645422" cy="190226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F6C2E6C4-5992-619C-1F48-AC39ABCA1D2A}"/>
                </a:ext>
              </a:extLst>
            </p:cNvPr>
            <p:cNvCxnSpPr>
              <a:cxnSpLocks/>
              <a:stCxn id="69" idx="2"/>
              <a:endCxn id="70" idx="3"/>
            </p:cNvCxnSpPr>
            <p:nvPr/>
          </p:nvCxnSpPr>
          <p:spPr>
            <a:xfrm rot="5400000">
              <a:off x="9606990" y="3452324"/>
              <a:ext cx="645422" cy="1902267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F874B8B9-7EAA-792A-9299-1E4BE42A5954}"/>
                </a:ext>
              </a:extLst>
            </p:cNvPr>
            <p:cNvCxnSpPr>
              <a:cxnSpLocks/>
              <a:stCxn id="70" idx="2"/>
              <a:endCxn id="72" idx="0"/>
            </p:cNvCxnSpPr>
            <p:nvPr/>
          </p:nvCxnSpPr>
          <p:spPr>
            <a:xfrm flipH="1">
              <a:off x="8182350" y="5106692"/>
              <a:ext cx="1" cy="542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54917E0-3A84-F6F8-DE0D-FE4D1E80C36C}"/>
                </a:ext>
              </a:extLst>
            </p:cNvPr>
            <p:cNvCxnSpPr>
              <a:cxnSpLocks/>
              <a:stCxn id="72" idx="1"/>
              <a:endCxn id="71" idx="3"/>
            </p:cNvCxnSpPr>
            <p:nvPr/>
          </p:nvCxnSpPr>
          <p:spPr>
            <a:xfrm flipH="1" flipV="1">
              <a:off x="6280084" y="6029665"/>
              <a:ext cx="110604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717A59C-590F-C60E-85BF-FA90F25AC6C8}"/>
                </a:ext>
              </a:extLst>
            </p:cNvPr>
            <p:cNvSpPr/>
            <p:nvPr/>
          </p:nvSpPr>
          <p:spPr>
            <a:xfrm>
              <a:off x="514949" y="5649139"/>
              <a:ext cx="1592433" cy="7610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FC Module</a:t>
              </a:r>
              <a:endParaRPr lang="en-IN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324112F4-7661-0197-72A4-CB058B68FDCF}"/>
                </a:ext>
              </a:extLst>
            </p:cNvPr>
            <p:cNvCxnSpPr>
              <a:cxnSpLocks/>
              <a:stCxn id="71" idx="1"/>
              <a:endCxn id="84" idx="3"/>
            </p:cNvCxnSpPr>
            <p:nvPr/>
          </p:nvCxnSpPr>
          <p:spPr>
            <a:xfrm flipH="1" flipV="1">
              <a:off x="2107382" y="6029664"/>
              <a:ext cx="258026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48A68F7-BA32-EB27-589B-B034B456CF50}"/>
                </a:ext>
              </a:extLst>
            </p:cNvPr>
            <p:cNvSpPr txBox="1"/>
            <p:nvPr/>
          </p:nvSpPr>
          <p:spPr>
            <a:xfrm>
              <a:off x="2596896" y="1069848"/>
              <a:ext cx="184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1BC7319-EB5B-E015-2B93-A502CDDD5D77}"/>
                </a:ext>
              </a:extLst>
            </p:cNvPr>
            <p:cNvSpPr txBox="1"/>
            <p:nvPr/>
          </p:nvSpPr>
          <p:spPr>
            <a:xfrm>
              <a:off x="3144082" y="847887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SPI</a:t>
              </a:r>
              <a:endParaRPr lang="en-IN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05E73F2-74FB-30BB-E22F-51E81B0E2991}"/>
                </a:ext>
              </a:extLst>
            </p:cNvPr>
            <p:cNvSpPr txBox="1"/>
            <p:nvPr/>
          </p:nvSpPr>
          <p:spPr>
            <a:xfrm>
              <a:off x="6970959" y="828334"/>
              <a:ext cx="2422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Direct Memory Access</a:t>
              </a:r>
              <a:endParaRPr lang="en-IN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3B02A69-0DE5-384C-8F3B-A1706CC63BEF}"/>
                </a:ext>
              </a:extLst>
            </p:cNvPr>
            <p:cNvSpPr txBox="1"/>
            <p:nvPr/>
          </p:nvSpPr>
          <p:spPr>
            <a:xfrm>
              <a:off x="10847740" y="1421475"/>
              <a:ext cx="1099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O/P Valid</a:t>
              </a:r>
              <a:endParaRPr lang="en-IN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8061074-CEF5-74CA-468F-158BF24720C2}"/>
                </a:ext>
              </a:extLst>
            </p:cNvPr>
            <p:cNvSpPr txBox="1"/>
            <p:nvPr/>
          </p:nvSpPr>
          <p:spPr>
            <a:xfrm>
              <a:off x="3946551" y="1336369"/>
              <a:ext cx="1482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Frame Ready</a:t>
              </a:r>
              <a:endParaRPr lang="en-IN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972CCE2-85DC-3695-B83D-84F5C5B95D5E}"/>
                </a:ext>
              </a:extLst>
            </p:cNvPr>
            <p:cNvSpPr txBox="1"/>
            <p:nvPr/>
          </p:nvSpPr>
          <p:spPr>
            <a:xfrm>
              <a:off x="7441247" y="478555"/>
              <a:ext cx="14822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Frame Ready</a:t>
              </a:r>
              <a:endParaRPr lang="en-IN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5AB02B-D6A6-5474-8EEB-AB92BF7CFDBB}"/>
                </a:ext>
              </a:extLst>
            </p:cNvPr>
            <p:cNvSpPr txBox="1"/>
            <p:nvPr/>
          </p:nvSpPr>
          <p:spPr>
            <a:xfrm>
              <a:off x="2933286" y="2247938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SPI/I2C</a:t>
              </a:r>
              <a:endParaRPr lang="en-IN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2055F1B-5D9A-340A-118A-2AB6B1EE58DB}"/>
                </a:ext>
              </a:extLst>
            </p:cNvPr>
            <p:cNvSpPr txBox="1"/>
            <p:nvPr/>
          </p:nvSpPr>
          <p:spPr>
            <a:xfrm>
              <a:off x="9016472" y="4726167"/>
              <a:ext cx="2136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Waits on this queue</a:t>
              </a:r>
              <a:endParaRPr lang="en-IN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E80EC55-DC86-900D-C9AB-5E907027AE56}"/>
                </a:ext>
              </a:extLst>
            </p:cNvPr>
            <p:cNvSpPr txBox="1"/>
            <p:nvPr/>
          </p:nvSpPr>
          <p:spPr>
            <a:xfrm>
              <a:off x="2933285" y="6023338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SPI/I2C</a:t>
              </a:r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98990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7DAA-D576-FB15-F028-779A1B214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C50A5-5E5C-BC4D-2460-4B22853FF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Shakti Custom Peripheral SOC:</a:t>
            </a:r>
          </a:p>
          <a:p>
            <a:pPr marL="457200" lvl="1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400" b="1"/>
              <a:t>-    </a:t>
            </a:r>
            <a:r>
              <a:rPr lang="en-US" sz="2400" b="1">
                <a:ea typeface="+mn-lt"/>
                <a:cs typeface="+mn-lt"/>
              </a:rPr>
              <a:t>Required Peripherals</a:t>
            </a:r>
            <a:endParaRPr lang="en-US" sz="2400" b="1"/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Arial"/>
              </a:rPr>
              <a:t>1 UART (Serial monitor &amp; debug)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Arial"/>
              </a:rPr>
              <a:t>1 SPI (camera interface/data)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Arial"/>
              </a:rPr>
              <a:t>1 I2C (camera control commands)</a:t>
            </a:r>
          </a:p>
          <a:p>
            <a:pPr marL="800100" lvl="1" indent="-342900">
              <a:buFont typeface="Arial"/>
              <a:buChar char="•"/>
            </a:pPr>
            <a:endParaRPr lang="en-US" sz="2000" b="1">
              <a:cs typeface="Arial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400" b="1">
                <a:cs typeface="Arial"/>
              </a:rPr>
              <a:t>Status</a:t>
            </a:r>
          </a:p>
          <a:p>
            <a:pPr marL="800100" lvl="1" indent="-342900"/>
            <a:r>
              <a:rPr lang="en-US" sz="2000">
                <a:cs typeface="Arial"/>
              </a:rPr>
              <a:t>Removal of unused peripherals is in progress</a:t>
            </a:r>
          </a:p>
          <a:p>
            <a:pPr marL="800100" lvl="1" indent="-342900"/>
            <a:r>
              <a:rPr lang="en-US" sz="2000">
                <a:ea typeface="+mn-lt"/>
                <a:cs typeface="+mn-lt"/>
              </a:rPr>
              <a:t>Debugging build issues arising from peripheral removal in the modified SoC</a:t>
            </a:r>
            <a:endParaRPr lang="en-US" sz="2000">
              <a:latin typeface="Aptos" panose="02110004020202020204"/>
              <a:cs typeface="Arial"/>
            </a:endParaRPr>
          </a:p>
          <a:p>
            <a:pPr marL="457200" lvl="1" indent="0">
              <a:buNone/>
            </a:pPr>
            <a:r>
              <a:rPr lang="en-US" b="1">
                <a:latin typeface="Aptos" panose="02110004020202020204"/>
                <a:cs typeface="Arial"/>
              </a:rPr>
              <a:t> </a:t>
            </a:r>
          </a:p>
          <a:p>
            <a:pPr lvl="1"/>
            <a:endParaRPr lang="en-US" sz="1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IN" sz="2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US" sz="2800" b="1">
              <a:cs typeface="Arial"/>
            </a:endParaRPr>
          </a:p>
          <a:p>
            <a:pPr lvl="1"/>
            <a:endParaRPr lang="en-IN" sz="2800" b="1">
              <a:cs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5E2D5B-BE34-4CCD-699F-F418CC26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54360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0E54-41A9-41F9-4668-576A376F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6581E-9623-53AE-420C-57C5DEE7A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65" y="1825625"/>
            <a:ext cx="10515600" cy="4664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Aptos"/>
                <a:cs typeface="Arial"/>
              </a:rPr>
              <a:t>Component Research</a:t>
            </a:r>
            <a:r>
              <a:rPr lang="en-US" b="1"/>
              <a:t>:</a:t>
            </a:r>
            <a:endParaRPr lang="en-US"/>
          </a:p>
          <a:p>
            <a:pPr marL="0" indent="0">
              <a:buNone/>
            </a:pPr>
            <a:r>
              <a:rPr lang="en-US" sz="2400" b="1">
                <a:latin typeface="Aptos"/>
                <a:cs typeface="Arial"/>
              </a:rPr>
              <a:t>       Selection</a:t>
            </a:r>
            <a:endParaRPr lang="en-US" sz="2400" b="1">
              <a:latin typeface="Aptos"/>
            </a:endParaRPr>
          </a:p>
          <a:p>
            <a:pPr lvl="1"/>
            <a:r>
              <a:rPr lang="en-US" sz="2000" b="1">
                <a:latin typeface="Aptos"/>
                <a:cs typeface="Arial"/>
              </a:rPr>
              <a:t>LWIR Sensor:</a:t>
            </a:r>
            <a:r>
              <a:rPr lang="en-US" sz="2000">
                <a:latin typeface="Aptos"/>
                <a:cs typeface="Arial"/>
              </a:rPr>
              <a:t>  Selected </a:t>
            </a:r>
            <a:r>
              <a:rPr lang="en-US" sz="2000" b="1" err="1">
                <a:latin typeface="Aptos"/>
                <a:cs typeface="Arial"/>
              </a:rPr>
              <a:t>Waveshare</a:t>
            </a:r>
            <a:r>
              <a:rPr lang="en-US" sz="2000" b="1">
                <a:latin typeface="Aptos"/>
                <a:cs typeface="Arial"/>
              </a:rPr>
              <a:t> Thermal Camera HAT</a:t>
            </a:r>
            <a:r>
              <a:rPr lang="en-US" sz="2000">
                <a:latin typeface="Aptos"/>
                <a:cs typeface="Arial"/>
              </a:rPr>
              <a:t> for R&amp;D. Features 80×62 resolution at 25 FPS.</a:t>
            </a:r>
          </a:p>
          <a:p>
            <a:pPr lvl="1"/>
            <a:r>
              <a:rPr lang="en-US" sz="2000" b="1">
                <a:latin typeface="Aptos"/>
                <a:cs typeface="Arial"/>
              </a:rPr>
              <a:t>Flight Controller &amp; IMU:</a:t>
            </a:r>
            <a:r>
              <a:rPr lang="en-US" sz="2000">
                <a:latin typeface="Aptos"/>
                <a:cs typeface="Arial"/>
              </a:rPr>
              <a:t> Selected </a:t>
            </a:r>
            <a:r>
              <a:rPr lang="en-US" sz="2000" b="1" err="1">
                <a:latin typeface="Aptos"/>
                <a:cs typeface="Arial"/>
              </a:rPr>
              <a:t>Radiolink</a:t>
            </a:r>
            <a:r>
              <a:rPr lang="en-US" sz="2000" b="1">
                <a:latin typeface="Aptos"/>
                <a:cs typeface="Arial"/>
              </a:rPr>
              <a:t> F722</a:t>
            </a:r>
            <a:r>
              <a:rPr lang="en-US" sz="2000">
                <a:latin typeface="Aptos"/>
                <a:cs typeface="Arial"/>
              </a:rPr>
              <a:t>. Eliminates the need for a separate IMU by leveraging the onboard ICM42688 Gyroscope and BMP280 Barometer.</a:t>
            </a:r>
          </a:p>
          <a:p>
            <a:pPr marL="457200" lvl="1" indent="0">
              <a:buNone/>
            </a:pPr>
            <a:endParaRPr lang="en-US" b="1">
              <a:latin typeface="Aptos"/>
              <a:cs typeface="Arial"/>
            </a:endParaRPr>
          </a:p>
          <a:p>
            <a:pPr marL="457200" lvl="1" indent="0">
              <a:buNone/>
            </a:pPr>
            <a:r>
              <a:rPr lang="en-US" b="1">
                <a:latin typeface="Aptos"/>
                <a:cs typeface="Arial"/>
              </a:rPr>
              <a:t>Interfacing Protocols</a:t>
            </a:r>
            <a:endParaRPr lang="en-US">
              <a:latin typeface="Aptos"/>
              <a:cs typeface="Arial"/>
            </a:endParaRPr>
          </a:p>
          <a:p>
            <a:pPr marL="742950" lvl="1" indent="-285750">
              <a:buFont typeface="Arial,Sans-Serif"/>
            </a:pPr>
            <a:r>
              <a:rPr lang="en-US" sz="2000" b="1">
                <a:latin typeface="Aptos"/>
                <a:cs typeface="Arial"/>
              </a:rPr>
              <a:t>LWIR Sensor:</a:t>
            </a:r>
            <a:r>
              <a:rPr lang="en-US" sz="2000">
                <a:latin typeface="Aptos"/>
                <a:cs typeface="Arial"/>
              </a:rPr>
              <a:t> Utilizes a dual-protocol interface; I2C for configuring camera registers and SPI for thermal video data.</a:t>
            </a:r>
          </a:p>
          <a:p>
            <a:pPr marL="742950" lvl="1" indent="-285750">
              <a:buFont typeface="Arial,Sans-Serif"/>
            </a:pPr>
            <a:r>
              <a:rPr lang="en-US" sz="2000" b="1">
                <a:latin typeface="Aptos"/>
                <a:cs typeface="Arial"/>
              </a:rPr>
              <a:t>Flight Controller:</a:t>
            </a:r>
            <a:r>
              <a:rPr lang="en-US" sz="2000">
                <a:latin typeface="Aptos"/>
                <a:cs typeface="Arial"/>
              </a:rPr>
              <a:t> Standardized communication (UART/SBUS) to receive guidance commands from the Shakti </a:t>
            </a:r>
            <a:r>
              <a:rPr lang="en-US" sz="2000" err="1">
                <a:latin typeface="Aptos"/>
                <a:cs typeface="Arial"/>
              </a:rPr>
              <a:t>SoC.</a:t>
            </a:r>
            <a:endParaRPr lang="en-US" sz="2000" err="1">
              <a:latin typeface="Aptos"/>
            </a:endParaRPr>
          </a:p>
          <a:p>
            <a:pPr lvl="1"/>
            <a:endParaRPr lang="en-US" sz="1800">
              <a:latin typeface="Arial"/>
              <a:cs typeface="Arial"/>
            </a:endParaRPr>
          </a:p>
          <a:p>
            <a:pPr lvl="1"/>
            <a:endParaRPr lang="en-US" sz="1800">
              <a:latin typeface="Arial"/>
              <a:cs typeface="Arial"/>
            </a:endParaRPr>
          </a:p>
          <a:p>
            <a:pPr lvl="1"/>
            <a:endParaRPr lang="en-US" sz="1800"/>
          </a:p>
          <a:p>
            <a:pPr lvl="1"/>
            <a:endParaRPr lang="en-US" sz="2800"/>
          </a:p>
          <a:p>
            <a:pPr lvl="1"/>
            <a:endParaRPr lang="en-US" sz="2800" b="1"/>
          </a:p>
          <a:p>
            <a:pPr lvl="1"/>
            <a:endParaRPr lang="en-IN" sz="28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8AA0CA-45C5-85F0-0AC0-967CF2A8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545725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B48B-DAC2-E7DE-E0B2-C0921220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Startup Formation Status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DA81-B4EC-51E7-5545-3E4AE374B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Certificate of Incorporation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LLP Agreement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PAN of LLP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IN" sz="3200"/>
              <a:t> Company Bank Account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DPIIT Registration Certificate</a:t>
            </a:r>
          </a:p>
        </p:txBody>
      </p:sp>
    </p:spTree>
    <p:extLst>
      <p:ext uri="{BB962C8B-B14F-4D97-AF65-F5344CB8AC3E}">
        <p14:creationId xmlns:p14="http://schemas.microsoft.com/office/powerpoint/2010/main" val="1027132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965A-3D42-A6B3-D540-0E792424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Proposed Plan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D806C-DBE9-9F7B-4303-C7BBD76BE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109"/>
            <a:ext cx="10515600" cy="25817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Finish development of optimized and balanced Image Processing IP.</a:t>
            </a:r>
          </a:p>
          <a:p>
            <a:r>
              <a:rPr lang="en-US" sz="2400"/>
              <a:t>Complete the startup formalities. </a:t>
            </a:r>
          </a:p>
          <a:p>
            <a:r>
              <a:rPr lang="en-US" sz="2400"/>
              <a:t>Order the required Hardware Modules. (LWIR sensor and Flight Controller).</a:t>
            </a:r>
          </a:p>
          <a:p>
            <a:r>
              <a:rPr lang="en-US" sz="2400"/>
              <a:t>Interfacing and testing of the hardware modules. </a:t>
            </a:r>
          </a:p>
          <a:p>
            <a:r>
              <a:rPr lang="en-US" sz="2400"/>
              <a:t>Further development for integrating everything in embedded application.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700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BA7A4-327A-A489-99EA-F05EDA3A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473774-A2F1-458C-676D-F88734E84D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Review Meeting 3</a:t>
            </a:r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054EF81-75D9-B9C8-FF38-52EACC9929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/>
              <a:t>24 January 2026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32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ED55-1DB7-B981-3A0D-9859F57F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CD01F-24B1-6A1A-7126-E7A73AF6D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Shakti Embedded Application:</a:t>
            </a:r>
          </a:p>
          <a:p>
            <a:pPr lvl="1"/>
            <a:r>
              <a:rPr lang="en-US"/>
              <a:t>Implemented UART, SPI and I2C bare-metal helper functions.</a:t>
            </a:r>
          </a:p>
          <a:p>
            <a:pPr lvl="1"/>
            <a:r>
              <a:rPr lang="en-US"/>
              <a:t>PID control loops for Pitch and Yaw error correction done.</a:t>
            </a:r>
          </a:p>
          <a:p>
            <a:pPr lvl="1"/>
            <a:r>
              <a:rPr lang="en-US"/>
              <a:t>Calculation of correction commands is implemented.</a:t>
            </a:r>
          </a:p>
          <a:p>
            <a:pPr lvl="1"/>
            <a:r>
              <a:rPr lang="en-US"/>
              <a:t>Interfacing development for CAM, IMU and Image IP is ongoing.</a:t>
            </a:r>
          </a:p>
          <a:p>
            <a:pPr lvl="1"/>
            <a:r>
              <a:rPr lang="en-US"/>
              <a:t>Development NCC algorithm for target matching on Yamuna SOC is ongoing. </a:t>
            </a:r>
          </a:p>
          <a:p>
            <a:pPr marL="457200" lvl="1" indent="0">
              <a:buNone/>
            </a:pPr>
            <a:endParaRPr lang="en-US" sz="2800"/>
          </a:p>
          <a:p>
            <a:pPr lvl="1"/>
            <a:endParaRPr lang="en-US" sz="2800"/>
          </a:p>
          <a:p>
            <a:pPr lvl="1"/>
            <a:endParaRPr lang="en-US" sz="2800" b="1"/>
          </a:p>
          <a:p>
            <a:pPr lvl="1"/>
            <a:endParaRPr lang="en-IN" sz="28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8E7A0E-9E67-3AB3-2705-BEA8659A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494966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4CC0-E91D-7931-F2FE-38B1E000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C7DBA-C17A-5168-EE06-ED4C027C0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Shakti Custom Peripheral SOC:</a:t>
            </a:r>
          </a:p>
          <a:p>
            <a:pPr marL="457200" lvl="1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400" b="1"/>
              <a:t>-    </a:t>
            </a:r>
            <a:r>
              <a:rPr lang="en-US" sz="2400" b="1">
                <a:ea typeface="+mn-lt"/>
                <a:cs typeface="+mn-lt"/>
              </a:rPr>
              <a:t>Required Peripherals</a:t>
            </a:r>
            <a:endParaRPr lang="en-US" sz="2400" b="1"/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Arial"/>
              </a:rPr>
              <a:t>2 UART (Serial monitor and IMU module)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>
                <a:cs typeface="Arial"/>
              </a:rPr>
              <a:t>1 SPI (interface with Camera Module)</a:t>
            </a:r>
          </a:p>
          <a:p>
            <a:pPr marL="800100" lvl="1" indent="-342900">
              <a:buFont typeface="Arial"/>
              <a:buChar char="•"/>
            </a:pPr>
            <a:endParaRPr lang="en-US" b="1">
              <a:latin typeface="Aptos" panose="02110004020202020204"/>
              <a:cs typeface="Arial"/>
            </a:endParaRPr>
          </a:p>
          <a:p>
            <a:pPr marL="0" indent="0">
              <a:buNone/>
            </a:pPr>
            <a:r>
              <a:rPr lang="en-US" sz="2400" b="1">
                <a:latin typeface="Aptos" panose="02110004020202020204"/>
                <a:cs typeface="Arial"/>
              </a:rPr>
              <a:t>-    Status</a:t>
            </a:r>
            <a:endParaRPr lang="en-US" sz="2400">
              <a:latin typeface="Aptos" panose="02110004020202020204"/>
              <a:cs typeface="Arial"/>
            </a:endParaRPr>
          </a:p>
          <a:p>
            <a:pPr marL="800100" lvl="1" indent="-342900">
              <a:buFont typeface="Arial,Sans-Serif"/>
              <a:buChar char="•"/>
            </a:pPr>
            <a:r>
              <a:rPr lang="en-US" sz="2000">
                <a:latin typeface="Aptos" panose="02110004020202020204"/>
                <a:cs typeface="Arial"/>
              </a:rPr>
              <a:t>Critical peripherals required for our use case had been identified and necessary addition/removal has been done.</a:t>
            </a:r>
          </a:p>
          <a:p>
            <a:pPr marL="971550" lvl="1" indent="-285750">
              <a:buFont typeface="Arial,Sans-Serif"/>
              <a:buChar char="•"/>
            </a:pPr>
            <a:endParaRPr lang="en-US">
              <a:latin typeface="Aptos" panose="02110004020202020204"/>
              <a:cs typeface="Arial"/>
            </a:endParaRPr>
          </a:p>
          <a:p>
            <a:pPr marL="457200" lvl="1" indent="0">
              <a:buNone/>
            </a:pPr>
            <a:endParaRPr lang="en-US" b="1">
              <a:latin typeface="Aptos" panose="02110004020202020204"/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IN" sz="2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US" sz="2800" b="1">
              <a:cs typeface="Arial"/>
            </a:endParaRPr>
          </a:p>
          <a:p>
            <a:pPr lvl="1"/>
            <a:endParaRPr lang="en-IN" sz="2800" b="1">
              <a:cs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4671E3-5436-C420-B476-39CC1E23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832883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4764-0392-1D4E-17E3-F1E89B9F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825C1-19D9-8B1E-6444-9D2634DD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65" y="1825625"/>
            <a:ext cx="10515600" cy="4664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latin typeface="Aptos"/>
                <a:cs typeface="Arial"/>
              </a:rPr>
              <a:t>Components</a:t>
            </a:r>
            <a:r>
              <a:rPr lang="en-US" b="1"/>
              <a:t>:</a:t>
            </a:r>
          </a:p>
          <a:p>
            <a:pPr>
              <a:buNone/>
            </a:pPr>
            <a:endParaRPr lang="en-US" sz="1800">
              <a:latin typeface="Arial"/>
              <a:cs typeface="Arial"/>
            </a:endParaRPr>
          </a:p>
          <a:p>
            <a:pPr lvl="1"/>
            <a:r>
              <a:rPr lang="en-US" b="1"/>
              <a:t>Hardware Procured:</a:t>
            </a:r>
          </a:p>
          <a:p>
            <a:pPr lvl="2"/>
            <a:r>
              <a:rPr lang="en-US" sz="2400"/>
              <a:t>Camera Module: </a:t>
            </a:r>
            <a:r>
              <a:rPr lang="en-US" sz="2400" err="1"/>
              <a:t>Seeed</a:t>
            </a:r>
            <a:r>
              <a:rPr lang="en-US" sz="2400"/>
              <a:t> Studios XIAO ESP32S3 Sense </a:t>
            </a:r>
          </a:p>
          <a:p>
            <a:pPr lvl="3"/>
            <a:r>
              <a:rPr lang="en-US"/>
              <a:t>Supports I2C, SPI and UART. </a:t>
            </a:r>
          </a:p>
          <a:p>
            <a:pPr lvl="2"/>
            <a:r>
              <a:rPr lang="en-US" sz="2400"/>
              <a:t>IMU Module: Adafruit BNO085</a:t>
            </a:r>
          </a:p>
          <a:p>
            <a:pPr lvl="3"/>
            <a:r>
              <a:rPr lang="en-US"/>
              <a:t>Supports I2C, SPI and UART. </a:t>
            </a:r>
          </a:p>
          <a:p>
            <a:pPr lvl="2"/>
            <a:endParaRPr lang="en-US" sz="1800"/>
          </a:p>
          <a:p>
            <a:pPr lvl="2"/>
            <a:endParaRPr lang="en-US" sz="1800"/>
          </a:p>
          <a:p>
            <a:pPr lvl="1"/>
            <a:endParaRPr lang="en-US" sz="2800"/>
          </a:p>
          <a:p>
            <a:pPr marL="457200" lvl="1" indent="0">
              <a:buNone/>
            </a:pPr>
            <a:endParaRPr lang="en-US" sz="28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500185-708C-6A33-7923-28910EA8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46205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F48B-690F-D0F4-5285-AF366DF7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4EFA-7CB6-B6BF-B40D-4B1FDB4D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Progress Made since last meeting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E1CAA-3A12-EC8F-174C-D16BB5C6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/>
              <a:t>Custom Image Processing IP: </a:t>
            </a:r>
            <a:endParaRPr lang="en-US"/>
          </a:p>
          <a:p>
            <a:pPr lvl="1"/>
            <a:r>
              <a:rPr lang="en-US"/>
              <a:t>Optimization is ongoing for making it faster and smaller.</a:t>
            </a:r>
          </a:p>
          <a:p>
            <a:pPr lvl="1"/>
            <a:r>
              <a:rPr lang="en-US"/>
              <a:t>Interfacing with Shakti SOC is ongoing.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2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23924-8D14-A1AB-7306-B0E9EBD4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15963D69-E874-EEAC-4B47-0B94E501F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68F976B8-8513-DC32-FDBE-1C3756B92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745A19-735A-8A70-D3B5-7F133C0EE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14" y="4597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>
                <a:ea typeface="+mj-lt"/>
                <a:cs typeface="+mj-lt"/>
              </a:rPr>
              <a:t>Project Milestones Overview</a:t>
            </a:r>
            <a:endParaRPr lang="en-US" sz="4000" b="1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FE2B8213-E120-CC0F-30AB-F535828B7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4" y="1367105"/>
            <a:ext cx="3441123" cy="4983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b="1"/>
              <a:t>Milestone 1: MVP</a:t>
            </a:r>
          </a:p>
          <a:p>
            <a:pPr marL="0" indent="0">
              <a:buNone/>
            </a:pPr>
            <a:r>
              <a:rPr lang="en-GB" sz="1600"/>
              <a:t>Goal: Basic Image Capture &amp; Processing Pipeline</a:t>
            </a:r>
            <a:endParaRPr lang="en-US" sz="1600"/>
          </a:p>
          <a:p>
            <a:pPr marL="285750" indent="-285750"/>
            <a:r>
              <a:rPr lang="en-GB" sz="1600"/>
              <a:t>Environment setup for Artix-7 FPGA &amp; SHAKTI RISC-V</a:t>
            </a:r>
          </a:p>
          <a:p>
            <a:pPr marL="285750" indent="-285750"/>
            <a:r>
              <a:rPr lang="en-GB" sz="1600"/>
              <a:t>Interface LWIR sensor to capture single thermal frame</a:t>
            </a:r>
          </a:p>
          <a:p>
            <a:pPr marL="285750" indent="-285750"/>
            <a:r>
              <a:rPr lang="en-GB" sz="1600"/>
              <a:t>Verilog logic for frame transfer from SHAKTI soft-core</a:t>
            </a:r>
          </a:p>
          <a:p>
            <a:pPr marL="285750" indent="-285750"/>
            <a:r>
              <a:rPr lang="en-GB" sz="1600"/>
              <a:t>C/C++ matching algorithm detects predefined target</a:t>
            </a:r>
          </a:p>
          <a:p>
            <a:pPr marL="0" indent="0">
              <a:buNone/>
            </a:pPr>
            <a:r>
              <a:rPr lang="en-GB" sz="1600" b="1"/>
              <a:t>Deliverables</a:t>
            </a:r>
            <a:r>
              <a:rPr lang="en-GB" sz="1600"/>
              <a:t>:</a:t>
            </a:r>
          </a:p>
          <a:p>
            <a:pPr marL="285750" indent="-285750"/>
            <a:r>
              <a:rPr lang="en-GB" sz="1600"/>
              <a:t>Live image via SHAKTI serial output</a:t>
            </a:r>
          </a:p>
          <a:p>
            <a:pPr marL="285750" indent="-285750"/>
            <a:r>
              <a:rPr lang="en-GB" sz="1600"/>
              <a:t>“MATCH FOUND” result + coordinates</a:t>
            </a:r>
          </a:p>
          <a:p>
            <a:pPr marL="0" indent="0">
              <a:buNone/>
            </a:pPr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A3CE77-A441-2DBD-F193-6A0BFFBED177}"/>
              </a:ext>
            </a:extLst>
          </p:cNvPr>
          <p:cNvSpPr txBox="1"/>
          <p:nvPr/>
        </p:nvSpPr>
        <p:spPr>
          <a:xfrm>
            <a:off x="4120902" y="1368547"/>
            <a:ext cx="3635086" cy="5197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Milestone 2: PoC</a:t>
            </a:r>
            <a:endParaRPr lang="en-US" sz="1600" b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/>
              <a:t>Goal: Real-time Video Processing Pipeline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Continuous thermal video stream(&gt;10 FPS)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FPGA IP: contrast, filtering, edge detection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Real-time target detection (NCC) +IMU interfacing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Deliverables:</a:t>
            </a:r>
            <a:endParaRPr lang="en-US" sz="16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Processed video on monitor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LED indicator for “TARGET LOCKED”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Serial output: error vector + IMU data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Source code (FPGA + SHAKTI)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600"/>
          </a:p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3E6FD-E5DC-82D2-392B-EE9419B9FDBF}"/>
              </a:ext>
            </a:extLst>
          </p:cNvPr>
          <p:cNvSpPr txBox="1"/>
          <p:nvPr/>
        </p:nvSpPr>
        <p:spPr>
          <a:xfrm>
            <a:off x="8113980" y="1289790"/>
            <a:ext cx="3635085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+mn-lt"/>
                <a:cs typeface="+mn-lt"/>
              </a:rPr>
              <a:t>Milestone 3: Final Demo</a:t>
            </a:r>
          </a:p>
          <a:p>
            <a:endParaRPr lang="en-GB" sz="1600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Goal: Full Guidance System with Live Target Tracking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Image + IMU fused for control commands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Robustness to occlusions &amp; reacquisition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Real-time bounding box + command output</a:t>
            </a:r>
            <a:endParaRPr lang="en-GB" sz="1600"/>
          </a:p>
          <a:p>
            <a:endParaRPr lang="en-GB" sz="1600"/>
          </a:p>
          <a:p>
            <a:r>
              <a:rPr lang="en-GB" sz="1600" b="1">
                <a:ea typeface="+mn-lt"/>
                <a:cs typeface="+mn-lt"/>
              </a:rPr>
              <a:t>Deliverables:</a:t>
            </a:r>
            <a:endParaRPr lang="en-GB" sz="1600" b="1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Working prototype on test stand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Live demo with target lock &amp; recovery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Guidance commands (e.g., YAW_RIGHT: 3.2°)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 Final report + code + demo video</a:t>
            </a:r>
            <a:endParaRPr lang="en-GB" sz="1600"/>
          </a:p>
          <a:p>
            <a:pPr algn="l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797203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345E5-A6BF-A790-B300-30CAD4BB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4A891-77C1-B734-5509-16AA22E957C5}"/>
              </a:ext>
            </a:extLst>
          </p:cNvPr>
          <p:cNvSpPr txBox="1"/>
          <p:nvPr/>
        </p:nvSpPr>
        <p:spPr>
          <a:xfrm>
            <a:off x="576289" y="2878777"/>
            <a:ext cx="110352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87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51180-12B5-9888-428C-3DC572CDC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BA2C36-5BBE-7BC4-735D-6FE5594CB5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Precision Guidance System</a:t>
            </a:r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FD8E948-FDDE-468A-3EB5-596D6D996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/>
              <a:t>MVP Presentation - Infracore Systems LLP (Team Risky 5)</a:t>
            </a:r>
          </a:p>
          <a:p>
            <a:pPr algn="r"/>
            <a:r>
              <a:rPr lang="en-US"/>
              <a:t>  27 February 2026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187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5C40-9140-8D60-4947-07071E5CA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65E0E59-3D20-F53A-161C-A4C8E103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746126"/>
            <a:ext cx="2990850" cy="482600"/>
          </a:xfrm>
        </p:spPr>
        <p:txBody>
          <a:bodyPr>
            <a:noAutofit/>
          </a:bodyPr>
          <a:lstStyle/>
          <a:p>
            <a:r>
              <a:rPr lang="en-US" sz="3200" b="1"/>
              <a:t>Team Details</a:t>
            </a:r>
            <a:endParaRPr lang="en-IN" sz="3200" b="1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DB3695-3706-1714-B0CE-B902F2D97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831"/>
            <a:ext cx="10439400" cy="3259044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base">
              <a:buFont typeface="Arial" panose="02110004020202020204"/>
              <a:buChar char="•"/>
            </a:pPr>
            <a:r>
              <a:rPr lang="en-IN" sz="2400" b="1"/>
              <a:t>Team Name:</a:t>
            </a:r>
            <a:r>
              <a:rPr lang="en-IN" sz="2400"/>
              <a:t> </a:t>
            </a:r>
            <a:r>
              <a:rPr lang="en-IN" sz="2400">
                <a:latin typeface="Aptos"/>
              </a:rPr>
              <a:t>Risky 5</a:t>
            </a:r>
            <a:r>
              <a:rPr lang="en-US" sz="2400">
                <a:latin typeface="Aptos"/>
              </a:rPr>
              <a:t>​</a:t>
            </a:r>
          </a:p>
          <a:p>
            <a:pPr fontAlgn="base">
              <a:buFont typeface="Arial" panose="02110004020202020204"/>
              <a:buChar char="•"/>
            </a:pPr>
            <a:r>
              <a:rPr lang="en-US" sz="2400" b="1"/>
              <a:t>Startup Name: </a:t>
            </a:r>
            <a:r>
              <a:rPr lang="en-US" sz="2400" err="1"/>
              <a:t>Infracore</a:t>
            </a:r>
            <a:r>
              <a:rPr lang="en-US" sz="2400"/>
              <a:t> Systems LLP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Team Lead:</a:t>
            </a:r>
            <a:r>
              <a:rPr lang="en-IN" sz="2400"/>
              <a:t> Kalrav Mathur</a:t>
            </a:r>
            <a:r>
              <a:rPr lang="en-US" sz="2400"/>
              <a:t>​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the Institution:</a:t>
            </a:r>
            <a:r>
              <a:rPr lang="en-IN" sz="2400"/>
              <a:t> Shiv Nadar Institution of Eminence, Delhi NCR</a:t>
            </a:r>
          </a:p>
          <a:p>
            <a:pPr fontAlgn="base">
              <a:buFont typeface="Arial" panose="02110004020202020204"/>
              <a:buChar char="•"/>
            </a:pPr>
            <a:r>
              <a:rPr lang="en-IN" sz="2400" b="1"/>
              <a:t>Name of the processor:</a:t>
            </a:r>
            <a:r>
              <a:rPr lang="en-IN" sz="2400"/>
              <a:t> Shakti Yamuna</a:t>
            </a:r>
            <a:endParaRPr lang="en-US" sz="2400"/>
          </a:p>
          <a:p>
            <a:pPr>
              <a:buFont typeface="Arial" panose="02110004020202020204"/>
              <a:buChar char="•"/>
            </a:pPr>
            <a:r>
              <a:rPr lang="en-IN" sz="2400" b="1"/>
              <a:t>Name of the Mentor: </a:t>
            </a:r>
            <a:r>
              <a:rPr lang="en-IN" sz="2400"/>
              <a:t>Dr. </a:t>
            </a:r>
            <a:r>
              <a:rPr lang="en-IN" sz="2400" err="1"/>
              <a:t>Venkatnarayan</a:t>
            </a:r>
            <a:r>
              <a:rPr lang="en-IN" sz="2400"/>
              <a:t> Hariharan</a:t>
            </a:r>
          </a:p>
          <a:p>
            <a:pPr marL="0" indent="0">
              <a:buNone/>
            </a:pPr>
            <a:br>
              <a:rPr lang="en-GB" sz="2400" b="0">
                <a:effectLst/>
              </a:rPr>
            </a:b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507234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6E078C-F535-10D9-0FAC-740AFC53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61">
            <a:extLst>
              <a:ext uri="{FF2B5EF4-FFF2-40B4-BE49-F238E27FC236}">
                <a16:creationId xmlns:a16="http://schemas.microsoft.com/office/drawing/2014/main" id="{F827EA13-437F-C9D2-E358-3ADC8DDF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6E045AB0-EF0C-B900-0DDE-D5E604FC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61ACA3-1452-1480-066F-1F24ABD3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15" y="507444"/>
            <a:ext cx="5216236" cy="567958"/>
          </a:xfrm>
        </p:spPr>
        <p:txBody>
          <a:bodyPr>
            <a:normAutofit/>
          </a:bodyPr>
          <a:lstStyle/>
          <a:p>
            <a:r>
              <a:rPr lang="en-IN" sz="3200" b="1">
                <a:ea typeface="+mj-lt"/>
                <a:cs typeface="+mj-lt"/>
              </a:rPr>
              <a:t>Project Milestones Overview</a:t>
            </a:r>
            <a:endParaRPr lang="en-US" sz="3200" b="1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77C06B4-7C87-4E6F-4BF5-42485049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4" y="1367105"/>
            <a:ext cx="3441123" cy="4983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b="1"/>
              <a:t>Milestone 1: MVP</a:t>
            </a:r>
          </a:p>
          <a:p>
            <a:pPr marL="0" indent="0">
              <a:buNone/>
            </a:pPr>
            <a:r>
              <a:rPr lang="en-GB" sz="1600"/>
              <a:t>Goal: Basic Image Capture &amp; Processing Pipeline</a:t>
            </a:r>
            <a:endParaRPr lang="en-US" sz="1600"/>
          </a:p>
          <a:p>
            <a:pPr marL="285750" indent="-285750"/>
            <a:r>
              <a:rPr lang="en-GB" sz="1600">
                <a:highlight>
                  <a:srgbClr val="00FF00"/>
                </a:highlight>
              </a:rPr>
              <a:t>Environment setup for Artix-7 FPGA &amp; SHAKTI RISC-V</a:t>
            </a:r>
          </a:p>
          <a:p>
            <a:pPr marL="285750" indent="-285750"/>
            <a:r>
              <a:rPr lang="en-GB" sz="1600">
                <a:highlight>
                  <a:srgbClr val="00FF00"/>
                </a:highlight>
              </a:rPr>
              <a:t>Interface LWIR sensor to capture single thermal frame</a:t>
            </a:r>
          </a:p>
          <a:p>
            <a:pPr marL="285750" indent="-285750"/>
            <a:r>
              <a:rPr lang="en-GB" sz="1600">
                <a:highlight>
                  <a:srgbClr val="FFFF00"/>
                </a:highlight>
              </a:rPr>
              <a:t>Verilog logic for frame transfer from SHAKTI soft-core</a:t>
            </a:r>
          </a:p>
          <a:p>
            <a:pPr marL="285750" indent="-285750"/>
            <a:r>
              <a:rPr lang="en-GB" sz="1600">
                <a:highlight>
                  <a:srgbClr val="00FF00"/>
                </a:highlight>
              </a:rPr>
              <a:t>C/C++ matching algorithm detects predefined target</a:t>
            </a:r>
          </a:p>
          <a:p>
            <a:pPr marL="0" indent="0">
              <a:buNone/>
            </a:pPr>
            <a:r>
              <a:rPr lang="en-GB" sz="1600" b="1"/>
              <a:t>Deliverables</a:t>
            </a:r>
            <a:r>
              <a:rPr lang="en-GB" sz="1600"/>
              <a:t>:</a:t>
            </a:r>
          </a:p>
          <a:p>
            <a:pPr marL="285750" indent="-285750"/>
            <a:r>
              <a:rPr lang="en-GB" sz="1600">
                <a:highlight>
                  <a:srgbClr val="00FF00"/>
                </a:highlight>
              </a:rPr>
              <a:t>Live image via SHAKTI serial output</a:t>
            </a:r>
          </a:p>
          <a:p>
            <a:pPr marL="285750" indent="-285750"/>
            <a:r>
              <a:rPr lang="en-GB" sz="1600">
                <a:highlight>
                  <a:srgbClr val="00FF00"/>
                </a:highlight>
              </a:rPr>
              <a:t>“MATCH FOUND” result + coordinates</a:t>
            </a:r>
          </a:p>
          <a:p>
            <a:pPr marL="0" indent="0">
              <a:buNone/>
            </a:pPr>
            <a:endParaRPr lang="en-GB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8EB55-2A75-9244-8808-7C7609315145}"/>
              </a:ext>
            </a:extLst>
          </p:cNvPr>
          <p:cNvSpPr txBox="1"/>
          <p:nvPr/>
        </p:nvSpPr>
        <p:spPr>
          <a:xfrm>
            <a:off x="4120902" y="1368547"/>
            <a:ext cx="3635086" cy="5197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Milestone 2: PoC</a:t>
            </a:r>
            <a:endParaRPr lang="en-US" sz="1600" b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/>
              <a:t>Goal: Real-time Video Processing Pipeline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Continuous thermal video stream(&gt;10 FPS)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FPGA IP: contrast, filtering, edge detection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Real-time target detection (NCC) +IMU interfacing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/>
              <a:t>Deliverables:</a:t>
            </a:r>
            <a:endParaRPr lang="en-US" sz="16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Processed video on monitor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LED indicator for “TARGET LOCKED”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Serial output: error vector + IMU data</a:t>
            </a:r>
            <a:endParaRPr lang="en-US" sz="16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600"/>
              <a:t>Source code (FPGA + SHAKTI)</a:t>
            </a:r>
            <a:endParaRPr lang="en-US" sz="160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600"/>
          </a:p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BF3C2-7235-3884-1A36-4D2412F0393A}"/>
              </a:ext>
            </a:extLst>
          </p:cNvPr>
          <p:cNvSpPr txBox="1"/>
          <p:nvPr/>
        </p:nvSpPr>
        <p:spPr>
          <a:xfrm>
            <a:off x="8113980" y="1289790"/>
            <a:ext cx="3635085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+mn-lt"/>
                <a:cs typeface="+mn-lt"/>
              </a:rPr>
              <a:t>Milestone 3: Final Demo</a:t>
            </a:r>
          </a:p>
          <a:p>
            <a:endParaRPr lang="en-GB" sz="1600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Goal: Full Guidance System with Live Target Tracking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Image + IMU fused for control commands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Robustness to occlusions &amp; reacquisition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Real-time bounding box + command output</a:t>
            </a:r>
            <a:endParaRPr lang="en-GB" sz="1600"/>
          </a:p>
          <a:p>
            <a:endParaRPr lang="en-GB" sz="1600"/>
          </a:p>
          <a:p>
            <a:r>
              <a:rPr lang="en-GB" sz="1600" b="1">
                <a:ea typeface="+mn-lt"/>
                <a:cs typeface="+mn-lt"/>
              </a:rPr>
              <a:t>Deliverables:</a:t>
            </a:r>
            <a:endParaRPr lang="en-GB" sz="1600" b="1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Working prototype on test stand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Live demo with target lock &amp; recovery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Guidance commands (e.g., YAW_RIGHT: 3.2°)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 Final report + code + demo video</a:t>
            </a:r>
            <a:endParaRPr lang="en-GB" sz="1600"/>
          </a:p>
          <a:p>
            <a:pPr algn="l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594684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B3FF-9E64-D7F2-93FF-6E841BDDA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6F32-BFA8-64CD-ECE7-4F752117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29" y="533647"/>
            <a:ext cx="6812042" cy="475539"/>
          </a:xfrm>
        </p:spPr>
        <p:txBody>
          <a:bodyPr anchor="b">
            <a:noAutofit/>
          </a:bodyPr>
          <a:lstStyle/>
          <a:p>
            <a:r>
              <a:rPr lang="en-GB" sz="3200" b="1"/>
              <a:t>Precision Guidance System</a:t>
            </a:r>
            <a:r>
              <a:rPr lang="en-GB" sz="3200"/>
              <a:t>​</a:t>
            </a:r>
            <a:endParaRPr lang="en-IN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C6FA1-FC23-C55C-CB7D-DC51DFCB4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36" y="1451870"/>
            <a:ext cx="5156678" cy="49486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800" b="1"/>
              <a:t>Target Application: Security and </a:t>
            </a:r>
            <a:r>
              <a:rPr lang="en-US" sz="1800" b="1"/>
              <a:t>Surveillance</a:t>
            </a:r>
            <a:r>
              <a:rPr lang="en-GB" sz="1800" b="1"/>
              <a:t> </a:t>
            </a:r>
            <a:endParaRPr lang="en-US" b="1"/>
          </a:p>
          <a:p>
            <a:pPr marL="0" indent="0" fontAlgn="base">
              <a:buNone/>
            </a:pPr>
            <a:r>
              <a:rPr lang="en-US" sz="1800" b="1"/>
              <a:t>Objectives of the proposal: ​</a:t>
            </a:r>
          </a:p>
          <a:p>
            <a:pPr marL="0" indent="0" fontAlgn="base">
              <a:buNone/>
            </a:pPr>
            <a:endParaRPr lang="en-US" sz="1600"/>
          </a:p>
          <a:p>
            <a:pPr fontAlgn="base"/>
            <a:r>
              <a:rPr lang="en-US" sz="1600"/>
              <a:t>To develop a terminal-phase Imaging Infrared (IIR) seeker prototype for a precision guided missile system on a fully indigenous hardware stack using the SHAKTI processor.</a:t>
            </a:r>
          </a:p>
          <a:p>
            <a:pPr fontAlgn="base"/>
            <a:r>
              <a:rPr lang="en-US" sz="1600"/>
              <a:t>Running the main logic on the SHAKTI Yamuna​ and offloading compute intensive tasks of image correlation algorithms to FPGA for parallel execution. </a:t>
            </a:r>
          </a:p>
          <a:p>
            <a:pPr fontAlgn="base"/>
            <a:r>
              <a:rPr lang="en-US" sz="1600"/>
              <a:t>To deliver a physical prototype that demonstrates the complete guidance functionality. 		 </a:t>
            </a:r>
            <a:endParaRPr lang="en-IN" sz="1600"/>
          </a:p>
          <a:p>
            <a:r>
              <a:rPr lang="en-US" sz="1600"/>
              <a:t>This system will lock onto a physical target, visually track it by matching live thermal images with preloaded satellite imagery, and output the exact guidance commands.</a:t>
            </a:r>
            <a:endParaRPr lang="en-IN" sz="16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DB458E-3B21-DB8C-6F7F-D7522463609E}"/>
              </a:ext>
            </a:extLst>
          </p:cNvPr>
          <p:cNvGrpSpPr/>
          <p:nvPr/>
        </p:nvGrpSpPr>
        <p:grpSpPr>
          <a:xfrm>
            <a:off x="5496718" y="1869235"/>
            <a:ext cx="6482030" cy="4110768"/>
            <a:chOff x="7725662" y="2770305"/>
            <a:chExt cx="4102086" cy="2357126"/>
          </a:xfrm>
        </p:grpSpPr>
        <p:pic>
          <p:nvPicPr>
            <p:cNvPr id="1026" name="Picture 2" descr="Flight profile of air-to-ground missile.">
              <a:extLst>
                <a:ext uri="{FF2B5EF4-FFF2-40B4-BE49-F238E27FC236}">
                  <a16:creationId xmlns:a16="http://schemas.microsoft.com/office/drawing/2014/main" id="{618B4F7F-B50B-118B-93FB-85272E8C7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725662" y="2770305"/>
              <a:ext cx="4102086" cy="23571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6A3F29-5CC9-CBD1-DC20-43AEFF9AA68B}"/>
                    </a:ext>
                  </a:extLst>
                </p14:cNvPr>
                <p14:cNvContentPartPr/>
                <p14:nvPr/>
              </p14:nvContentPartPr>
              <p14:xfrm>
                <a:off x="10326990" y="3588468"/>
                <a:ext cx="704520" cy="192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6A3F29-5CC9-CBD1-DC20-43AEFF9AA6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87116" y="3552381"/>
                  <a:ext cx="784041" cy="26456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0806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8FC9-248F-C1C8-915E-4B058F31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B6226E7-B86F-CB9E-B7A9-523C043B813D}"/>
              </a:ext>
            </a:extLst>
          </p:cNvPr>
          <p:cNvSpPr txBox="1"/>
          <p:nvPr/>
        </p:nvSpPr>
        <p:spPr>
          <a:xfrm>
            <a:off x="586090" y="462842"/>
            <a:ext cx="461687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+mj-lt"/>
              </a:rPr>
              <a:t>Block Diagram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1A0802-A29A-2625-E7ED-47187A648A3A}"/>
              </a:ext>
            </a:extLst>
          </p:cNvPr>
          <p:cNvGrpSpPr/>
          <p:nvPr/>
        </p:nvGrpSpPr>
        <p:grpSpPr>
          <a:xfrm>
            <a:off x="1058253" y="1569054"/>
            <a:ext cx="10075493" cy="4336579"/>
            <a:chOff x="-678899" y="451940"/>
            <a:chExt cx="13255823" cy="572094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EF63E62-1585-9D81-1563-B6C1549ABECE}"/>
                </a:ext>
              </a:extLst>
            </p:cNvPr>
            <p:cNvSpPr/>
            <p:nvPr/>
          </p:nvSpPr>
          <p:spPr>
            <a:xfrm>
              <a:off x="6231865" y="451940"/>
              <a:ext cx="2743200" cy="1371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Inertial Measurement Unit</a:t>
              </a:r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DD2266-5376-3BFA-6427-A8E31AAE5F0D}"/>
                </a:ext>
              </a:extLst>
            </p:cNvPr>
            <p:cNvSpPr/>
            <p:nvPr/>
          </p:nvSpPr>
          <p:spPr>
            <a:xfrm>
              <a:off x="-678899" y="1495367"/>
              <a:ext cx="3210410" cy="13715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/>
                <a:t>LWIR Sensor/Camera</a:t>
              </a:r>
              <a:endParaRPr lang="en-IN" sz="240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0D0AD55-341D-74D7-01E5-465354169F51}"/>
                </a:ext>
              </a:extLst>
            </p:cNvPr>
            <p:cNvGrpSpPr/>
            <p:nvPr/>
          </p:nvGrpSpPr>
          <p:grpSpPr>
            <a:xfrm>
              <a:off x="2876473" y="2727387"/>
              <a:ext cx="6439054" cy="3445495"/>
              <a:chOff x="4381349" y="2527511"/>
              <a:chExt cx="6439054" cy="344549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2BC0AB2-E3F8-18D5-C5DD-FCCFA6714AF0}"/>
                  </a:ext>
                </a:extLst>
              </p:cNvPr>
              <p:cNvSpPr/>
              <p:nvPr/>
            </p:nvSpPr>
            <p:spPr>
              <a:xfrm>
                <a:off x="4381349" y="2527511"/>
                <a:ext cx="6439054" cy="344549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2400"/>
                  <a:t>FPGA</a:t>
                </a:r>
                <a:endParaRPr lang="en-IN" sz="24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8FF523B-4AC7-F6B0-C0A4-5B678778E493}"/>
                  </a:ext>
                </a:extLst>
              </p:cNvPr>
              <p:cNvSpPr/>
              <p:nvPr/>
            </p:nvSpPr>
            <p:spPr>
              <a:xfrm>
                <a:off x="5044440" y="3651213"/>
                <a:ext cx="2208314" cy="118872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/>
                  <a:t>Custom Image Processing IP</a:t>
                </a:r>
                <a:endParaRPr lang="en-IN" sz="160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6D08989-7F95-9DBC-8DF5-32360FC82DB3}"/>
                  </a:ext>
                </a:extLst>
              </p:cNvPr>
              <p:cNvSpPr/>
              <p:nvPr/>
            </p:nvSpPr>
            <p:spPr>
              <a:xfrm>
                <a:off x="8056781" y="3651213"/>
                <a:ext cx="2103120" cy="118872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/>
                  <a:t>Shakti Yamuna</a:t>
                </a:r>
                <a:endParaRPr lang="en-IN" sz="240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D360D4-F8CA-B791-07A1-C71D53ECD545}"/>
                </a:ext>
              </a:extLst>
            </p:cNvPr>
            <p:cNvSpPr/>
            <p:nvPr/>
          </p:nvSpPr>
          <p:spPr>
            <a:xfrm>
              <a:off x="10510612" y="3759649"/>
              <a:ext cx="2066312" cy="137159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Flight Controller</a:t>
              </a:r>
              <a:endParaRPr lang="en-IN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005060E-C6A8-2CDF-68C5-5901CF4000F6}"/>
                </a:ext>
              </a:extLst>
            </p:cNvPr>
            <p:cNvCxnSpPr>
              <a:cxnSpLocks/>
            </p:cNvCxnSpPr>
            <p:nvPr/>
          </p:nvCxnSpPr>
          <p:spPr>
            <a:xfrm>
              <a:off x="7603465" y="1823540"/>
              <a:ext cx="0" cy="20275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0F6F80-435F-E6EF-F1F4-CA8704D12D4F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943122" y="4596208"/>
            <a:ext cx="61112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B328D0-9592-5145-C0C0-44230F8A0040}"/>
              </a:ext>
            </a:extLst>
          </p:cNvPr>
          <p:cNvCxnSpPr>
            <a:cxnSpLocks/>
            <a:stCxn id="22" idx="3"/>
            <a:endCxn id="6" idx="1"/>
          </p:cNvCxnSpPr>
          <p:nvPr/>
        </p:nvCxnSpPr>
        <p:spPr>
          <a:xfrm flipV="1">
            <a:off x="8152788" y="4596207"/>
            <a:ext cx="14103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90751B5-E59B-0BB0-5950-E91BC01B365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8423" y="2879840"/>
            <a:ext cx="3409086" cy="1272671"/>
          </a:xfrm>
          <a:prstGeom prst="bentConnector3">
            <a:avLst>
              <a:gd name="adj1" fmla="val 999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52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9F65-8202-4E60-67B1-E8AE80BD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F3BB-57CD-48DE-3EDD-C7113F68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82" y="727166"/>
            <a:ext cx="6560341" cy="449489"/>
          </a:xfrm>
        </p:spPr>
        <p:txBody>
          <a:bodyPr>
            <a:noAutofit/>
          </a:bodyPr>
          <a:lstStyle/>
          <a:p>
            <a:r>
              <a:rPr lang="en-US" sz="3200" b="1"/>
              <a:t>Yamuna Application Architecture	</a:t>
            </a:r>
            <a:endParaRPr lang="en-IN" sz="3200" b="1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1CB477-127E-0C77-6D4F-0C7C4B768F8A}"/>
              </a:ext>
            </a:extLst>
          </p:cNvPr>
          <p:cNvGrpSpPr/>
          <p:nvPr/>
        </p:nvGrpSpPr>
        <p:grpSpPr>
          <a:xfrm>
            <a:off x="774327" y="1124027"/>
            <a:ext cx="10579473" cy="5371946"/>
            <a:chOff x="838200" y="1197337"/>
            <a:chExt cx="10579473" cy="5371946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234A6AF-A5A9-4046-879C-32FBA4FAF3B7}"/>
                </a:ext>
              </a:extLst>
            </p:cNvPr>
            <p:cNvGrpSpPr/>
            <p:nvPr/>
          </p:nvGrpSpPr>
          <p:grpSpPr>
            <a:xfrm>
              <a:off x="838200" y="1448389"/>
              <a:ext cx="10494265" cy="5092507"/>
              <a:chOff x="514949" y="436034"/>
              <a:chExt cx="11441896" cy="603102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0801B58-7633-6904-0B5B-8804E59129FB}"/>
                  </a:ext>
                </a:extLst>
              </p:cNvPr>
              <p:cNvSpPr/>
              <p:nvPr/>
            </p:nvSpPr>
            <p:spPr>
              <a:xfrm>
                <a:off x="4687652" y="454137"/>
                <a:ext cx="1592433" cy="76104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Camera Interface</a:t>
                </a:r>
                <a:endParaRPr lang="en-IN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892060E-24BF-F726-22B8-2053BEB3F91F}"/>
                  </a:ext>
                </a:extLst>
              </p:cNvPr>
              <p:cNvSpPr/>
              <p:nvPr/>
            </p:nvSpPr>
            <p:spPr>
              <a:xfrm>
                <a:off x="514950" y="481961"/>
                <a:ext cx="1592433" cy="76104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Camera Module</a:t>
                </a:r>
                <a:endParaRPr lang="en-IN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8709AC-16EA-E619-2ABA-970DD946328B}"/>
                  </a:ext>
                </a:extLst>
              </p:cNvPr>
              <p:cNvSpPr/>
              <p:nvPr/>
            </p:nvSpPr>
            <p:spPr>
              <a:xfrm>
                <a:off x="10084617" y="481961"/>
                <a:ext cx="1592433" cy="76104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Image Proc</a:t>
                </a:r>
                <a:r>
                  <a:rPr lang="en-US" sz="1600"/>
                  <a:t>essing</a:t>
                </a:r>
                <a:r>
                  <a:rPr lang="en-US"/>
                  <a:t> IP</a:t>
                </a:r>
                <a:endParaRPr lang="en-IN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69155FC-E08B-A154-9167-6EC8E7377DCD}"/>
                  </a:ext>
                </a:extLst>
              </p:cNvPr>
              <p:cNvSpPr/>
              <p:nvPr/>
            </p:nvSpPr>
            <p:spPr>
              <a:xfrm>
                <a:off x="10084617" y="1969273"/>
                <a:ext cx="1592433" cy="76104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ISR</a:t>
                </a:r>
                <a:endParaRPr lang="en-IN"/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76A74AE-A32A-7E3D-B391-076A0D5C1691}"/>
                  </a:ext>
                </a:extLst>
              </p:cNvPr>
              <p:cNvCxnSpPr>
                <a:cxnSpLocks/>
                <a:stCxn id="65" idx="2"/>
                <a:endCxn id="69" idx="0"/>
              </p:cNvCxnSpPr>
              <p:nvPr/>
            </p:nvCxnSpPr>
            <p:spPr>
              <a:xfrm>
                <a:off x="10880834" y="2730322"/>
                <a:ext cx="0" cy="5893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CBC8EA2-039B-3ED9-4A20-636B116C1F84}"/>
                  </a:ext>
                </a:extLst>
              </p:cNvPr>
              <p:cNvSpPr/>
              <p:nvPr/>
            </p:nvSpPr>
            <p:spPr>
              <a:xfrm>
                <a:off x="4687652" y="1888195"/>
                <a:ext cx="1592433" cy="76104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IMU Interface</a:t>
                </a:r>
                <a:endParaRPr lang="en-IN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C1C15D9-0824-8E0F-9E61-9792DFBE964C}"/>
                  </a:ext>
                </a:extLst>
              </p:cNvPr>
              <p:cNvSpPr/>
              <p:nvPr/>
            </p:nvSpPr>
            <p:spPr>
              <a:xfrm>
                <a:off x="4687652" y="3319697"/>
                <a:ext cx="1592433" cy="76104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imu_data_q</a:t>
                </a:r>
                <a:endParaRPr lang="en-IN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5D4E2A9-9264-BB7B-FE58-1AE62AB66738}"/>
                  </a:ext>
                </a:extLst>
              </p:cNvPr>
              <p:cNvSpPr/>
              <p:nvPr/>
            </p:nvSpPr>
            <p:spPr>
              <a:xfrm>
                <a:off x="10084617" y="3319697"/>
                <a:ext cx="1592433" cy="76104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co-</a:t>
                </a:r>
                <a:r>
                  <a:rPr lang="en-US" err="1"/>
                  <a:t>ord_q</a:t>
                </a:r>
                <a:endParaRPr lang="en-IN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E59248A-3570-5D46-D267-9C7FBAD73B95}"/>
                  </a:ext>
                </a:extLst>
              </p:cNvPr>
              <p:cNvSpPr/>
              <p:nvPr/>
            </p:nvSpPr>
            <p:spPr>
              <a:xfrm>
                <a:off x="7386134" y="4345643"/>
                <a:ext cx="1592433" cy="76104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Control Logic</a:t>
                </a:r>
                <a:endParaRPr lang="en-IN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09732A6-E2EA-ED7E-A6C2-659790F1F361}"/>
                  </a:ext>
                </a:extLst>
              </p:cNvPr>
              <p:cNvSpPr/>
              <p:nvPr/>
            </p:nvSpPr>
            <p:spPr>
              <a:xfrm>
                <a:off x="4687651" y="5649140"/>
                <a:ext cx="1592433" cy="76104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FC Interface</a:t>
                </a:r>
                <a:endParaRPr lang="en-IN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A234BA4-91EE-4EB8-B535-55FB0FE4C92D}"/>
                  </a:ext>
                </a:extLst>
              </p:cNvPr>
              <p:cNvSpPr/>
              <p:nvPr/>
            </p:nvSpPr>
            <p:spPr>
              <a:xfrm>
                <a:off x="7386133" y="5649141"/>
                <a:ext cx="1592433" cy="76104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err="1"/>
                  <a:t>flight_cmd_q</a:t>
                </a:r>
                <a:endParaRPr lang="en-IN"/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BE475BF-063C-97BD-8C6A-C5337CE7A41D}"/>
                  </a:ext>
                </a:extLst>
              </p:cNvPr>
              <p:cNvCxnSpPr>
                <a:cxnSpLocks/>
                <a:stCxn id="62" idx="2"/>
                <a:endCxn id="67" idx="0"/>
              </p:cNvCxnSpPr>
              <p:nvPr/>
            </p:nvCxnSpPr>
            <p:spPr>
              <a:xfrm>
                <a:off x="5483869" y="1215186"/>
                <a:ext cx="0" cy="6730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21FE30C7-09CA-F78F-B467-781DE4F32312}"/>
                  </a:ext>
                </a:extLst>
              </p:cNvPr>
              <p:cNvCxnSpPr>
                <a:cxnSpLocks/>
                <a:stCxn id="75" idx="3"/>
                <a:endCxn id="67" idx="1"/>
              </p:cNvCxnSpPr>
              <p:nvPr/>
            </p:nvCxnSpPr>
            <p:spPr>
              <a:xfrm>
                <a:off x="2107383" y="2268720"/>
                <a:ext cx="258026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26B1A404-3505-B029-D4B4-257672722BCA}"/>
                  </a:ext>
                </a:extLst>
              </p:cNvPr>
              <p:cNvSpPr/>
              <p:nvPr/>
            </p:nvSpPr>
            <p:spPr>
              <a:xfrm>
                <a:off x="514950" y="1888195"/>
                <a:ext cx="1592433" cy="76104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IMU Sensor</a:t>
                </a:r>
                <a:endParaRPr lang="en-IN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3113C5C-D12C-9142-D06C-B216E48AF090}"/>
                  </a:ext>
                </a:extLst>
              </p:cNvPr>
              <p:cNvCxnSpPr>
                <a:cxnSpLocks/>
                <a:stCxn id="63" idx="3"/>
                <a:endCxn id="62" idx="1"/>
              </p:cNvCxnSpPr>
              <p:nvPr/>
            </p:nvCxnSpPr>
            <p:spPr>
              <a:xfrm flipV="1">
                <a:off x="2107383" y="834662"/>
                <a:ext cx="2580269" cy="278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91EBC0C-5110-32A0-3CC5-034615F79E85}"/>
                  </a:ext>
                </a:extLst>
              </p:cNvPr>
              <p:cNvCxnSpPr>
                <a:cxnSpLocks/>
                <a:stCxn id="62" idx="3"/>
                <a:endCxn id="64" idx="1"/>
              </p:cNvCxnSpPr>
              <p:nvPr/>
            </p:nvCxnSpPr>
            <p:spPr>
              <a:xfrm>
                <a:off x="6280085" y="834662"/>
                <a:ext cx="3804532" cy="278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F9401F3C-1C28-8F2E-C964-517EEFD9977D}"/>
                  </a:ext>
                </a:extLst>
              </p:cNvPr>
              <p:cNvCxnSpPr>
                <a:cxnSpLocks/>
                <a:stCxn id="64" idx="2"/>
                <a:endCxn id="65" idx="0"/>
              </p:cNvCxnSpPr>
              <p:nvPr/>
            </p:nvCxnSpPr>
            <p:spPr>
              <a:xfrm>
                <a:off x="10880834" y="1243010"/>
                <a:ext cx="0" cy="7262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8070C8F9-2942-FC38-9A7C-3216F9D69CA2}"/>
                  </a:ext>
                </a:extLst>
              </p:cNvPr>
              <p:cNvCxnSpPr>
                <a:cxnSpLocks/>
                <a:stCxn id="67" idx="2"/>
                <a:endCxn id="68" idx="0"/>
              </p:cNvCxnSpPr>
              <p:nvPr/>
            </p:nvCxnSpPr>
            <p:spPr>
              <a:xfrm>
                <a:off x="5483869" y="2649244"/>
                <a:ext cx="0" cy="6704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Connector: Elbow 79">
                <a:extLst>
                  <a:ext uri="{FF2B5EF4-FFF2-40B4-BE49-F238E27FC236}">
                    <a16:creationId xmlns:a16="http://schemas.microsoft.com/office/drawing/2014/main" id="{76D2F0A3-601E-E705-033A-C9AFD0F2A5FD}"/>
                  </a:ext>
                </a:extLst>
              </p:cNvPr>
              <p:cNvCxnSpPr>
                <a:cxnSpLocks/>
                <a:stCxn id="68" idx="2"/>
                <a:endCxn id="70" idx="1"/>
              </p:cNvCxnSpPr>
              <p:nvPr/>
            </p:nvCxnSpPr>
            <p:spPr>
              <a:xfrm rot="16200000" flipH="1">
                <a:off x="6112290" y="3452324"/>
                <a:ext cx="645422" cy="1902265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or: Elbow 80">
                <a:extLst>
                  <a:ext uri="{FF2B5EF4-FFF2-40B4-BE49-F238E27FC236}">
                    <a16:creationId xmlns:a16="http://schemas.microsoft.com/office/drawing/2014/main" id="{1BA2405A-8577-7AB3-8D9F-4C00FDD64EB8}"/>
                  </a:ext>
                </a:extLst>
              </p:cNvPr>
              <p:cNvCxnSpPr>
                <a:cxnSpLocks/>
                <a:stCxn id="69" idx="2"/>
                <a:endCxn id="70" idx="3"/>
              </p:cNvCxnSpPr>
              <p:nvPr/>
            </p:nvCxnSpPr>
            <p:spPr>
              <a:xfrm rot="5400000">
                <a:off x="9606990" y="3452324"/>
                <a:ext cx="645422" cy="1902267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B580D25B-71B7-01F9-A6EB-F25BD6DA0C7F}"/>
                  </a:ext>
                </a:extLst>
              </p:cNvPr>
              <p:cNvCxnSpPr>
                <a:cxnSpLocks/>
                <a:stCxn id="70" idx="2"/>
                <a:endCxn id="72" idx="0"/>
              </p:cNvCxnSpPr>
              <p:nvPr/>
            </p:nvCxnSpPr>
            <p:spPr>
              <a:xfrm flipH="1">
                <a:off x="8182350" y="5106692"/>
                <a:ext cx="1" cy="5424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777C0B4-2D98-D6A1-FEF3-82B182BF5837}"/>
                  </a:ext>
                </a:extLst>
              </p:cNvPr>
              <p:cNvCxnSpPr>
                <a:cxnSpLocks/>
                <a:stCxn id="72" idx="1"/>
                <a:endCxn id="71" idx="3"/>
              </p:cNvCxnSpPr>
              <p:nvPr/>
            </p:nvCxnSpPr>
            <p:spPr>
              <a:xfrm flipH="1" flipV="1">
                <a:off x="6280084" y="6029665"/>
                <a:ext cx="110604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F399E79-DDED-E039-2BD0-A509EDB5FC32}"/>
                  </a:ext>
                </a:extLst>
              </p:cNvPr>
              <p:cNvSpPr/>
              <p:nvPr/>
            </p:nvSpPr>
            <p:spPr>
              <a:xfrm>
                <a:off x="514949" y="5649139"/>
                <a:ext cx="1592433" cy="76104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FC Module</a:t>
                </a:r>
                <a:endParaRPr lang="en-IN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3854F7E-A9DD-F4C2-5580-BC3923F43127}"/>
                  </a:ext>
                </a:extLst>
              </p:cNvPr>
              <p:cNvCxnSpPr>
                <a:cxnSpLocks/>
                <a:stCxn id="71" idx="1"/>
                <a:endCxn id="84" idx="3"/>
              </p:cNvCxnSpPr>
              <p:nvPr/>
            </p:nvCxnSpPr>
            <p:spPr>
              <a:xfrm flipH="1" flipV="1">
                <a:off x="2107382" y="6029664"/>
                <a:ext cx="258026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76F2C85-9F96-A28D-46A8-1F00E1CCE849}"/>
                  </a:ext>
                </a:extLst>
              </p:cNvPr>
              <p:cNvSpPr txBox="1"/>
              <p:nvPr/>
            </p:nvSpPr>
            <p:spPr>
              <a:xfrm>
                <a:off x="2596896" y="1069848"/>
                <a:ext cx="184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12BE4D4-9441-B25A-02D0-FFA93EB4D3EC}"/>
                  </a:ext>
                </a:extLst>
              </p:cNvPr>
              <p:cNvSpPr txBox="1"/>
              <p:nvPr/>
            </p:nvSpPr>
            <p:spPr>
              <a:xfrm>
                <a:off x="2975772" y="825919"/>
                <a:ext cx="784952" cy="437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UART</a:t>
                </a:r>
                <a:endParaRPr lang="en-IN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ACC1B25-CBF7-D844-EB42-D75D76150ADA}"/>
                  </a:ext>
                </a:extLst>
              </p:cNvPr>
              <p:cNvSpPr txBox="1"/>
              <p:nvPr/>
            </p:nvSpPr>
            <p:spPr>
              <a:xfrm>
                <a:off x="6970959" y="828334"/>
                <a:ext cx="2422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Direct Memory Access</a:t>
                </a:r>
                <a:endParaRPr lang="en-IN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E6C5D11-78DD-4273-4D61-1D26C628B1C1}"/>
                  </a:ext>
                </a:extLst>
              </p:cNvPr>
              <p:cNvSpPr txBox="1"/>
              <p:nvPr/>
            </p:nvSpPr>
            <p:spPr>
              <a:xfrm>
                <a:off x="10857570" y="1370032"/>
                <a:ext cx="1099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O/P Valid</a:t>
                </a:r>
                <a:endParaRPr lang="en-IN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5C06321-693E-01D8-28EB-75FBFA3A31C4}"/>
                  </a:ext>
                </a:extLst>
              </p:cNvPr>
              <p:cNvSpPr txBox="1"/>
              <p:nvPr/>
            </p:nvSpPr>
            <p:spPr>
              <a:xfrm>
                <a:off x="5483868" y="1309540"/>
                <a:ext cx="1482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Frame Ready</a:t>
                </a:r>
                <a:endParaRPr lang="en-IN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BD73A581-1FA0-3D7E-47BF-3FB164F33B30}"/>
                  </a:ext>
                </a:extLst>
              </p:cNvPr>
              <p:cNvSpPr txBox="1"/>
              <p:nvPr/>
            </p:nvSpPr>
            <p:spPr>
              <a:xfrm>
                <a:off x="7839348" y="436034"/>
                <a:ext cx="690432" cy="437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AXI4</a:t>
                </a:r>
                <a:endParaRPr lang="en-IN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D8695C2-D5CD-7B25-BD29-3582DD22DC9E}"/>
                  </a:ext>
                </a:extLst>
              </p:cNvPr>
              <p:cNvSpPr txBox="1"/>
              <p:nvPr/>
            </p:nvSpPr>
            <p:spPr>
              <a:xfrm>
                <a:off x="2938786" y="2240383"/>
                <a:ext cx="784952" cy="437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UART</a:t>
                </a:r>
                <a:endParaRPr lang="en-IN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F1875FC-1291-BCA4-7C2F-03920AE11B35}"/>
                  </a:ext>
                </a:extLst>
              </p:cNvPr>
              <p:cNvSpPr txBox="1"/>
              <p:nvPr/>
            </p:nvSpPr>
            <p:spPr>
              <a:xfrm>
                <a:off x="9016472" y="4726167"/>
                <a:ext cx="21362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Waits on this queue</a:t>
                </a:r>
                <a:endParaRPr lang="en-IN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2005F06-DD5D-8FFF-D816-06BE913D70F4}"/>
                  </a:ext>
                </a:extLst>
              </p:cNvPr>
              <p:cNvSpPr txBox="1"/>
              <p:nvPr/>
            </p:nvSpPr>
            <p:spPr>
              <a:xfrm>
                <a:off x="2565831" y="6029664"/>
                <a:ext cx="1663373" cy="437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UART/SPI/I2C</a:t>
                </a:r>
                <a:endParaRPr lang="en-IN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884440B-C5F5-C58F-DE72-9D3854F7ECEB}"/>
                </a:ext>
              </a:extLst>
            </p:cNvPr>
            <p:cNvGrpSpPr/>
            <p:nvPr/>
          </p:nvGrpSpPr>
          <p:grpSpPr>
            <a:xfrm>
              <a:off x="4437137" y="1197337"/>
              <a:ext cx="6916662" cy="5371946"/>
              <a:chOff x="4376070" y="1168953"/>
              <a:chExt cx="6916662" cy="5371946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4C702FF-171A-2CDB-2BD8-3B59712BB0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6070" y="1169581"/>
                <a:ext cx="4857528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391AFE6-3679-55CE-B498-04FB3BB0B0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6070" y="1169581"/>
                <a:ext cx="0" cy="537131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4A85599-2315-771E-B646-31B3CBFDA5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92732" y="2617779"/>
                <a:ext cx="0" cy="3923118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C667354-4C81-D07B-0195-FF1E56793F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6070" y="6540897"/>
                <a:ext cx="6916662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248B04E-1AEB-A8DA-52FA-2326BC6DF1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3598" y="1168953"/>
                <a:ext cx="0" cy="1448826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043D5C9-6406-B808-B918-6C5EA88910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33598" y="2617779"/>
                <a:ext cx="2059134" cy="0"/>
              </a:xfrm>
              <a:prstGeom prst="line">
                <a:avLst/>
              </a:prstGeom>
              <a:ln>
                <a:prstDash val="dash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BB2E4A3-2C49-BC2C-5343-FAFB9108704E}"/>
                </a:ext>
              </a:extLst>
            </p:cNvPr>
            <p:cNvGrpSpPr/>
            <p:nvPr/>
          </p:nvGrpSpPr>
          <p:grpSpPr>
            <a:xfrm>
              <a:off x="8981636" y="5926665"/>
              <a:ext cx="2436037" cy="321308"/>
              <a:chOff x="9139996" y="6171564"/>
              <a:chExt cx="2436037" cy="32130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948A3DB-9F35-E2D8-3032-ED330D93252F}"/>
                  </a:ext>
                </a:extLst>
              </p:cNvPr>
              <p:cNvSpPr txBox="1"/>
              <p:nvPr/>
            </p:nvSpPr>
            <p:spPr>
              <a:xfrm>
                <a:off x="9164888" y="6185095"/>
                <a:ext cx="24111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/>
                  <a:t>Yamuna RTOS Application</a:t>
                </a:r>
                <a:endParaRPr lang="en-IN" sz="14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7D88655-9C4C-A58B-AC60-54C8819A8A92}"/>
                  </a:ext>
                </a:extLst>
              </p:cNvPr>
              <p:cNvSpPr/>
              <p:nvPr/>
            </p:nvSpPr>
            <p:spPr>
              <a:xfrm>
                <a:off x="9139996" y="6171564"/>
                <a:ext cx="2164018" cy="3213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894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43E0-867F-9DC0-CA31-0CD3C0BC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0AD7-A13B-B4B6-7642-F83F22BE7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74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endParaRPr lang="en-US" sz="36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3200" b="1">
                <a:ea typeface="+mn-lt"/>
                <a:cs typeface="+mn-lt"/>
              </a:rPr>
              <a:t>Required Peripherals</a:t>
            </a:r>
            <a:endParaRPr lang="en-US" sz="3200" b="1"/>
          </a:p>
          <a:p>
            <a:pPr marL="800100" lvl="1" indent="-342900">
              <a:buFont typeface="Arial"/>
              <a:buChar char="•"/>
            </a:pPr>
            <a:r>
              <a:rPr lang="en-US" sz="2800">
                <a:cs typeface="Arial"/>
              </a:rPr>
              <a:t>3 UART </a:t>
            </a:r>
          </a:p>
          <a:p>
            <a:pPr marL="1257300" lvl="2" indent="-342900">
              <a:buFont typeface="Arial"/>
              <a:buChar char="•"/>
            </a:pPr>
            <a:r>
              <a:rPr lang="en-US">
                <a:cs typeface="Arial"/>
              </a:rPr>
              <a:t>Camera</a:t>
            </a:r>
            <a:endParaRPr lang="en-US"/>
          </a:p>
          <a:p>
            <a:pPr marL="1257300" lvl="2" indent="-342900">
              <a:buFont typeface="Arial"/>
              <a:buChar char="•"/>
            </a:pPr>
            <a:r>
              <a:rPr lang="en-US">
                <a:cs typeface="Arial"/>
              </a:rPr>
              <a:t>IMU</a:t>
            </a:r>
          </a:p>
          <a:p>
            <a:pPr marL="1257300" lvl="2" indent="-342900">
              <a:buFont typeface="Arial"/>
              <a:buChar char="•"/>
            </a:pPr>
            <a:r>
              <a:rPr lang="en-US">
                <a:cs typeface="Arial"/>
              </a:rPr>
              <a:t>Serial Monitor</a:t>
            </a:r>
          </a:p>
          <a:p>
            <a:pPr marL="0" indent="0">
              <a:buNone/>
            </a:pPr>
            <a:r>
              <a:rPr lang="en-US" sz="3200" b="1">
                <a:cs typeface="Arial"/>
              </a:rPr>
              <a:t>Removed Peripherals</a:t>
            </a:r>
            <a:endParaRPr lang="en-US" sz="3200">
              <a:cs typeface="Arial"/>
            </a:endParaRPr>
          </a:p>
          <a:p>
            <a:pPr marL="971550" lvl="1" indent="-285750">
              <a:buFont typeface="Arial,Sans-Serif"/>
            </a:pPr>
            <a:r>
              <a:rPr lang="en-US">
                <a:cs typeface="Arial"/>
              </a:rPr>
              <a:t>2 SPI Controllers</a:t>
            </a:r>
          </a:p>
          <a:p>
            <a:pPr marL="971550" lvl="1" indent="-285750">
              <a:buFont typeface="Arial,Sans-Serif"/>
            </a:pPr>
            <a:r>
              <a:rPr lang="en-US">
                <a:cs typeface="Arial"/>
              </a:rPr>
              <a:t>2 I2C Controllers</a:t>
            </a:r>
          </a:p>
          <a:p>
            <a:pPr marL="971550" lvl="1" indent="-285750">
              <a:buFont typeface="Arial,Sans-Serif"/>
              <a:buChar char="•"/>
            </a:pPr>
            <a:endParaRPr lang="en-US" sz="1800">
              <a:cs typeface="Arial"/>
            </a:endParaRPr>
          </a:p>
          <a:p>
            <a:pPr marL="0" indent="0">
              <a:buNone/>
            </a:pPr>
            <a:endParaRPr lang="en-US" sz="2400" b="1">
              <a:cs typeface="Arial"/>
            </a:endParaRPr>
          </a:p>
          <a:p>
            <a:pPr marL="971550" lvl="1" indent="-285750">
              <a:buFont typeface="Arial"/>
              <a:buChar char="•"/>
            </a:pPr>
            <a:endParaRPr lang="en-US" sz="1800"/>
          </a:p>
          <a:p>
            <a:pPr lvl="1" indent="0">
              <a:buNone/>
            </a:pPr>
            <a:endParaRPr lang="en-US" sz="1800">
              <a:cs typeface="Arial"/>
            </a:endParaRPr>
          </a:p>
          <a:p>
            <a:pPr marL="457200" lvl="1" indent="0">
              <a:buNone/>
            </a:pPr>
            <a:endParaRPr lang="en-US" sz="1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IN" sz="2800">
              <a:cs typeface="Arial"/>
            </a:endParaRPr>
          </a:p>
          <a:p>
            <a:pPr lvl="1"/>
            <a:endParaRPr lang="en-US" sz="2800">
              <a:cs typeface="Arial"/>
            </a:endParaRPr>
          </a:p>
          <a:p>
            <a:pPr lvl="1"/>
            <a:endParaRPr lang="en-US" sz="2800" b="1">
              <a:cs typeface="Arial"/>
            </a:endParaRPr>
          </a:p>
          <a:p>
            <a:pPr lvl="1"/>
            <a:endParaRPr lang="en-IN" sz="2800" b="1">
              <a:cs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710AAD-5DF0-D851-2A56-5EC2702D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026"/>
            <a:ext cx="9048750" cy="419100"/>
          </a:xfrm>
        </p:spPr>
        <p:txBody>
          <a:bodyPr>
            <a:noAutofit/>
          </a:bodyPr>
          <a:lstStyle/>
          <a:p>
            <a:r>
              <a:rPr lang="en-US" sz="3200" b="1"/>
              <a:t>Shakti Custom Peripheral SOC</a:t>
            </a:r>
          </a:p>
        </p:txBody>
      </p:sp>
    </p:spTree>
    <p:extLst>
      <p:ext uri="{BB962C8B-B14F-4D97-AF65-F5344CB8AC3E}">
        <p14:creationId xmlns:p14="http://schemas.microsoft.com/office/powerpoint/2010/main" val="4145868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9E71-59AD-AA26-28F9-7DBE7C90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169"/>
            <a:ext cx="8212957" cy="485776"/>
          </a:xfrm>
        </p:spPr>
        <p:txBody>
          <a:bodyPr>
            <a:noAutofit/>
          </a:bodyPr>
          <a:lstStyle/>
          <a:p>
            <a:r>
              <a:rPr lang="en-US" sz="3200" b="1"/>
              <a:t>LUTs Utilization - Before Optimization v/s After</a:t>
            </a: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86F65F-3CB3-9006-BABC-FDD5A3D16A84}"/>
              </a:ext>
            </a:extLst>
          </p:cNvPr>
          <p:cNvGrpSpPr/>
          <p:nvPr/>
        </p:nvGrpSpPr>
        <p:grpSpPr>
          <a:xfrm>
            <a:off x="1706671" y="3694679"/>
            <a:ext cx="8774255" cy="2108375"/>
            <a:chOff x="2948519" y="3590295"/>
            <a:chExt cx="8774255" cy="2108375"/>
          </a:xfrm>
        </p:grpSpPr>
        <p:pic>
          <p:nvPicPr>
            <p:cNvPr id="3" name="Picture 2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8A719051-E4E2-7D16-BD99-B58294E3F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-135" b="45642"/>
            <a:stretch>
              <a:fillRect/>
            </a:stretch>
          </p:blipFill>
          <p:spPr>
            <a:xfrm>
              <a:off x="2948519" y="3590295"/>
              <a:ext cx="8774255" cy="179511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635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95A100-02AA-47F9-FDBE-804A27C62F0D}"/>
                </a:ext>
              </a:extLst>
            </p:cNvPr>
            <p:cNvSpPr txBox="1"/>
            <p:nvPr/>
          </p:nvSpPr>
          <p:spPr>
            <a:xfrm>
              <a:off x="5529001" y="5390893"/>
              <a:ext cx="362002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/>
                <a:t>Optimized configuration - LUTs</a:t>
              </a:r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94370BF-6149-DC17-17FA-825CCB10F220}"/>
              </a:ext>
            </a:extLst>
          </p:cNvPr>
          <p:cNvGrpSpPr/>
          <p:nvPr/>
        </p:nvGrpSpPr>
        <p:grpSpPr>
          <a:xfrm>
            <a:off x="1591849" y="1281411"/>
            <a:ext cx="9009476" cy="2298503"/>
            <a:chOff x="747869" y="1124836"/>
            <a:chExt cx="9009476" cy="229850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4555E6-C5B4-72C3-5670-77F584CD45E0}"/>
                </a:ext>
              </a:extLst>
            </p:cNvPr>
            <p:cNvSpPr txBox="1"/>
            <p:nvPr/>
          </p:nvSpPr>
          <p:spPr>
            <a:xfrm>
              <a:off x="3437545" y="3115562"/>
              <a:ext cx="362002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/>
                <a:t>Default configuration – LUTs</a:t>
              </a:r>
              <a:endParaRPr lang="en-US"/>
            </a:p>
          </p:txBody>
        </p:sp>
        <p:pic>
          <p:nvPicPr>
            <p:cNvPr id="10" name="Picture 9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A4A0B81B-5FA4-BECF-5EBC-6A475DA6A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81" t="-340" r="-1584" b="45636"/>
            <a:stretch>
              <a:fillRect/>
            </a:stretch>
          </p:blipFill>
          <p:spPr>
            <a:xfrm>
              <a:off x="747869" y="1124836"/>
              <a:ext cx="9009476" cy="196539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6350" cap="sq">
              <a:solidFill>
                <a:schemeClr val="tx1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8F9B90-A4A6-2D31-AC23-E9874B290E4B}"/>
              </a:ext>
            </a:extLst>
          </p:cNvPr>
          <p:cNvSpPr txBox="1"/>
          <p:nvPr/>
        </p:nvSpPr>
        <p:spPr>
          <a:xfrm>
            <a:off x="751872" y="5928806"/>
            <a:ext cx="100031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After removing the unused peripherals, the LUTs utilization was reduced by ~10.54%  (~13.26% relative reduction).</a:t>
            </a:r>
          </a:p>
        </p:txBody>
      </p:sp>
    </p:spTree>
    <p:extLst>
      <p:ext uri="{BB962C8B-B14F-4D97-AF65-F5344CB8AC3E}">
        <p14:creationId xmlns:p14="http://schemas.microsoft.com/office/powerpoint/2010/main" val="2615774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958E3-3D69-BF73-7B53-66C3137E2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73E77-B880-CCE0-DF9E-2C3979CBA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165" y="1825625"/>
            <a:ext cx="10515600" cy="4664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2800" b="1">
                <a:latin typeface="Aptos"/>
                <a:cs typeface="Arial"/>
              </a:rPr>
              <a:t>Camera Module: </a:t>
            </a:r>
            <a:r>
              <a:rPr lang="en-US" sz="2800" err="1">
                <a:latin typeface="Aptos"/>
                <a:cs typeface="Arial"/>
              </a:rPr>
              <a:t>Seeed</a:t>
            </a:r>
            <a:r>
              <a:rPr lang="en-US" sz="2800">
                <a:latin typeface="Aptos"/>
                <a:cs typeface="Arial"/>
              </a:rPr>
              <a:t> Studios XIAO ESP32S3 Sense</a:t>
            </a:r>
          </a:p>
          <a:p>
            <a:pPr lvl="1"/>
            <a:r>
              <a:rPr lang="en-US" sz="2800" b="1">
                <a:latin typeface="Aptos"/>
                <a:cs typeface="Arial"/>
              </a:rPr>
              <a:t>Inertial Measurement Unit: </a:t>
            </a:r>
            <a:r>
              <a:rPr lang="en-US" sz="2800">
                <a:latin typeface="Aptos"/>
                <a:cs typeface="Arial"/>
              </a:rPr>
              <a:t>Adafruit BNO085 IMU</a:t>
            </a:r>
          </a:p>
          <a:p>
            <a:pPr lvl="1"/>
            <a:r>
              <a:rPr lang="en-US" sz="2800">
                <a:latin typeface="Aptos"/>
                <a:cs typeface="Arial"/>
              </a:rPr>
              <a:t>Breadboard, jumper wires and </a:t>
            </a:r>
            <a:r>
              <a:rPr lang="en-US" sz="2800" err="1">
                <a:latin typeface="Aptos"/>
                <a:cs typeface="Arial"/>
              </a:rPr>
              <a:t>Qwiic</a:t>
            </a:r>
            <a:r>
              <a:rPr lang="en-US" sz="2800">
                <a:latin typeface="Aptos"/>
                <a:cs typeface="Arial"/>
              </a:rPr>
              <a:t> Connectors.</a:t>
            </a:r>
          </a:p>
          <a:p>
            <a:pPr lvl="1"/>
            <a:endParaRPr lang="en-US" sz="2800">
              <a:latin typeface="Aptos"/>
              <a:cs typeface="Arial"/>
            </a:endParaRPr>
          </a:p>
          <a:p>
            <a:pPr marL="457200" lvl="1" indent="0">
              <a:buNone/>
            </a:pPr>
            <a:endParaRPr lang="en-US" b="1">
              <a:latin typeface="Aptos"/>
              <a:cs typeface="Arial"/>
            </a:endParaRPr>
          </a:p>
          <a:p>
            <a:pPr marL="457200" lvl="1" indent="0">
              <a:buNone/>
            </a:pPr>
            <a:r>
              <a:rPr lang="en-US" sz="2800" b="1">
                <a:latin typeface="Aptos"/>
                <a:cs typeface="Arial"/>
              </a:rPr>
              <a:t>Interfacing Protocols</a:t>
            </a:r>
            <a:endParaRPr lang="en-US" sz="2800">
              <a:latin typeface="Aptos"/>
              <a:cs typeface="Arial"/>
            </a:endParaRPr>
          </a:p>
          <a:p>
            <a:pPr marL="742950" lvl="1" indent="-285750">
              <a:buFont typeface="Arial,Sans-Serif"/>
            </a:pPr>
            <a:r>
              <a:rPr lang="en-US" sz="2800" b="1">
                <a:latin typeface="Aptos"/>
                <a:cs typeface="Arial"/>
              </a:rPr>
              <a:t>Camera:</a:t>
            </a:r>
            <a:r>
              <a:rPr lang="en-US" sz="2800">
                <a:latin typeface="Aptos"/>
                <a:cs typeface="Arial"/>
              </a:rPr>
              <a:t> UART</a:t>
            </a:r>
          </a:p>
          <a:p>
            <a:pPr marL="742950" lvl="1" indent="-285750">
              <a:buFont typeface="Arial,Sans-Serif"/>
            </a:pPr>
            <a:r>
              <a:rPr lang="en-US" sz="2800" b="1">
                <a:latin typeface="Aptos"/>
                <a:cs typeface="Arial"/>
              </a:rPr>
              <a:t>IMU:</a:t>
            </a:r>
            <a:r>
              <a:rPr lang="en-US" sz="2800">
                <a:latin typeface="Aptos"/>
                <a:cs typeface="Arial"/>
              </a:rPr>
              <a:t> UART</a:t>
            </a:r>
            <a:endParaRPr lang="en-US" sz="2800">
              <a:latin typeface="Aptos"/>
            </a:endParaRPr>
          </a:p>
          <a:p>
            <a:pPr lvl="1"/>
            <a:endParaRPr lang="en-US" sz="1800">
              <a:latin typeface="Arial"/>
              <a:cs typeface="Arial"/>
            </a:endParaRPr>
          </a:p>
          <a:p>
            <a:pPr lvl="1"/>
            <a:endParaRPr lang="en-US" sz="1800">
              <a:latin typeface="Arial"/>
              <a:cs typeface="Arial"/>
            </a:endParaRPr>
          </a:p>
          <a:p>
            <a:pPr lvl="1"/>
            <a:endParaRPr lang="en-US" sz="1800"/>
          </a:p>
          <a:p>
            <a:pPr lvl="1"/>
            <a:endParaRPr lang="en-US" sz="2800"/>
          </a:p>
          <a:p>
            <a:pPr lvl="1"/>
            <a:endParaRPr lang="en-US" sz="2800" b="1"/>
          </a:p>
          <a:p>
            <a:pPr lvl="1"/>
            <a:endParaRPr lang="en-IN" sz="2800" b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E2C881-E09D-F571-C3C4-14EDA7E5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3781425" cy="542926"/>
          </a:xfrm>
        </p:spPr>
        <p:txBody>
          <a:bodyPr>
            <a:normAutofit/>
          </a:bodyPr>
          <a:lstStyle/>
          <a:p>
            <a:r>
              <a:rPr lang="en-US" sz="3200" b="1"/>
              <a:t>Hardware Procured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633907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103EA-6617-78CF-DB05-0DCACEAD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6508-2184-3299-7E80-6D3AD0C1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3381375" cy="485776"/>
          </a:xfrm>
        </p:spPr>
        <p:txBody>
          <a:bodyPr>
            <a:noAutofit/>
          </a:bodyPr>
          <a:lstStyle/>
          <a:p>
            <a:r>
              <a:rPr lang="en-US" sz="3200" b="1"/>
              <a:t>Camera Interface</a:t>
            </a:r>
            <a:endParaRPr lang="en-IN" sz="3200" b="1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0628DFC-B5A2-5D81-FFB8-46DBAD6D8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695" t="60950" r="68300" b="8212"/>
          <a:stretch>
            <a:fillRect/>
          </a:stretch>
        </p:blipFill>
        <p:spPr>
          <a:xfrm>
            <a:off x="1370904" y="3311568"/>
            <a:ext cx="4077358" cy="2434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E0CE0C-6DCC-F847-CD12-925CD507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570" t="9989" r="14150" b="65656"/>
          <a:stretch>
            <a:fillRect/>
          </a:stretch>
        </p:blipFill>
        <p:spPr>
          <a:xfrm>
            <a:off x="6708384" y="3395009"/>
            <a:ext cx="4345044" cy="2265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358DBB-92B4-2423-8B0E-8384596CE0C5}"/>
              </a:ext>
            </a:extLst>
          </p:cNvPr>
          <p:cNvSpPr txBox="1"/>
          <p:nvPr/>
        </p:nvSpPr>
        <p:spPr>
          <a:xfrm>
            <a:off x="1252603" y="1711891"/>
            <a:ext cx="96847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UART interface between ESP32S3 cam and Shakti Yamuna.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153600 baud rate, 2 stop bits at ESP (1 at Yamuna). No RTS/CTS.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21260-A0B2-15DB-077D-7DBF792A243B}"/>
              </a:ext>
            </a:extLst>
          </p:cNvPr>
          <p:cNvSpPr txBox="1"/>
          <p:nvPr/>
        </p:nvSpPr>
        <p:spPr>
          <a:xfrm>
            <a:off x="1597068" y="5741095"/>
            <a:ext cx="36200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Frame bytes being sent from ESP32S3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89321-FD66-2884-3850-5CDABA783572}"/>
              </a:ext>
            </a:extLst>
          </p:cNvPr>
          <p:cNvSpPr txBox="1"/>
          <p:nvPr/>
        </p:nvSpPr>
        <p:spPr>
          <a:xfrm>
            <a:off x="7244218" y="5657587"/>
            <a:ext cx="36200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Frame bytes being received at Yamuna</a:t>
            </a:r>
          </a:p>
        </p:txBody>
      </p:sp>
    </p:spTree>
    <p:extLst>
      <p:ext uri="{BB962C8B-B14F-4D97-AF65-F5344CB8AC3E}">
        <p14:creationId xmlns:p14="http://schemas.microsoft.com/office/powerpoint/2010/main" val="3566358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ircuit board with wires&#10;&#10;AI-generated content may be incorrect.">
            <a:extLst>
              <a:ext uri="{FF2B5EF4-FFF2-40B4-BE49-F238E27FC236}">
                <a16:creationId xmlns:a16="http://schemas.microsoft.com/office/drawing/2014/main" id="{1C9E602F-199F-15D9-2986-C4FB23C31EC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377" t="24187" r="-566" b="15417"/>
          <a:stretch>
            <a:fillRect/>
          </a:stretch>
        </p:blipFill>
        <p:spPr>
          <a:xfrm>
            <a:off x="2202494" y="305278"/>
            <a:ext cx="7783707" cy="6253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9458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AC81-F90A-5355-D540-1DB56441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47F9E46-B3F4-D3B7-E7ED-C7D85C403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142" cy="68631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845D0-124A-87C4-155C-54B80FBA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5707" y="6023497"/>
            <a:ext cx="2043700" cy="833720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bg1"/>
                </a:solidFill>
              </a:rPr>
              <a:t>RTOS Application </a:t>
            </a:r>
            <a:endParaRPr lang="en-IN" sz="1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3593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E03A-9A00-F705-2DF9-51A3003E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3F0F-3EE7-C4AC-1F11-74EDC97C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58" y="292839"/>
            <a:ext cx="5740199" cy="739775"/>
          </a:xfrm>
        </p:spPr>
        <p:txBody>
          <a:bodyPr>
            <a:normAutofit/>
          </a:bodyPr>
          <a:lstStyle/>
          <a:p>
            <a:r>
              <a:rPr lang="en-US" sz="3200" b="1"/>
              <a:t>NCC Algorithm Implementation</a:t>
            </a:r>
            <a:endParaRPr lang="en-IN" sz="3200" b="1"/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6875666-E666-6AB0-B26A-603894E19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3908" t="11564" r="10546" b="64537"/>
          <a:stretch>
            <a:fillRect/>
          </a:stretch>
        </p:blipFill>
        <p:spPr>
          <a:xfrm>
            <a:off x="3100192" y="1107259"/>
            <a:ext cx="5987850" cy="2265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2559C97-67EB-3239-378B-225A85B6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42" r="-86" b="63872"/>
          <a:stretch>
            <a:fillRect/>
          </a:stretch>
        </p:blipFill>
        <p:spPr>
          <a:xfrm>
            <a:off x="3157603" y="3924822"/>
            <a:ext cx="5881835" cy="24776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94572-D08D-8B4F-62FB-3ADE145B04AB}"/>
              </a:ext>
            </a:extLst>
          </p:cNvPr>
          <p:cNvSpPr txBox="1"/>
          <p:nvPr/>
        </p:nvSpPr>
        <p:spPr>
          <a:xfrm>
            <a:off x="4217096" y="3371589"/>
            <a:ext cx="37557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NCC Compute with  pre-stored images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094E6-F606-873C-483E-7B3EB5A7A50E}"/>
              </a:ext>
            </a:extLst>
          </p:cNvPr>
          <p:cNvSpPr txBox="1"/>
          <p:nvPr/>
        </p:nvSpPr>
        <p:spPr>
          <a:xfrm>
            <a:off x="4645068" y="6398712"/>
            <a:ext cx="291021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NCC Compute with live images</a:t>
            </a:r>
          </a:p>
        </p:txBody>
      </p:sp>
    </p:spTree>
    <p:extLst>
      <p:ext uri="{BB962C8B-B14F-4D97-AF65-F5344CB8AC3E}">
        <p14:creationId xmlns:p14="http://schemas.microsoft.com/office/powerpoint/2010/main" val="7138769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2D97-06BB-E0AE-78FD-BA10B55B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CC3F-F356-5B3B-A1C6-C9D27FF3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452671"/>
            <a:ext cx="5715000" cy="722414"/>
          </a:xfrm>
        </p:spPr>
        <p:txBody>
          <a:bodyPr/>
          <a:lstStyle/>
          <a:p>
            <a:r>
              <a:rPr lang="en-US" sz="3200" b="1">
                <a:latin typeface="Aptos"/>
              </a:rPr>
              <a:t>Custom Image Processing IP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63062-B730-F632-70F6-EE39F34E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169156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/>
              <a:t>Implementation of Normalized Cross Correlation (NCC) Algorithm in Verilog RTL</a:t>
            </a:r>
          </a:p>
          <a:p>
            <a:pPr lvl="1"/>
            <a:r>
              <a:rPr lang="en-US"/>
              <a:t>Functional Verification using </a:t>
            </a:r>
            <a:r>
              <a:rPr lang="en-US" err="1"/>
              <a:t>Vivado</a:t>
            </a:r>
            <a:r>
              <a:rPr lang="en-US"/>
              <a:t> testbench </a:t>
            </a:r>
          </a:p>
          <a:p>
            <a:pPr lvl="1"/>
            <a:r>
              <a:rPr lang="en-US"/>
              <a:t>Implemented on </a:t>
            </a:r>
            <a:r>
              <a:rPr lang="en-US" err="1"/>
              <a:t>Artix</a:t>
            </a:r>
            <a:r>
              <a:rPr lang="en-US"/>
              <a:t> 7 FPGA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64B41B-A38B-FAC5-D86D-AD1354CA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0" t="25524" r="1600" b="16345"/>
          <a:stretch>
            <a:fillRect/>
          </a:stretch>
        </p:blipFill>
        <p:spPr>
          <a:xfrm>
            <a:off x="4898347" y="4650739"/>
            <a:ext cx="7162227" cy="11197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325993F-2327-51C6-BB29-E1ABD1002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4" y="3865822"/>
            <a:ext cx="4347894" cy="26935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0855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6B513-D545-8F46-19C3-08641DFB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05C1-2378-D9A7-4E61-0EF6DD30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19" y="610130"/>
            <a:ext cx="7153275" cy="642408"/>
          </a:xfrm>
        </p:spPr>
        <p:txBody>
          <a:bodyPr>
            <a:normAutofit/>
          </a:bodyPr>
          <a:lstStyle/>
          <a:p>
            <a:r>
              <a:rPr lang="en-US" sz="2800" b="1">
                <a:latin typeface="Aptos"/>
              </a:rPr>
              <a:t>Custom Image Processing IP: Test Inputs</a:t>
            </a:r>
          </a:p>
          <a:p>
            <a:endParaRPr lang="en-US" sz="3200" b="1"/>
          </a:p>
        </p:txBody>
      </p:sp>
      <p:pic>
        <p:nvPicPr>
          <p:cNvPr id="4" name="Picture 3" descr="A building with a tower in the background&#10;&#10;AI-generated content may be incorrect.">
            <a:extLst>
              <a:ext uri="{FF2B5EF4-FFF2-40B4-BE49-F238E27FC236}">
                <a16:creationId xmlns:a16="http://schemas.microsoft.com/office/drawing/2014/main" id="{B5C15CA3-025C-9442-B1F2-ECF306E3A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19" y="2813756"/>
            <a:ext cx="3939116" cy="29943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 descr="A building with a window&#10;&#10;AI-generated content may be incorrect.">
            <a:extLst>
              <a:ext uri="{FF2B5EF4-FFF2-40B4-BE49-F238E27FC236}">
                <a16:creationId xmlns:a16="http://schemas.microsoft.com/office/drawing/2014/main" id="{9DCE09B1-62E7-0F54-98F0-3D7ACFEB0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67" y="4563533"/>
            <a:ext cx="1223433" cy="1244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B9BA4E-E333-07C4-A126-D149870821BF}"/>
              </a:ext>
            </a:extLst>
          </p:cNvPr>
          <p:cNvSpPr txBox="1"/>
          <p:nvPr/>
        </p:nvSpPr>
        <p:spPr>
          <a:xfrm>
            <a:off x="1982610" y="598663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298 x 224 Image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FF601-789B-AC36-CE97-904341873180}"/>
              </a:ext>
            </a:extLst>
          </p:cNvPr>
          <p:cNvSpPr txBox="1"/>
          <p:nvPr/>
        </p:nvSpPr>
        <p:spPr>
          <a:xfrm>
            <a:off x="5027082" y="599016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64x64 Template</a:t>
            </a:r>
            <a:endParaRPr lang="en-US"/>
          </a:p>
        </p:txBody>
      </p:sp>
      <p:pic>
        <p:nvPicPr>
          <p:cNvPr id="9" name="Picture 8" descr="A close-up of a building&#10;&#10;AI-generated content may be incorrect.">
            <a:extLst>
              <a:ext uri="{FF2B5EF4-FFF2-40B4-BE49-F238E27FC236}">
                <a16:creationId xmlns:a16="http://schemas.microsoft.com/office/drawing/2014/main" id="{9AE1BC52-21B2-E7AC-F9AB-138D7273E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146" y="3108500"/>
            <a:ext cx="4698648" cy="27012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551700-2236-2925-36E2-0F12ACA2FA0D}"/>
              </a:ext>
            </a:extLst>
          </p:cNvPr>
          <p:cNvSpPr txBox="1"/>
          <p:nvPr/>
        </p:nvSpPr>
        <p:spPr>
          <a:xfrm>
            <a:off x="7768167" y="598311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(172,43) Top Left Coordinate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52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13C9-F842-CE14-BED9-81C09EA3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3248-934A-A8EF-7BFF-109C2009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63" y="512698"/>
            <a:ext cx="9121774" cy="669599"/>
          </a:xfrm>
        </p:spPr>
        <p:txBody>
          <a:bodyPr>
            <a:normAutofit/>
          </a:bodyPr>
          <a:lstStyle/>
          <a:p>
            <a:r>
              <a:rPr lang="en-US" sz="3200" b="1">
                <a:latin typeface="Aptos"/>
              </a:rPr>
              <a:t>Custom Image Processing IP: Results</a:t>
            </a:r>
            <a:endParaRPr lang="en-US" sz="3200">
              <a:latin typeface="Aptos"/>
            </a:endParaRPr>
          </a:p>
          <a:p>
            <a:endParaRPr lang="en-US" sz="3200" b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832B2D-D72F-D5E1-B098-548A738D0B22}"/>
              </a:ext>
            </a:extLst>
          </p:cNvPr>
          <p:cNvGrpSpPr/>
          <p:nvPr/>
        </p:nvGrpSpPr>
        <p:grpSpPr>
          <a:xfrm>
            <a:off x="1697344" y="1177807"/>
            <a:ext cx="8789914" cy="4657382"/>
            <a:chOff x="301246" y="2455514"/>
            <a:chExt cx="5940244" cy="1834182"/>
          </a:xfrm>
        </p:grpSpPr>
        <p:pic>
          <p:nvPicPr>
            <p:cNvPr id="11" name="Picture 10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032D7198-23DB-36FF-3087-A23654E02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246" y="2455514"/>
              <a:ext cx="5940244" cy="143820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6557FE-E7A0-88B0-CDAD-567BC18B2C23}"/>
                </a:ext>
              </a:extLst>
            </p:cNvPr>
            <p:cNvSpPr txBox="1"/>
            <p:nvPr/>
          </p:nvSpPr>
          <p:spPr>
            <a:xfrm>
              <a:off x="2236473" y="3920364"/>
              <a:ext cx="2743199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Behavioral Simulation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E64CC6-F781-E744-2CC2-7B31726DEF84}"/>
              </a:ext>
            </a:extLst>
          </p:cNvPr>
          <p:cNvSpPr txBox="1"/>
          <p:nvPr/>
        </p:nvSpPr>
        <p:spPr>
          <a:xfrm>
            <a:off x="303389" y="5686777"/>
            <a:ext cx="745066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sz="2400" baseline="0">
                <a:latin typeface="Aptos"/>
                <a:ea typeface="Arial"/>
                <a:cs typeface="Arial"/>
              </a:rPr>
              <a:t>Ongoing </a:t>
            </a:r>
            <a:r>
              <a:rPr lang="en-US" sz="2400">
                <a:latin typeface="Aptos"/>
                <a:ea typeface="Arial"/>
                <a:cs typeface="Arial"/>
              </a:rPr>
              <a:t>interfacing with Shakti core and optimization</a:t>
            </a:r>
            <a:r>
              <a:rPr lang="en-US" sz="2400" baseline="0">
                <a:latin typeface="Aptos"/>
                <a:ea typeface="Arial"/>
                <a:cs typeface="Arial"/>
              </a:rPr>
              <a:t> on 2 grounds: LUT usage and Parallel Execution</a:t>
            </a:r>
            <a:endParaRPr lang="en-US" sz="2400">
              <a:latin typeface="Aptos"/>
              <a:ea typeface="Arial"/>
              <a:cs typeface="Arial"/>
            </a:endParaRPr>
          </a:p>
          <a:p>
            <a:pPr marL="0" lvl="1"/>
            <a:endParaRPr lang="en-US" sz="240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5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20CB-21C1-7D4E-60CD-E1630020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887-2167-6296-0188-0F127F2D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452671"/>
            <a:ext cx="5715000" cy="722414"/>
          </a:xfrm>
        </p:spPr>
        <p:txBody>
          <a:bodyPr/>
          <a:lstStyle/>
          <a:p>
            <a:r>
              <a:rPr lang="en-US" sz="3200" b="1">
                <a:latin typeface="Aptos"/>
              </a:rPr>
              <a:t>AXI Standalone IP For Testing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0C3B-10E0-8218-4D34-71C60F666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169156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/>
              <a:t>Implementation of a simple AXI interfacing module. </a:t>
            </a:r>
          </a:p>
          <a:p>
            <a:pPr marL="685800">
              <a:spcBef>
                <a:spcPts val="500"/>
              </a:spcBef>
            </a:pPr>
            <a:r>
              <a:rPr lang="en-US" sz="2400">
                <a:ea typeface="+mn-lt"/>
                <a:cs typeface="+mn-lt"/>
              </a:rPr>
              <a:t>Functional Verification using </a:t>
            </a:r>
            <a:r>
              <a:rPr lang="en-US" sz="2400" err="1">
                <a:ea typeface="+mn-lt"/>
                <a:cs typeface="+mn-lt"/>
              </a:rPr>
              <a:t>Vivado</a:t>
            </a:r>
            <a:r>
              <a:rPr lang="en-US" sz="2400">
                <a:ea typeface="+mn-lt"/>
                <a:cs typeface="+mn-lt"/>
              </a:rPr>
              <a:t> testbench</a:t>
            </a:r>
          </a:p>
          <a:p>
            <a:pPr lvl="1"/>
            <a:r>
              <a:rPr lang="en-US"/>
              <a:t>Working on creating a wrapper around our existing Verilog Image IP.</a:t>
            </a:r>
          </a:p>
          <a:p>
            <a:pPr lvl="1"/>
            <a:r>
              <a:rPr lang="en-US"/>
              <a:t>Currently experimenting with AXI4-Lite and Axi Stream.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</p:txBody>
      </p:sp>
      <p:pic>
        <p:nvPicPr>
          <p:cNvPr id="5" name="Picture 4" descr="A close-up of a computer program&#10;&#10;AI-generated content may be incorrect.">
            <a:extLst>
              <a:ext uri="{FF2B5EF4-FFF2-40B4-BE49-F238E27FC236}">
                <a16:creationId xmlns:a16="http://schemas.microsoft.com/office/drawing/2014/main" id="{E8950836-9815-0E16-01A9-CF06A77B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05" b="3861"/>
          <a:stretch>
            <a:fillRect/>
          </a:stretch>
        </p:blipFill>
        <p:spPr>
          <a:xfrm>
            <a:off x="4947781" y="3475475"/>
            <a:ext cx="6995973" cy="30034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white paper with text&#10;&#10;AI-generated content may be incorrect.">
            <a:extLst>
              <a:ext uri="{FF2B5EF4-FFF2-40B4-BE49-F238E27FC236}">
                <a16:creationId xmlns:a16="http://schemas.microsoft.com/office/drawing/2014/main" id="{ADD2A2C0-AC13-2749-1471-D61EA7C3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1" y="3955191"/>
            <a:ext cx="4444876" cy="2524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9187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C7AC-64BD-E135-5B8B-402951E2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9E79D-F247-4185-8F23-7F7A686B0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9130"/>
            <a:ext cx="97850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India depends heavily on imported high-end guidance and vision systems</a:t>
            </a:r>
            <a:r>
              <a:rPr lang="en-GB" sz="2400">
                <a:ea typeface="+mn-lt"/>
                <a:cs typeface="+mn-lt"/>
              </a:rPr>
              <a:t>, which are expensive, restricted, and not fully customizable for Indian operational needs</a:t>
            </a:r>
            <a:endParaRPr lang="en-US" sz="36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en-GB" sz="24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Government and industry are actively looking for indigenous alternatives</a:t>
            </a:r>
            <a:r>
              <a:rPr lang="en-GB" sz="2400">
                <a:ea typeface="+mn-lt"/>
                <a:cs typeface="+mn-lt"/>
              </a:rPr>
              <a:t> under AtmaNirbhar Bharat, iDEX, and defence innovation programs</a:t>
            </a:r>
            <a:endParaRPr lang="en-US"/>
          </a:p>
          <a:p>
            <a:pPr algn="just">
              <a:buFont typeface="Arial"/>
              <a:buChar char="•"/>
            </a:pPr>
            <a:endParaRPr lang="en-GB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959B53-B0FF-29E0-DABE-ED52FC0AB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/>
              <a:t>Market Need &amp; Strategic Opportunity</a:t>
            </a:r>
          </a:p>
        </p:txBody>
      </p:sp>
    </p:spTree>
    <p:extLst>
      <p:ext uri="{BB962C8B-B14F-4D97-AF65-F5344CB8AC3E}">
        <p14:creationId xmlns:p14="http://schemas.microsoft.com/office/powerpoint/2010/main" val="2201574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76C4-3FA4-CED7-7079-8629530C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4EDC7-68B1-60FC-D8B6-5D47FC2E3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841"/>
            <a:ext cx="97850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Primary customers include government labs, defence PSUs, and Indian deep-tech startups</a:t>
            </a:r>
            <a:r>
              <a:rPr lang="en-GB" sz="2400">
                <a:ea typeface="+mn-lt"/>
                <a:cs typeface="+mn-lt"/>
              </a:rPr>
              <a:t> working on drones, surveillance systems, and autonomous platforms</a:t>
            </a:r>
            <a:endParaRPr lang="en-US" sz="36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en-GB" sz="24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Revenue is generated through paid pilots, licensing, customization contracts, and long-term support</a:t>
            </a:r>
            <a:r>
              <a:rPr lang="en-GB" sz="2400">
                <a:ea typeface="+mn-lt"/>
                <a:cs typeface="+mn-lt"/>
              </a:rPr>
              <a:t>, rather than one-time sales</a:t>
            </a:r>
            <a:endParaRPr lang="en-US"/>
          </a:p>
          <a:p>
            <a:pPr algn="just">
              <a:buFont typeface="Arial"/>
              <a:buChar char="•"/>
            </a:pPr>
            <a:endParaRPr lang="en-GB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4D3CB1-783E-D595-4DFF-AD7D39CCD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ea typeface="+mj-lt"/>
                <a:cs typeface="+mj-lt"/>
              </a:rPr>
              <a:t>How the Startup Makes Money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04300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7E83-435B-3FE4-77AD-3B621B6E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DCAE9-6D84-69EF-B993-472E070B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757" y="2139852"/>
            <a:ext cx="97850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Start with the Defence Application then expand to multiple civilian and dual-use sectors</a:t>
            </a:r>
            <a:r>
              <a:rPr lang="en-GB" sz="2400">
                <a:ea typeface="+mn-lt"/>
                <a:cs typeface="+mn-lt"/>
              </a:rPr>
              <a:t>, including security, infrastructure monitoring, and disaster response</a:t>
            </a:r>
            <a:endParaRPr lang="en-US" sz="36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en-GB" sz="2400"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GB" sz="2400" b="1">
                <a:ea typeface="+mn-lt"/>
                <a:cs typeface="+mn-lt"/>
              </a:rPr>
              <a:t>Grow as an IP-driven company aligned with national priorities</a:t>
            </a:r>
            <a:r>
              <a:rPr lang="en-GB" sz="2400">
                <a:ea typeface="+mn-lt"/>
                <a:cs typeface="+mn-lt"/>
              </a:rPr>
              <a:t>, enabling exports to friendly countries and partnerships with Indian manufacturers</a:t>
            </a:r>
            <a:endParaRPr lang="en-US"/>
          </a:p>
          <a:p>
            <a:pPr algn="just">
              <a:buFont typeface="Arial"/>
              <a:buChar char="•"/>
            </a:pPr>
            <a:endParaRPr lang="en-GB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2C7A05-B6C2-1588-61CE-45DE29C24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ea typeface="+mj-lt"/>
                <a:cs typeface="+mj-lt"/>
              </a:rPr>
              <a:t>Scaling into a Sustainable Indian Startup</a:t>
            </a:r>
          </a:p>
        </p:txBody>
      </p:sp>
    </p:spTree>
    <p:extLst>
      <p:ext uri="{BB962C8B-B14F-4D97-AF65-F5344CB8AC3E}">
        <p14:creationId xmlns:p14="http://schemas.microsoft.com/office/powerpoint/2010/main" val="18048684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BCBB-87EC-88CE-A2AE-92A7D050B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D145-0BF9-0C15-4D2D-E9D44517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441325"/>
            <a:ext cx="10515600" cy="625475"/>
          </a:xfrm>
        </p:spPr>
        <p:txBody>
          <a:bodyPr>
            <a:normAutofit/>
          </a:bodyPr>
          <a:lstStyle/>
          <a:p>
            <a:r>
              <a:rPr lang="en-US" sz="3200" b="1"/>
              <a:t>Startup Formation Status</a:t>
            </a:r>
            <a:endParaRPr lang="en-IN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D0A5-C531-57B2-68EE-FB3800F6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Certificate of Incorporation</a:t>
            </a:r>
            <a:endParaRPr lang="en-US"/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LLP Agreement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PAN of LLP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IN" sz="3200"/>
              <a:t> Company Bank Account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3200"/>
              <a:t> DPIIT Registration Certificate</a:t>
            </a:r>
          </a:p>
        </p:txBody>
      </p:sp>
    </p:spTree>
    <p:extLst>
      <p:ext uri="{BB962C8B-B14F-4D97-AF65-F5344CB8AC3E}">
        <p14:creationId xmlns:p14="http://schemas.microsoft.com/office/powerpoint/2010/main" val="30536095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7D8D-8BF4-F342-9A1A-4338EDD4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D7EB5-47DE-741F-8997-27BACB395BE4}"/>
              </a:ext>
            </a:extLst>
          </p:cNvPr>
          <p:cNvSpPr txBox="1"/>
          <p:nvPr/>
        </p:nvSpPr>
        <p:spPr>
          <a:xfrm>
            <a:off x="576289" y="2878777"/>
            <a:ext cx="110352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>
                <a:latin typeface="+mj-lt"/>
              </a:rPr>
              <a:t>Thank</a:t>
            </a:r>
            <a:r>
              <a:rPr lang="en-US" sz="6600" b="1"/>
              <a:t>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156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3034B-EC7B-DF5F-3335-DDD188A9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B2A23D-DB9F-803A-A987-1FBA47A17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Precision Guidance System</a:t>
            </a:r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654FE11-C171-22BE-A70B-B5D782A5E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/>
              <a:t>MVP Evaluation Feedback &amp; Next Steps - </a:t>
            </a:r>
            <a:r>
              <a:rPr lang="en-US" err="1"/>
              <a:t>Infracore</a:t>
            </a:r>
            <a:r>
              <a:rPr lang="en-US"/>
              <a:t> Systems LLP (Team Risky 5)</a:t>
            </a:r>
          </a:p>
          <a:p>
            <a:pPr algn="r"/>
            <a:r>
              <a:rPr lang="en-US"/>
              <a:t>14th March 2026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3285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C557-10BA-0379-C7A1-F738D1F7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C4EA4F-4FF1-6A36-3589-A09665D8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072950" cy="542926"/>
          </a:xfrm>
        </p:spPr>
        <p:txBody>
          <a:bodyPr>
            <a:noAutofit/>
          </a:bodyPr>
          <a:lstStyle/>
          <a:p>
            <a:r>
              <a:rPr lang="en-US" sz="3600" b="1">
                <a:ea typeface="+mj-lt"/>
                <a:cs typeface="+mj-lt"/>
              </a:rPr>
              <a:t>Key Feedback from MVP Evaluation</a:t>
            </a:r>
            <a:endParaRPr lang="en-US" sz="36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0D80B9-FD25-04E9-23C0-996825937DEA}"/>
              </a:ext>
            </a:extLst>
          </p:cNvPr>
          <p:cNvSpPr txBox="1"/>
          <p:nvPr/>
        </p:nvSpPr>
        <p:spPr>
          <a:xfrm>
            <a:off x="633988" y="2047604"/>
            <a:ext cx="10575302" cy="57282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/>
              <a:t>GPS-denied navigation is considered a largely solved problem, with existing approaches such as triangulation and other alternative navigation techniques already available.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/>
              <a:t>Since missiles or drones typically use GPS for long-range navigation, the value addition of our proposed system needs clearer justification.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/>
              <a:t>Existing sensing and guidance solutions were highlighted, and clear differentiation from current approaches was recommended.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16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000"/>
              <a:t>Standard IR sensors are commonly used for tracking moving targets with strong heat signatures; the choice of LWIR sensors in our design needs further justification.</a:t>
            </a: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endParaRPr lang="en-US" sz="2000"/>
          </a:p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7386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C167-69CA-720E-9650-8C1EFD2A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A22C-FF3A-0E9E-5B5D-0C393207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351" y="2061295"/>
            <a:ext cx="10515600" cy="33682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2000">
                <a:ea typeface="+mn-lt"/>
                <a:cs typeface="+mn-lt"/>
              </a:rPr>
              <a:t>A human-in-the-loop approach was suggested, where live camera feeds could be transmitted toa ground station for manual guidance decisions.</a:t>
            </a:r>
          </a:p>
          <a:p>
            <a:pPr lvl="1"/>
            <a:endParaRPr lang="en-US" sz="2000">
              <a:ea typeface="+mn-lt"/>
              <a:cs typeface="+mn-lt"/>
            </a:endParaRPr>
          </a:p>
          <a:p>
            <a:pPr lvl="1"/>
            <a:r>
              <a:rPr lang="en-US" sz="2000">
                <a:ea typeface="+mn-lt"/>
                <a:cs typeface="+mn-lt"/>
              </a:rPr>
              <a:t>Further clarity on the novelty and practical contribution of the proposed system was recommended.</a:t>
            </a:r>
          </a:p>
          <a:p>
            <a:pPr lvl="1"/>
            <a:endParaRPr lang="en-US" sz="2000">
              <a:ea typeface="+mn-lt"/>
              <a:cs typeface="+mn-lt"/>
            </a:endParaRPr>
          </a:p>
          <a:p>
            <a:pPr lvl="1"/>
            <a:r>
              <a:rPr lang="en-US" sz="2000">
                <a:ea typeface="+mn-lt"/>
                <a:cs typeface="+mn-lt"/>
              </a:rPr>
              <a:t>We are currently in discussions with a domain expert to onboard them as a mentor/advisor and incorporate their guidance in refining the project direction.</a:t>
            </a:r>
            <a:endParaRPr lang="en-US" sz="20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26DCFF-2D2F-B64E-A71A-A23ADED4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0"/>
            <a:ext cx="7072950" cy="542926"/>
          </a:xfrm>
        </p:spPr>
        <p:txBody>
          <a:bodyPr>
            <a:noAutofit/>
          </a:bodyPr>
          <a:lstStyle/>
          <a:p>
            <a:r>
              <a:rPr lang="en-US" sz="3600" b="1">
                <a:ea typeface="+mj-lt"/>
                <a:cs typeface="+mj-lt"/>
              </a:rPr>
              <a:t>Key Feedback from MVP Evaluation</a:t>
            </a:r>
            <a:endParaRPr lang="en-US" sz="3600" b="1"/>
          </a:p>
        </p:txBody>
      </p:sp>
    </p:spTree>
    <p:extLst>
      <p:ext uri="{BB962C8B-B14F-4D97-AF65-F5344CB8AC3E}">
        <p14:creationId xmlns:p14="http://schemas.microsoft.com/office/powerpoint/2010/main" val="2804042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A6B6-4A0E-C779-37E7-EDA8C6367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9CF38A-8C8F-B3A5-F56F-61CD6D17BF08}"/>
              </a:ext>
            </a:extLst>
          </p:cNvPr>
          <p:cNvSpPr txBox="1"/>
          <p:nvPr/>
        </p:nvSpPr>
        <p:spPr>
          <a:xfrm>
            <a:off x="576289" y="2878777"/>
            <a:ext cx="110352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>
                <a:latin typeface="+mj-lt"/>
              </a:rPr>
              <a:t>Thank</a:t>
            </a:r>
            <a:r>
              <a:rPr lang="en-US" sz="6600" b="1"/>
              <a:t>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029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460F-8DC4-2A3D-C0E0-6B9390946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E1B8B6-D3AD-5FDC-C365-BE962B8BA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366" y="1122363"/>
            <a:ext cx="10015268" cy="2387600"/>
          </a:xfrm>
        </p:spPr>
        <p:txBody>
          <a:bodyPr>
            <a:normAutofit/>
          </a:bodyPr>
          <a:lstStyle/>
          <a:p>
            <a:r>
              <a:rPr lang="en-GB" sz="5400"/>
              <a:t>Infrared Search and Track System</a:t>
            </a:r>
            <a:endParaRPr lang="en-IN" sz="54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2D5546E-D71F-94DD-0495-39AF7D2CE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000"/>
              <a:t>POC Presentation - </a:t>
            </a:r>
            <a:r>
              <a:rPr lang="en-US" sz="2000" err="1"/>
              <a:t>Infracore</a:t>
            </a:r>
            <a:r>
              <a:rPr lang="en-US" sz="2000"/>
              <a:t> Systems LLP (Team Risky 5)</a:t>
            </a:r>
          </a:p>
          <a:p>
            <a:pPr algn="r"/>
            <a:r>
              <a:rPr lang="en-US" sz="2000"/>
              <a:t>  11 April 2026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9102307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A8A5-AE24-8FCD-B862-A0D585F3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FAE74F4-E039-279A-21B5-B7764988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746126"/>
            <a:ext cx="2990850" cy="482600"/>
          </a:xfrm>
        </p:spPr>
        <p:txBody>
          <a:bodyPr>
            <a:noAutofit/>
          </a:bodyPr>
          <a:lstStyle/>
          <a:p>
            <a:r>
              <a:rPr lang="en-US" sz="2800" b="1"/>
              <a:t>POC Overview</a:t>
            </a:r>
            <a:endParaRPr lang="en-IN" sz="2800" b="1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C67D193-5138-0F5C-B21D-4E328EC8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831"/>
            <a:ext cx="10439400" cy="3259044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base">
              <a:buFont typeface="Arial" panose="02110004020202020204"/>
              <a:buChar char="•"/>
            </a:pPr>
            <a:r>
              <a:rPr lang="en-IN" sz="2000" b="1"/>
              <a:t>Project Title: </a:t>
            </a:r>
            <a:r>
              <a:rPr lang="en-GB" sz="2000"/>
              <a:t>Infrared Search and Track System</a:t>
            </a:r>
            <a:endParaRPr lang="en-IN" sz="2000" b="1"/>
          </a:p>
          <a:p>
            <a:pPr fontAlgn="base">
              <a:buFont typeface="Arial" panose="02110004020202020204"/>
              <a:buChar char="•"/>
            </a:pPr>
            <a:r>
              <a:rPr lang="en-IN" sz="2000" b="1"/>
              <a:t>Team Name:</a:t>
            </a:r>
            <a:r>
              <a:rPr lang="en-IN" sz="2000"/>
              <a:t> </a:t>
            </a:r>
            <a:r>
              <a:rPr lang="en-US" sz="2000" err="1"/>
              <a:t>Infracore</a:t>
            </a:r>
            <a:r>
              <a:rPr lang="en-US" sz="2000"/>
              <a:t> Systems LLP (</a:t>
            </a:r>
            <a:r>
              <a:rPr lang="en-IN" sz="2000">
                <a:latin typeface="Aptos"/>
              </a:rPr>
              <a:t>Risky 5</a:t>
            </a:r>
            <a:r>
              <a:rPr lang="en-US" sz="2000">
                <a:latin typeface="Aptos"/>
              </a:rPr>
              <a:t>​)</a:t>
            </a:r>
            <a:endParaRPr lang="en-US" sz="2000"/>
          </a:p>
          <a:p>
            <a:pPr fontAlgn="base">
              <a:buFont typeface="Arial" panose="02110004020202020204"/>
              <a:buChar char="•"/>
            </a:pPr>
            <a:r>
              <a:rPr lang="en-IN" sz="2000" b="1"/>
              <a:t>Members: </a:t>
            </a:r>
            <a:r>
              <a:rPr lang="en-IN" sz="2000"/>
              <a:t>Akansh S., Akhil S., Dr. </a:t>
            </a:r>
            <a:r>
              <a:rPr lang="en-IN" sz="2000" err="1"/>
              <a:t>Venkatnarayan</a:t>
            </a:r>
            <a:r>
              <a:rPr lang="en-IN" sz="2000"/>
              <a:t> H., Kalrav M., Saksham M., Tushar J. </a:t>
            </a:r>
            <a:r>
              <a:rPr lang="en-US" sz="2000"/>
              <a:t>​</a:t>
            </a:r>
          </a:p>
          <a:p>
            <a:pPr>
              <a:buFont typeface="Arial" panose="02110004020202020204"/>
              <a:buChar char="•"/>
            </a:pPr>
            <a:r>
              <a:rPr lang="en-IN" sz="2000" b="1"/>
              <a:t>Problem Statement: </a:t>
            </a:r>
            <a:r>
              <a:rPr lang="en-GB" sz="2000"/>
              <a:t>Active radar systems are highly vulnerable to electronic warfare (jamming/spoofing) and struggle to detect low-RCS (Radar Cross Section) threats.</a:t>
            </a:r>
            <a:endParaRPr lang="en-IN" sz="2000" b="1"/>
          </a:p>
          <a:p>
            <a:pPr>
              <a:buFont typeface="Arial" panose="02110004020202020204"/>
              <a:buChar char="•"/>
            </a:pPr>
            <a:r>
              <a:rPr lang="en-IN" sz="2000" b="1"/>
              <a:t>Solution:</a:t>
            </a:r>
            <a:r>
              <a:rPr lang="en-GB" sz="2000"/>
              <a:t> A passive Infrared Search and Track system. We utilize an FPGA for parallel spatial-temporal pattern matching to isolate targets, combined with a Shakti RISC-V processor to provide real-time I/O feedback to defence actuators.</a:t>
            </a:r>
            <a:endParaRPr lang="en-IN" sz="2000" b="1"/>
          </a:p>
          <a:p>
            <a:pPr marL="0" indent="0">
              <a:buNone/>
            </a:pPr>
            <a:br>
              <a:rPr lang="en-GB" sz="2000" b="0">
                <a:effectLst/>
              </a:rPr>
            </a:b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9633926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EA92-3E0C-9416-B862-AD6D26F7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2755E67-AB19-A1E4-884E-6A1D10FB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/>
              <a:t>Progress and Milestones</a:t>
            </a:r>
            <a:endParaRPr lang="en-IN" sz="2800" b="1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8634D1-2342-D556-7DA1-FE37224AD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000"/>
              <a:t>Achieved 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CDECCCF-A8D9-B33C-DB1B-C5F262DC8D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GB" sz="1600"/>
              <a:t>Interface sensor to capture single frame</a:t>
            </a:r>
          </a:p>
          <a:p>
            <a:pPr marL="285750" indent="-285750"/>
            <a:r>
              <a:rPr lang="en-GB" sz="1600"/>
              <a:t>Verilog logic for frame transfer from SHAKTI soft-core</a:t>
            </a:r>
          </a:p>
          <a:p>
            <a:pPr marL="285750" indent="-285750"/>
            <a:r>
              <a:rPr lang="en-GB" sz="1600"/>
              <a:t>NCC matching algorithm detects predefined target</a:t>
            </a:r>
          </a:p>
          <a:p>
            <a:pPr marL="285750" indent="-285750"/>
            <a:r>
              <a:rPr lang="en-GB" sz="1600"/>
              <a:t>Live image via SHAKTI serial output</a:t>
            </a:r>
          </a:p>
          <a:p>
            <a:pPr marL="285750" indent="-285750"/>
            <a:r>
              <a:rPr lang="en-GB" sz="1600"/>
              <a:t>“MATCH FOUND” result + coordinates</a:t>
            </a:r>
          </a:p>
          <a:p>
            <a:pPr marL="285750" indent="-285750"/>
            <a:r>
              <a:rPr lang="en-GB" sz="1600"/>
              <a:t>KCF Fast pattern match algorithm implementation</a:t>
            </a:r>
          </a:p>
          <a:p>
            <a:pPr marL="285750" indent="-285750"/>
            <a:r>
              <a:rPr lang="en-GB" sz="1600"/>
              <a:t>Architecture design for IRST</a:t>
            </a:r>
          </a:p>
          <a:p>
            <a:pPr marL="285750" indent="-285750"/>
            <a:r>
              <a:rPr lang="en-GB" sz="1600"/>
              <a:t>Yamuna Embedded RTOS application to handle feedback</a:t>
            </a:r>
          </a:p>
          <a:p>
            <a:pPr marL="285750" indent="-285750"/>
            <a:r>
              <a:rPr lang="en-US" sz="1600"/>
              <a:t>Interface KCF with Yamuna using AXI and DMA (Ongoing)</a:t>
            </a:r>
            <a:endParaRPr lang="en-IN" sz="1600"/>
          </a:p>
          <a:p>
            <a:pPr marL="0" indent="0">
              <a:buNone/>
            </a:pPr>
            <a:br>
              <a:rPr lang="en-GB" sz="1600" b="0">
                <a:effectLst/>
              </a:rPr>
            </a:br>
            <a:endParaRPr lang="en-IN" sz="1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A8ED7-7D71-3353-BBBC-52A416093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/>
              <a:t>Planned</a:t>
            </a:r>
            <a:endParaRPr lang="en-IN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D9C2-5B68-7FDF-6118-3832B68AAD9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600"/>
              <a:t>KCF Algorithm port to Verilog</a:t>
            </a:r>
          </a:p>
          <a:p>
            <a:r>
              <a:rPr lang="en-US" sz="1600"/>
              <a:t>Complete the detection and notification loop</a:t>
            </a:r>
          </a:p>
          <a:p>
            <a:r>
              <a:rPr lang="en-US" sz="1600"/>
              <a:t>Benchmark and compare response time</a:t>
            </a:r>
          </a:p>
          <a:p>
            <a:r>
              <a:rPr lang="en-US" sz="1600"/>
              <a:t>Optimize the latency and delays in the loop</a:t>
            </a:r>
          </a:p>
          <a:p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541188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547745-C713-D0BE-39DA-D3ECD5E7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DC61DB-180E-3137-8786-0B85B2166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15" y="507444"/>
            <a:ext cx="5216236" cy="567958"/>
          </a:xfrm>
        </p:spPr>
        <p:txBody>
          <a:bodyPr>
            <a:normAutofit/>
          </a:bodyPr>
          <a:lstStyle/>
          <a:p>
            <a:r>
              <a:rPr lang="en-IN" sz="2800" b="1">
                <a:ea typeface="+mj-lt"/>
                <a:cs typeface="+mj-lt"/>
              </a:rPr>
              <a:t>Project Milestones Overview</a:t>
            </a:r>
            <a:endParaRPr lang="en-US" sz="2800" b="1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4A4A617-F151-29C7-E1B5-7B1CD4C10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4" y="1367105"/>
            <a:ext cx="3441123" cy="4983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400" b="1"/>
              <a:t>Milestone 1: MVP</a:t>
            </a:r>
          </a:p>
          <a:p>
            <a:pPr marL="0" indent="0">
              <a:buNone/>
            </a:pPr>
            <a:r>
              <a:rPr lang="en-GB" sz="1400"/>
              <a:t>Goal: Basic Image Capture &amp; Processing Pipeline</a:t>
            </a:r>
            <a:endParaRPr lang="en-US" sz="1400"/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Environment setup for Artix-7 FPGA &amp; SHAKTI RISC-V</a:t>
            </a:r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Interface LWIR sensor to capture single thermal frame</a:t>
            </a:r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Verilog logic for frame transfer from SHAKTI soft-core</a:t>
            </a:r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C/C++ matching algorithm detects predefined target</a:t>
            </a:r>
          </a:p>
          <a:p>
            <a:pPr marL="0" indent="0">
              <a:buNone/>
            </a:pPr>
            <a:r>
              <a:rPr lang="en-GB" sz="1400" b="1"/>
              <a:t>Deliverables</a:t>
            </a:r>
            <a:r>
              <a:rPr lang="en-GB" sz="1400"/>
              <a:t>:</a:t>
            </a:r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Live image via SHAKTI serial output</a:t>
            </a:r>
          </a:p>
          <a:p>
            <a:pPr marL="285750" indent="-285750"/>
            <a:r>
              <a:rPr lang="en-GB" sz="1400">
                <a:highlight>
                  <a:srgbClr val="00FF00"/>
                </a:highlight>
              </a:rPr>
              <a:t>“MATCH FOUND” result + coordinates</a:t>
            </a:r>
          </a:p>
          <a:p>
            <a:pPr marL="0" indent="0">
              <a:buNone/>
            </a:pPr>
            <a:endParaRPr lang="en-GB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20D2D-61B1-98A6-91D7-EDC7598A2484}"/>
              </a:ext>
            </a:extLst>
          </p:cNvPr>
          <p:cNvSpPr txBox="1"/>
          <p:nvPr/>
        </p:nvSpPr>
        <p:spPr>
          <a:xfrm>
            <a:off x="4120902" y="1368547"/>
            <a:ext cx="3635086" cy="4366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b="1"/>
              <a:t>Milestone 2: PoC</a:t>
            </a:r>
            <a:endParaRPr lang="en-US" sz="1400" b="1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/>
              <a:t>Goal: Real-time Video Processing Pipeline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Continuous thermal video stream(&gt;10 FPS)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FPGA IP: contrast, filtering, edge detection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Real-time target detection (NCC) +IMU interfacing</a:t>
            </a:r>
            <a:endParaRPr lang="en-US" sz="14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400" b="1"/>
              <a:t>Deliverables:</a:t>
            </a:r>
            <a:endParaRPr lang="en-US" sz="14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Processed video on monitor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LED indicator for “TARGET LOCKED”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Serial output: error vector + IMU data</a:t>
            </a:r>
            <a:endParaRPr lang="en-US" sz="14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GB" sz="1400"/>
              <a:t>Source code (FPGA + SHAKTI)</a:t>
            </a:r>
            <a:endParaRPr lang="en-US" sz="140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1400"/>
          </a:p>
          <a:p>
            <a:endParaRPr lang="en-GB"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012EF5-6642-FF4E-726F-DEF022F127B1}"/>
              </a:ext>
            </a:extLst>
          </p:cNvPr>
          <p:cNvSpPr txBox="1"/>
          <p:nvPr/>
        </p:nvSpPr>
        <p:spPr>
          <a:xfrm>
            <a:off x="8113980" y="1289790"/>
            <a:ext cx="3635085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ea typeface="+mn-lt"/>
                <a:cs typeface="+mn-lt"/>
              </a:rPr>
              <a:t>Milestone 3: Final Demo</a:t>
            </a:r>
          </a:p>
          <a:p>
            <a:endParaRPr lang="en-GB" sz="1400">
              <a:ea typeface="+mn-lt"/>
              <a:cs typeface="+mn-lt"/>
            </a:endParaRPr>
          </a:p>
          <a:p>
            <a:r>
              <a:rPr lang="en-GB" sz="1400">
                <a:ea typeface="+mn-lt"/>
                <a:cs typeface="+mn-lt"/>
              </a:rPr>
              <a:t>Goal: Full Guidance System with Live Target Tracking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Image + IMU fused for control commands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Robustness to occlusions &amp; reacquisition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Real-time bounding box + command output</a:t>
            </a:r>
            <a:endParaRPr lang="en-GB" sz="1400"/>
          </a:p>
          <a:p>
            <a:endParaRPr lang="en-GB" sz="1400"/>
          </a:p>
          <a:p>
            <a:r>
              <a:rPr lang="en-GB" sz="1400" b="1">
                <a:ea typeface="+mn-lt"/>
                <a:cs typeface="+mn-lt"/>
              </a:rPr>
              <a:t>Deliverables:</a:t>
            </a:r>
            <a:endParaRPr lang="en-GB" sz="1400" b="1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Working prototype on test stand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Live demo with target lock &amp; recovery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Guidance commands (e.g., YAW_RIGHT: 3.2°)</a:t>
            </a:r>
            <a:endParaRPr lang="en-GB" sz="1400"/>
          </a:p>
          <a:p>
            <a:pPr marL="285750" indent="-285750">
              <a:buFont typeface="Arial"/>
              <a:buChar char="•"/>
            </a:pPr>
            <a:r>
              <a:rPr lang="en-GB" sz="1400">
                <a:ea typeface="+mn-lt"/>
                <a:cs typeface="+mn-lt"/>
              </a:rPr>
              <a:t> Final report + code + demo video</a:t>
            </a:r>
            <a:endParaRPr lang="en-GB" sz="1400"/>
          </a:p>
          <a:p>
            <a:pPr algn="l"/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5678672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2C26-9FE3-52BE-6C56-D70DB908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8F737D9-1A37-1061-449F-92C706C9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4" y="143614"/>
            <a:ext cx="4590669" cy="464880"/>
          </a:xfrm>
        </p:spPr>
        <p:txBody>
          <a:bodyPr>
            <a:noAutofit/>
          </a:bodyPr>
          <a:lstStyle/>
          <a:p>
            <a:pPr algn="ctr"/>
            <a:r>
              <a:rPr lang="en-US" sz="2800" b="1"/>
              <a:t>POC Demonstrations</a:t>
            </a:r>
            <a:endParaRPr lang="en-IN" sz="2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6CBC81-552E-CCE4-7CF3-8F54DE8FA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" t="9009" r="2265" b="4237"/>
          <a:stretch>
            <a:fillRect/>
          </a:stretch>
        </p:blipFill>
        <p:spPr>
          <a:xfrm>
            <a:off x="-1254" y="734148"/>
            <a:ext cx="12188896" cy="5997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1714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0DFE-A7B1-97CB-7F06-3F271B2A8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41EFF9A-AD0B-8D6F-9BBF-8AEDB248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4" y="746126"/>
            <a:ext cx="6318886" cy="482600"/>
          </a:xfrm>
        </p:spPr>
        <p:txBody>
          <a:bodyPr>
            <a:noAutofit/>
          </a:bodyPr>
          <a:lstStyle/>
          <a:p>
            <a:r>
              <a:rPr lang="en-US" sz="2800" b="1"/>
              <a:t>Domain Expert Review &amp; Feedback</a:t>
            </a:r>
            <a:endParaRPr lang="en-IN" sz="2800" b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31652F-B3A6-8390-BB22-57BC300DD91B}"/>
              </a:ext>
            </a:extLst>
          </p:cNvPr>
          <p:cNvSpPr txBox="1">
            <a:spLocks/>
          </p:cNvSpPr>
          <p:nvPr/>
        </p:nvSpPr>
        <p:spPr>
          <a:xfrm>
            <a:off x="876300" y="1649504"/>
            <a:ext cx="10439400" cy="44623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Arial" panose="02110004020202020204"/>
              <a:buChar char="•"/>
            </a:pPr>
            <a:r>
              <a:rPr lang="en-IN" sz="2000" b="1"/>
              <a:t>Name: </a:t>
            </a:r>
            <a:r>
              <a:rPr lang="en-IN" sz="2000"/>
              <a:t>Mr. Senthilkumaran</a:t>
            </a:r>
            <a:endParaRPr lang="en-IN" sz="2000" b="1"/>
          </a:p>
          <a:p>
            <a:pPr fontAlgn="base">
              <a:buFont typeface="Arial" panose="02110004020202020204"/>
              <a:buChar char="•"/>
            </a:pPr>
            <a:r>
              <a:rPr lang="en-IN" sz="2000" b="1"/>
              <a:t>Organization:</a:t>
            </a:r>
            <a:r>
              <a:rPr lang="en-IN" sz="2000"/>
              <a:t> TVS Sundaram Industries Pvt Ltd, Defence Business Group</a:t>
            </a:r>
            <a:endParaRPr lang="en-IN" sz="2000">
              <a:ea typeface="+mn-lt"/>
              <a:cs typeface="+mn-lt"/>
            </a:endParaRPr>
          </a:p>
          <a:p>
            <a:pPr fontAlgn="base">
              <a:buFont typeface="Arial" panose="02110004020202020204"/>
              <a:buChar char="•"/>
            </a:pPr>
            <a:r>
              <a:rPr lang="en-US" sz="2000" b="1"/>
              <a:t>Expertise</a:t>
            </a:r>
            <a:r>
              <a:rPr lang="en-IN" sz="2000" b="1"/>
              <a:t>: </a:t>
            </a:r>
            <a:r>
              <a:rPr lang="en-US" sz="2000"/>
              <a:t>Engineering Leader in Defense and Aerospace sector with rich experience in R&amp;D, complete product development for EV, Radar, Aerospace global customers</a:t>
            </a:r>
          </a:p>
          <a:p>
            <a:pPr>
              <a:buFont typeface="Arial" panose="02110004020202020204"/>
              <a:buChar char="•"/>
            </a:pPr>
            <a:r>
              <a:rPr lang="en-IN" sz="2000" b="1"/>
              <a:t>Key Suggestions: </a:t>
            </a:r>
          </a:p>
          <a:p>
            <a:pPr lvl="1">
              <a:buFont typeface="Arial" panose="02110004020202020204"/>
              <a:buChar char="•"/>
            </a:pPr>
            <a:r>
              <a:rPr lang="en-GB" sz="1600"/>
              <a:t>Full aerodynamic guidance is out of scope for a hardware PoC and distracts from the core processing goals.</a:t>
            </a:r>
          </a:p>
          <a:p>
            <a:pPr lvl="1">
              <a:buFont typeface="Arial" panose="02110004020202020204"/>
              <a:buChar char="•"/>
            </a:pPr>
            <a:r>
              <a:rPr lang="en-GB" sz="1600"/>
              <a:t>Prioritize the critical "Sensor-to-Shooter" loop latency and accuracy.</a:t>
            </a:r>
          </a:p>
          <a:p>
            <a:pPr lvl="1">
              <a:buFont typeface="Arial" panose="02110004020202020204"/>
              <a:buChar char="•"/>
            </a:pPr>
            <a:r>
              <a:rPr lang="en-GB" sz="1600"/>
              <a:t>Shift focus to demonstrating Shakti’s capability for deterministic I/O in bounded timeframes.</a:t>
            </a:r>
            <a:endParaRPr lang="en-IN" sz="1600" b="1"/>
          </a:p>
          <a:p>
            <a:pPr>
              <a:buFont typeface="Arial" panose="02110004020202020204"/>
              <a:buChar char="•"/>
            </a:pPr>
            <a:r>
              <a:rPr lang="en-IN" sz="2000" b="1"/>
              <a:t>Actions Taken / Planned:</a:t>
            </a:r>
          </a:p>
          <a:p>
            <a:pPr lvl="1">
              <a:buFont typeface="Arial" panose="02110004020202020204"/>
              <a:buChar char="•"/>
            </a:pPr>
            <a:r>
              <a:rPr lang="en-GB" sz="1600"/>
              <a:t>Transitioned entirely from drone guidance to a passive Infrared pattern recognition system.</a:t>
            </a:r>
          </a:p>
          <a:p>
            <a:pPr lvl="1">
              <a:buFont typeface="Arial" panose="02110004020202020204"/>
              <a:buChar char="•"/>
            </a:pPr>
            <a:r>
              <a:rPr lang="en-GB" sz="1600"/>
              <a:t>Realign the project to target Counter-UAS and defence surveillance, validating Shakti’s I/O reliability in real-world tactical scenarios.</a:t>
            </a:r>
            <a:endParaRPr lang="en-IN" sz="1600" b="1"/>
          </a:p>
          <a:p>
            <a:pPr marL="0" indent="0">
              <a:buFont typeface="Arial" panose="020B0604020202020204" pitchFamily="34" charset="0"/>
              <a:buNone/>
            </a:pPr>
            <a:br>
              <a:rPr lang="en-GB" sz="2000"/>
            </a:b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35512568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7AE8-0A57-FE21-FCA2-45BBD99C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1EEB6B5-322E-AB44-BC7B-46C1A1D8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4" y="746126"/>
            <a:ext cx="7443598" cy="482600"/>
          </a:xfrm>
        </p:spPr>
        <p:txBody>
          <a:bodyPr>
            <a:noAutofit/>
          </a:bodyPr>
          <a:lstStyle/>
          <a:p>
            <a:r>
              <a:rPr lang="en-US" sz="2800" b="1"/>
              <a:t>MVP Panel Feedback &amp; Improvements</a:t>
            </a:r>
            <a:endParaRPr lang="en-IN" sz="2800" b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81B22D-0031-6CD0-C705-9560A5AC3668}"/>
              </a:ext>
            </a:extLst>
          </p:cNvPr>
          <p:cNvSpPr txBox="1">
            <a:spLocks/>
          </p:cNvSpPr>
          <p:nvPr/>
        </p:nvSpPr>
        <p:spPr>
          <a:xfrm>
            <a:off x="509588" y="1922556"/>
            <a:ext cx="11172824" cy="4449670"/>
          </a:xfrm>
          <a:prstGeom prst="rect">
            <a:avLst/>
          </a:prstGeom>
        </p:spPr>
        <p:txBody>
          <a:bodyPr vert="horz" lIns="91440" tIns="45720" rIns="91440" bIns="45720" numCol="3" spcCol="18288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IN" sz="2000" b="1"/>
              <a:t>Key Suggestions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GPS-denied navigation is an established, solved problem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LWIR selection lacked strong tactical justification over standard IR.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Autonomous missile guidance is risky; a Human-In-The-Loop approach is preferred.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Practical differentiation from existing defence solutions was unclear.</a:t>
            </a:r>
            <a:endParaRPr lang="en-IN" sz="1600"/>
          </a:p>
          <a:p>
            <a:pPr marL="457200" indent="-457200" algn="ctr" fontAlgn="base">
              <a:buFont typeface="+mj-lt"/>
              <a:buAutoNum type="arabicPeriod"/>
            </a:pPr>
            <a:endParaRPr lang="en-IN" sz="2000"/>
          </a:p>
          <a:p>
            <a:pPr marL="457200" indent="-457200" algn="ctr" fontAlgn="base">
              <a:buFont typeface="+mj-lt"/>
              <a:buAutoNum type="arabicPeriod"/>
            </a:pPr>
            <a:endParaRPr lang="en-IN" sz="2000"/>
          </a:p>
          <a:p>
            <a:pPr marL="457200" indent="-457200" algn="ctr" fontAlgn="base">
              <a:buFont typeface="+mj-lt"/>
              <a:buAutoNum type="arabicPeriod"/>
            </a:pPr>
            <a:endParaRPr lang="en-IN" sz="2000"/>
          </a:p>
          <a:p>
            <a:pPr marL="0" indent="0" algn="ctr" fontAlgn="base">
              <a:buNone/>
            </a:pPr>
            <a:r>
              <a:rPr lang="en-IN" sz="2000" b="1"/>
              <a:t>Changes Implemented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Dropped aerodynamic guidance to build a passive Infrared Search and Track architecture for Counter-UAS.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Repositioned LWIR specifically for </a:t>
            </a:r>
            <a:r>
              <a:rPr lang="en-GB" sz="1600" err="1"/>
              <a:t>SWaP</a:t>
            </a:r>
            <a:r>
              <a:rPr lang="en-GB" sz="1600"/>
              <a:t>-C optimized tracking of airframe thermal contrast at tactical ranges.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IN" sz="1600"/>
              <a:t>FPGA performs parallel pixel processing; Shakti RISC-V handles deterministic actuator I/O interface.</a:t>
            </a:r>
          </a:p>
          <a:p>
            <a:pPr marL="0" indent="0" algn="ctr" fontAlgn="base">
              <a:buNone/>
            </a:pPr>
            <a:endParaRPr lang="en-IN" sz="2000"/>
          </a:p>
          <a:p>
            <a:pPr marL="0" indent="0" algn="ctr" fontAlgn="base">
              <a:buNone/>
            </a:pPr>
            <a:endParaRPr lang="en-IN" sz="2000"/>
          </a:p>
          <a:p>
            <a:pPr marL="0" indent="0" algn="ctr" fontAlgn="base">
              <a:buNone/>
            </a:pPr>
            <a:endParaRPr lang="en-IN" sz="2000"/>
          </a:p>
          <a:p>
            <a:pPr marL="0" indent="0" algn="ctr" fontAlgn="base">
              <a:buNone/>
            </a:pPr>
            <a:r>
              <a:rPr lang="en-IN" sz="2000" b="1"/>
              <a:t>Impact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Delivers an emissions-free, tracking solution immune to radar jamming and electronic warfare.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Explicitly validates Shakti’s bare-metal, jitter-free I/O reliability in mission-critical defence loops.</a:t>
            </a:r>
            <a:endParaRPr lang="en-IN" sz="1600"/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Directly aligns with high-demand Anti-Terrorism Force Protection systems by solving edge-processing bottlenecks.</a:t>
            </a:r>
            <a:endParaRPr lang="en-IN" sz="1600"/>
          </a:p>
          <a:p>
            <a:pPr marL="0" indent="0" algn="ctr" fontAlgn="base">
              <a:buNone/>
            </a:pPr>
            <a:endParaRPr lang="en-IN" sz="2000"/>
          </a:p>
          <a:p>
            <a:pPr marL="0" indent="0" algn="ctr">
              <a:buFont typeface="Arial" panose="020B0604020202020204" pitchFamily="34" charset="0"/>
              <a:buNone/>
            </a:pPr>
            <a:br>
              <a:rPr lang="en-GB" sz="2000"/>
            </a:b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5007391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334C27-8A7F-F08E-0D79-49650CAD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1BAB21C-8903-C5DE-9CC0-87863C05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4" y="746126"/>
            <a:ext cx="7443598" cy="482600"/>
          </a:xfrm>
        </p:spPr>
        <p:txBody>
          <a:bodyPr>
            <a:noAutofit/>
          </a:bodyPr>
          <a:lstStyle/>
          <a:p>
            <a:r>
              <a:rPr lang="en-US" sz="2800" b="1"/>
              <a:t>Challenges and Learnings</a:t>
            </a:r>
            <a:endParaRPr lang="en-IN" sz="2800" b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CEC664-0C21-9804-8CA4-F702D863E01F}"/>
              </a:ext>
            </a:extLst>
          </p:cNvPr>
          <p:cNvSpPr txBox="1">
            <a:spLocks/>
          </p:cNvSpPr>
          <p:nvPr/>
        </p:nvSpPr>
        <p:spPr>
          <a:xfrm>
            <a:off x="838200" y="2217831"/>
            <a:ext cx="10439400" cy="2725105"/>
          </a:xfrm>
          <a:prstGeom prst="rect">
            <a:avLst/>
          </a:prstGeom>
        </p:spPr>
        <p:txBody>
          <a:bodyPr vert="horz" lIns="91440" tIns="45720" rIns="91440" bIns="45720" numCol="3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IN" sz="1800" b="1"/>
              <a:t>Challenges Faced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IN" sz="1600"/>
              <a:t>Image Processing Performance Limitations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GB" sz="1600"/>
              <a:t>Addressing panel </a:t>
            </a:r>
            <a:r>
              <a:rPr lang="en-GB" sz="1600" err="1"/>
              <a:t>skepticism</a:t>
            </a:r>
            <a:r>
              <a:rPr lang="en-GB" sz="1600"/>
              <a:t> during the MVP phase and formulating a robust justification for using LWIR sensors over standard IR.</a:t>
            </a:r>
            <a:endParaRPr lang="en-IN" sz="1600"/>
          </a:p>
          <a:p>
            <a:pPr marL="457200" indent="-457200" algn="ctr" fontAlgn="base">
              <a:buFont typeface="+mj-lt"/>
              <a:buAutoNum type="arabicPeriod"/>
            </a:pPr>
            <a:endParaRPr lang="en-IN" sz="1800"/>
          </a:p>
          <a:p>
            <a:pPr marL="457200" indent="-457200" algn="ctr" fontAlgn="base">
              <a:buFont typeface="+mj-lt"/>
              <a:buAutoNum type="arabicPeriod"/>
            </a:pPr>
            <a:endParaRPr lang="en-IN" sz="1800"/>
          </a:p>
          <a:p>
            <a:pPr marL="0" indent="0" algn="ctr" fontAlgn="base">
              <a:buNone/>
            </a:pPr>
            <a:r>
              <a:rPr lang="en-IN" sz="1800" b="1"/>
              <a:t>Changes Implemented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600"/>
              <a:t>Shift Algorithm from NCC to KCF</a:t>
            </a:r>
          </a:p>
          <a:p>
            <a:pPr marL="457200" indent="-457200" algn="ctr">
              <a:buAutoNum type="arabicPeriod"/>
            </a:pPr>
            <a:endParaRPr lang="en-IN" sz="2400"/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S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S</a:t>
            </a:r>
          </a:p>
          <a:p>
            <a:pPr marL="457200" indent="-457200" algn="ctr" fontAlgn="base">
              <a:buFont typeface="+mj-lt"/>
              <a:buAutoNum type="arabicPeriod"/>
            </a:pPr>
            <a:endParaRPr lang="en-IN" sz="1800"/>
          </a:p>
          <a:p>
            <a:pPr marL="0" indent="0" algn="ctr" fontAlgn="base">
              <a:buNone/>
            </a:pPr>
            <a:endParaRPr lang="en-IN" sz="1800" b="1"/>
          </a:p>
          <a:p>
            <a:pPr marL="0" indent="0" algn="ctr" fontAlgn="base">
              <a:buNone/>
            </a:pPr>
            <a:r>
              <a:rPr lang="en-IN" sz="1800" b="1"/>
              <a:t>Impact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Performance Improvement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S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S</a:t>
            </a:r>
          </a:p>
          <a:p>
            <a:pPr marL="457200" indent="-457200" algn="ctr" fontAlgn="base">
              <a:buFont typeface="+mj-lt"/>
              <a:buAutoNum type="arabicPeriod"/>
            </a:pPr>
            <a:r>
              <a:rPr lang="en-IN" sz="1800"/>
              <a:t>S</a:t>
            </a:r>
          </a:p>
          <a:p>
            <a:pPr marL="457200" indent="-457200" algn="ctr" fontAlgn="base">
              <a:buFont typeface="+mj-lt"/>
              <a:buAutoNum type="arabicPeriod"/>
            </a:pPr>
            <a:br>
              <a:rPr lang="en-GB" sz="1800"/>
            </a:b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3685462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9DF3-0C6D-5EDC-7802-A9826E7DD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61376EA-0D75-60B9-1FDD-EDB36383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4" y="746126"/>
            <a:ext cx="7443598" cy="482600"/>
          </a:xfrm>
        </p:spPr>
        <p:txBody>
          <a:bodyPr>
            <a:noAutofit/>
          </a:bodyPr>
          <a:lstStyle/>
          <a:p>
            <a:r>
              <a:rPr lang="en-US" sz="2800" b="1"/>
              <a:t>Execution Plan for Finals</a:t>
            </a:r>
            <a:endParaRPr lang="en-IN" sz="2800" b="1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8A1DE9-1CCD-5D07-1070-24969AA1F680}"/>
              </a:ext>
            </a:extLst>
          </p:cNvPr>
          <p:cNvSpPr txBox="1">
            <a:spLocks/>
          </p:cNvSpPr>
          <p:nvPr/>
        </p:nvSpPr>
        <p:spPr>
          <a:xfrm>
            <a:off x="876300" y="1228726"/>
            <a:ext cx="10439400" cy="5210174"/>
          </a:xfrm>
          <a:prstGeom prst="rect">
            <a:avLst/>
          </a:prstGeom>
        </p:spPr>
        <p:txBody>
          <a:bodyPr vert="horz" lIns="91440" tIns="45720" rIns="9144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800"/>
              <a:t>What will be demonstrated</a:t>
            </a:r>
          </a:p>
          <a:p>
            <a:pPr lvl="1" fontAlgn="base"/>
            <a:r>
              <a:rPr lang="en-GB" sz="1400"/>
              <a:t>Seamless integration of the camera sensor, FPGA processing pipeline, and Shakti control unit. </a:t>
            </a:r>
          </a:p>
          <a:p>
            <a:pPr lvl="1" fontAlgn="base"/>
            <a:r>
              <a:rPr lang="en-GB" sz="1400"/>
              <a:t>A clean physical casing for the final module.</a:t>
            </a:r>
            <a:endParaRPr lang="en-US" sz="1400"/>
          </a:p>
          <a:p>
            <a:pPr fontAlgn="base"/>
            <a:r>
              <a:rPr lang="en-US" sz="1800"/>
              <a:t>Key tasks</a:t>
            </a:r>
            <a:r>
              <a:rPr lang="en-IN" sz="1800"/>
              <a:t> to be completed: </a:t>
            </a:r>
          </a:p>
          <a:p>
            <a:pPr lvl="1" fontAlgn="base"/>
            <a:r>
              <a:rPr lang="en-GB" sz="1400"/>
              <a:t>Translate the validated Python KCF tracking model into optimized RTL/Verilog for the FPGA.</a:t>
            </a:r>
          </a:p>
          <a:p>
            <a:pPr lvl="1" fontAlgn="base"/>
            <a:r>
              <a:rPr lang="en-GB" sz="1400"/>
              <a:t>Fuse the Shakti processor with the custom KCF FPGA IP core.</a:t>
            </a:r>
          </a:p>
          <a:p>
            <a:pPr lvl="1" fontAlgn="base"/>
            <a:r>
              <a:rPr lang="en-GB" sz="1400" err="1"/>
              <a:t>SWaP</a:t>
            </a:r>
            <a:r>
              <a:rPr lang="en-GB" sz="1400"/>
              <a:t>-C Optimization</a:t>
            </a:r>
            <a:r>
              <a:rPr lang="en-GB" sz="1400" b="1"/>
              <a:t>:</a:t>
            </a:r>
            <a:r>
              <a:rPr lang="en-GB" sz="1400"/>
              <a:t> Design and fabricate a custom PCB to house the integrated architecture (if required).</a:t>
            </a:r>
          </a:p>
          <a:p>
            <a:pPr lvl="1" fontAlgn="base"/>
            <a:r>
              <a:rPr lang="en-GB" sz="1400"/>
              <a:t>Conduct rigorous latency benchmarking to maximize tracking accuracy and minimize the "Sensor-to-Shooter" response time.</a:t>
            </a:r>
            <a:endParaRPr lang="en-IN" sz="1400"/>
          </a:p>
          <a:p>
            <a:pPr fontAlgn="base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Implementation plan</a:t>
            </a: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</a:p>
          <a:p>
            <a:pPr lvl="1" fontAlgn="base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400"/>
              <a:t>Shift the KCF matrix operations from Python validation to Verilog to achieve fast pattern match.</a:t>
            </a:r>
          </a:p>
          <a:p>
            <a:pPr lvl="1" fontAlgn="base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400"/>
              <a:t>Upgrade the camera interface from UART to a high-speed parallel bus to drastically cut data ingestion latency (If possible with the current hardware constraints).</a:t>
            </a:r>
            <a:endParaRPr lang="en-IN" sz="1400"/>
          </a:p>
          <a:p>
            <a:pPr fontAlgn="base"/>
            <a:r>
              <a:rPr lang="en-IN" sz="1800"/>
              <a:t>Validation approach: </a:t>
            </a:r>
          </a:p>
          <a:p>
            <a:pPr lvl="1" fontAlgn="base"/>
            <a:r>
              <a:rPr lang="en-GB" sz="1400"/>
              <a:t>Benchmark lock-on and tracking stability using predefined static and moving reference targets.</a:t>
            </a:r>
          </a:p>
          <a:p>
            <a:pPr lvl="1" fontAlgn="base"/>
            <a:r>
              <a:rPr lang="en-GB" sz="1400"/>
              <a:t>Determine the maximum target velocity before lock-loss or tracking degradation occurs.</a:t>
            </a:r>
            <a:endParaRPr lang="en-IN" sz="1400"/>
          </a:p>
          <a:p>
            <a:pPr fontAlgn="base"/>
            <a:r>
              <a:rPr lang="en-IN" sz="1800"/>
              <a:t>Timeline</a:t>
            </a:r>
          </a:p>
          <a:p>
            <a:pPr lvl="1" fontAlgn="base"/>
            <a:r>
              <a:rPr lang="en-IN" sz="1400"/>
              <a:t>[30 April] 	KCF Verilog Porting &amp; AXI Interface.</a:t>
            </a:r>
          </a:p>
          <a:p>
            <a:pPr lvl="1" fontAlgn="base"/>
            <a:r>
              <a:rPr lang="en-IN" sz="1400"/>
              <a:t>[30 April] 	Shakti RTOS application</a:t>
            </a:r>
          </a:p>
          <a:p>
            <a:pPr lvl="1" fontAlgn="base"/>
            <a:r>
              <a:rPr lang="en-GB" sz="1400"/>
              <a:t>[30 May] 	Shakti + FPGA IP Integration.</a:t>
            </a:r>
          </a:p>
          <a:p>
            <a:pPr lvl="1" fontAlgn="base"/>
            <a:r>
              <a:rPr lang="en-GB" sz="1400"/>
              <a:t>[30 August] 	Final Benchmarking &amp; Module Casing.</a:t>
            </a:r>
            <a:endParaRPr lang="en-IN" sz="1400"/>
          </a:p>
          <a:p>
            <a:pPr fontAlgn="base"/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3257673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FAB5-1BE8-CE01-B9A4-DB4625EB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B40C7A-A8CA-06AD-C8B5-EE48D4BA2B21}"/>
              </a:ext>
            </a:extLst>
          </p:cNvPr>
          <p:cNvSpPr txBox="1"/>
          <p:nvPr/>
        </p:nvSpPr>
        <p:spPr>
          <a:xfrm>
            <a:off x="576289" y="2878777"/>
            <a:ext cx="110352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>
                <a:latin typeface="+mj-lt"/>
              </a:rPr>
              <a:t>Thank</a:t>
            </a:r>
            <a:r>
              <a:rPr lang="en-US" sz="6600" b="1"/>
              <a:t>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4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F1E86A7DC2B94F8721FCE4FC68504F" ma:contentTypeVersion="12" ma:contentTypeDescription="Create a new document." ma:contentTypeScope="" ma:versionID="fb7d25229cf989e62cebe92b73dcba18">
  <xsd:schema xmlns:xsd="http://www.w3.org/2001/XMLSchema" xmlns:xs="http://www.w3.org/2001/XMLSchema" xmlns:p="http://schemas.microsoft.com/office/2006/metadata/properties" xmlns:ns3="1f9d914e-c089-4061-ab62-c9d588c91382" targetNamespace="http://schemas.microsoft.com/office/2006/metadata/properties" ma:root="true" ma:fieldsID="333fe554e089a5deec057bc4d165a7a6" ns3:_="">
    <xsd:import namespace="1f9d914e-c089-4061-ab62-c9d588c913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d914e-c089-4061-ab62-c9d588c91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9d914e-c089-4061-ab62-c9d588c91382" xsi:nil="true"/>
  </documentManagement>
</p:properties>
</file>

<file path=customXml/itemProps1.xml><?xml version="1.0" encoding="utf-8"?>
<ds:datastoreItem xmlns:ds="http://schemas.openxmlformats.org/officeDocument/2006/customXml" ds:itemID="{1678FEC6-E60B-4A00-A7EA-33EF94FEC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B5181-9694-487B-839A-0394FF7B3063}">
  <ds:schemaRefs>
    <ds:schemaRef ds:uri="1f9d914e-c089-4061-ab62-c9d588c913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151480-F79E-4712-8766-75C9C5D18564}">
  <ds:schemaRefs>
    <ds:schemaRef ds:uri="1f9d914e-c089-4061-ab62-c9d588c9138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Application>Microsoft Office PowerPoint</Application>
  <PresentationFormat>Widescreen</PresentationFormat>
  <Slides>64</Slides>
  <Notes>31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PowerPoint Presentation</vt:lpstr>
      <vt:lpstr>Team Details</vt:lpstr>
      <vt:lpstr>Precision Guidance System​</vt:lpstr>
      <vt:lpstr>Novelty</vt:lpstr>
      <vt:lpstr>Proposed Approach</vt:lpstr>
      <vt:lpstr>PowerPoint Presentation</vt:lpstr>
      <vt:lpstr>PowerPoint Presentation</vt:lpstr>
      <vt:lpstr>Project Milestones Overview</vt:lpstr>
      <vt:lpstr>Business Potential</vt:lpstr>
      <vt:lpstr> Implementation strategy</vt:lpstr>
      <vt:lpstr>Review Meeting 2</vt:lpstr>
      <vt:lpstr>Action Points discussed in last meeting </vt:lpstr>
      <vt:lpstr>Progress Made since last meeting</vt:lpstr>
      <vt:lpstr>Progress Made since last meeting</vt:lpstr>
      <vt:lpstr>Progress Made since last meeting</vt:lpstr>
      <vt:lpstr>Progress Made since last meeting</vt:lpstr>
      <vt:lpstr>RTOS Application Architecture </vt:lpstr>
      <vt:lpstr>Progress Made since last meeting</vt:lpstr>
      <vt:lpstr>Progress Made since last meeting</vt:lpstr>
      <vt:lpstr>Startup Formation Status</vt:lpstr>
      <vt:lpstr>Proposed Plan</vt:lpstr>
      <vt:lpstr>Review Meeting 3</vt:lpstr>
      <vt:lpstr>Progress Made since last meeting</vt:lpstr>
      <vt:lpstr>Progress Made since last meeting</vt:lpstr>
      <vt:lpstr>Progress Made since last meeting</vt:lpstr>
      <vt:lpstr>Progress Made since last meeting</vt:lpstr>
      <vt:lpstr>Project Milestones Overview</vt:lpstr>
      <vt:lpstr>PowerPoint Presentation</vt:lpstr>
      <vt:lpstr>Precision Guidance System</vt:lpstr>
      <vt:lpstr>Team Details</vt:lpstr>
      <vt:lpstr>Project Milestones Overview</vt:lpstr>
      <vt:lpstr>Precision Guidance System​</vt:lpstr>
      <vt:lpstr>PowerPoint Presentation</vt:lpstr>
      <vt:lpstr>Yamuna Application Architecture </vt:lpstr>
      <vt:lpstr>Shakti Custom Peripheral SOC</vt:lpstr>
      <vt:lpstr>LUTs Utilization - Before Optimization v/s After</vt:lpstr>
      <vt:lpstr>Hardware Procured</vt:lpstr>
      <vt:lpstr>Camera Interface</vt:lpstr>
      <vt:lpstr>PowerPoint Presentation</vt:lpstr>
      <vt:lpstr>RTOS Application </vt:lpstr>
      <vt:lpstr>NCC Algorithm Implementation</vt:lpstr>
      <vt:lpstr>Custom Image Processing IP</vt:lpstr>
      <vt:lpstr>Custom Image Processing IP: Test Inputs </vt:lpstr>
      <vt:lpstr>Custom Image Processing IP: Results </vt:lpstr>
      <vt:lpstr>AXI Standalone IP For Testing</vt:lpstr>
      <vt:lpstr>Market Need &amp; Strategic Opportunity</vt:lpstr>
      <vt:lpstr>How the Startup Makes Money</vt:lpstr>
      <vt:lpstr>Scaling into a Sustainable Indian Startup</vt:lpstr>
      <vt:lpstr>Startup Formation Status</vt:lpstr>
      <vt:lpstr>PowerPoint Presentation</vt:lpstr>
      <vt:lpstr>Precision Guidance System</vt:lpstr>
      <vt:lpstr>Key Feedback from MVP Evaluation</vt:lpstr>
      <vt:lpstr>Key Feedback from MVP Evaluation</vt:lpstr>
      <vt:lpstr>PowerPoint Presentation</vt:lpstr>
      <vt:lpstr>Infrared Search and Track System</vt:lpstr>
      <vt:lpstr>POC Overview</vt:lpstr>
      <vt:lpstr>Progress and Milestones</vt:lpstr>
      <vt:lpstr>Project Milestones Overview</vt:lpstr>
      <vt:lpstr>POC Demonstrations</vt:lpstr>
      <vt:lpstr>Domain Expert Review &amp; Feedback</vt:lpstr>
      <vt:lpstr>MVP Panel Feedback &amp; Improvements</vt:lpstr>
      <vt:lpstr>Challenges and Learnings</vt:lpstr>
      <vt:lpstr>Execution Plan for Finals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Kalrav Mathur</dc:creator>
  <cp:revision>2</cp:revision>
  <dcterms:created xsi:type="dcterms:W3CDTF">2025-07-29T17:53:01Z</dcterms:created>
  <dcterms:modified xsi:type="dcterms:W3CDTF">2026-05-02T12:12:38Z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0x010100BFF1E86A7DC2B94F8721FCE4FC68504F</vt:lpwstr>
  </property>
</Properties>
</file>